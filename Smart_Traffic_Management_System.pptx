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9753600" cy="7315200"/>
  <p:notesSz cx="6858000" cy="9144000"/>
  <p:embeddedFontLst>
    <p:embeddedFont>
      <p:font typeface="Canva Sans Bold" charset="1" panose="020B0803030501040103"/>
      <p:regular r:id="rId45"/>
    </p:embeddedFont>
    <p:embeddedFont>
      <p:font typeface="Calibri (MS) Bold" charset="1" panose="020F0702030404030204"/>
      <p:regular r:id="rId46"/>
    </p:embeddedFont>
    <p:embeddedFont>
      <p:font typeface="Calibri (MS)" charset="1" panose="020F0502020204030204"/>
      <p:regular r:id="rId47"/>
    </p:embeddedFont>
    <p:embeddedFont>
      <p:font typeface="Cambria Bold" charset="1" panose="02040803050406030204"/>
      <p:regular r:id="rId48"/>
    </p:embeddedFont>
    <p:embeddedFont>
      <p:font typeface="Cambria" charset="1" panose="02040503050406030204"/>
      <p:regular r:id="rId49"/>
    </p:embeddedFont>
    <p:embeddedFont>
      <p:font typeface="Canva Sans" charset="1" panose="020B0503030501040103"/>
      <p:regular r:id="rId50"/>
    </p:embeddedFont>
    <p:embeddedFont>
      <p:font typeface="Canva Sans Bold Italics" charset="1" panose="020B0803030501040103"/>
      <p:regular r:id="rId51"/>
    </p:embeddedFont>
    <p:embeddedFont>
      <p:font typeface="Arimo Bold" charset="1" panose="020B0704020202020204"/>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89719" y="1065929"/>
            <a:ext cx="8374162" cy="5517751"/>
            <a:chOff x="0" y="0"/>
            <a:chExt cx="3289514" cy="2167467"/>
          </a:xfrm>
        </p:grpSpPr>
        <p:sp>
          <p:nvSpPr>
            <p:cNvPr name="Freeform 3" id="3"/>
            <p:cNvSpPr/>
            <p:nvPr/>
          </p:nvSpPr>
          <p:spPr>
            <a:xfrm flipH="false" flipV="false" rot="0">
              <a:off x="0" y="0"/>
              <a:ext cx="3289514" cy="2167467"/>
            </a:xfrm>
            <a:custGeom>
              <a:avLst/>
              <a:gdLst/>
              <a:ahLst/>
              <a:cxnLst/>
              <a:rect r="r" b="b" t="t" l="l"/>
              <a:pathLst>
                <a:path h="2167467" w="3289514">
                  <a:moveTo>
                    <a:pt x="0" y="0"/>
                  </a:moveTo>
                  <a:lnTo>
                    <a:pt x="3289514" y="0"/>
                  </a:lnTo>
                  <a:lnTo>
                    <a:pt x="3289514" y="2167467"/>
                  </a:lnTo>
                  <a:lnTo>
                    <a:pt x="0" y="2167467"/>
                  </a:lnTo>
                  <a:close/>
                </a:path>
              </a:pathLst>
            </a:custGeom>
            <a:solidFill>
              <a:srgbClr val="FFFFFF"/>
            </a:solidFill>
          </p:spPr>
        </p:sp>
        <p:sp>
          <p:nvSpPr>
            <p:cNvPr name="TextBox 4" id="4"/>
            <p:cNvSpPr txBox="true"/>
            <p:nvPr/>
          </p:nvSpPr>
          <p:spPr>
            <a:xfrm>
              <a:off x="0" y="-38100"/>
              <a:ext cx="3289514" cy="2205567"/>
            </a:xfrm>
            <a:prstGeom prst="rect">
              <a:avLst/>
            </a:prstGeom>
          </p:spPr>
          <p:txBody>
            <a:bodyPr anchor="ctr" rtlCol="false" tIns="32770" lIns="32770" bIns="32770" rIns="32770"/>
            <a:lstStyle/>
            <a:p>
              <a:pPr algn="ctr">
                <a:lnSpc>
                  <a:spcPts val="1806"/>
                </a:lnSpc>
                <a:spcBef>
                  <a:spcPct val="0"/>
                </a:spcBef>
              </a:pPr>
            </a:p>
          </p:txBody>
        </p:sp>
      </p:grpSp>
      <p:sp>
        <p:nvSpPr>
          <p:cNvPr name="AutoShape 5" id="5"/>
          <p:cNvSpPr/>
          <p:nvPr/>
        </p:nvSpPr>
        <p:spPr>
          <a:xfrm>
            <a:off x="1303900" y="5085081"/>
            <a:ext cx="1424609" cy="19050"/>
          </a:xfrm>
          <a:prstGeom prst="line">
            <a:avLst/>
          </a:prstGeom>
          <a:ln cap="flat" w="38100">
            <a:solidFill>
              <a:srgbClr val="000000"/>
            </a:solidFill>
            <a:prstDash val="solid"/>
            <a:headEnd type="none" len="sm" w="sm"/>
            <a:tailEnd type="none" len="sm" w="sm"/>
          </a:ln>
        </p:spPr>
      </p:sp>
      <p:sp>
        <p:nvSpPr>
          <p:cNvPr name="AutoShape 6" id="6"/>
          <p:cNvSpPr/>
          <p:nvPr/>
        </p:nvSpPr>
        <p:spPr>
          <a:xfrm>
            <a:off x="4531599" y="5123179"/>
            <a:ext cx="1265583" cy="0"/>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0" y="2168456"/>
            <a:ext cx="9753600" cy="1774682"/>
          </a:xfrm>
          <a:prstGeom prst="rect">
            <a:avLst/>
          </a:prstGeom>
        </p:spPr>
        <p:txBody>
          <a:bodyPr anchor="t" rtlCol="false" tIns="0" lIns="0" bIns="0" rIns="0">
            <a:spAutoFit/>
          </a:bodyPr>
          <a:lstStyle/>
          <a:p>
            <a:pPr algn="ctr">
              <a:lnSpc>
                <a:spcPts val="7182"/>
              </a:lnSpc>
            </a:pPr>
            <a:r>
              <a:rPr lang="en-US" sz="5130" b="true">
                <a:solidFill>
                  <a:srgbClr val="000000"/>
                </a:solidFill>
                <a:latin typeface="Canva Sans Bold"/>
                <a:ea typeface="Canva Sans Bold"/>
                <a:cs typeface="Canva Sans Bold"/>
                <a:sym typeface="Canva Sans Bold"/>
              </a:rPr>
              <a:t>SMART TRAFFIC MANAGEMENT SYSTEM </a:t>
            </a:r>
          </a:p>
        </p:txBody>
      </p:sp>
      <p:sp>
        <p:nvSpPr>
          <p:cNvPr name="TextBox 8" id="8"/>
          <p:cNvSpPr txBox="true"/>
          <p:nvPr/>
        </p:nvSpPr>
        <p:spPr>
          <a:xfrm rot="0">
            <a:off x="2428248" y="5255259"/>
            <a:ext cx="8541501" cy="735965"/>
          </a:xfrm>
          <a:prstGeom prst="rect">
            <a:avLst/>
          </a:prstGeom>
        </p:spPr>
        <p:txBody>
          <a:bodyPr anchor="t" rtlCol="false" tIns="0" lIns="0" bIns="0" rIns="0">
            <a:spAutoFit/>
          </a:bodyPr>
          <a:lstStyle/>
          <a:p>
            <a:pPr algn="ctr">
              <a:lnSpc>
                <a:spcPts val="1960"/>
              </a:lnSpc>
            </a:pPr>
            <a:r>
              <a:rPr lang="en-US" sz="1400" b="true">
                <a:solidFill>
                  <a:srgbClr val="000000"/>
                </a:solidFill>
                <a:latin typeface="Canva Sans Bold"/>
                <a:ea typeface="Canva Sans Bold"/>
                <a:cs typeface="Canva Sans Bold"/>
                <a:sym typeface="Canva Sans Bold"/>
              </a:rPr>
              <a:t>- I.Seeni Mohamed (Final Year AI&amp;DS)</a:t>
            </a:r>
          </a:p>
          <a:p>
            <a:pPr algn="ctr">
              <a:lnSpc>
                <a:spcPts val="1960"/>
              </a:lnSpc>
            </a:pPr>
            <a:r>
              <a:rPr lang="en-US" sz="1400" b="true">
                <a:solidFill>
                  <a:srgbClr val="000000"/>
                </a:solidFill>
                <a:latin typeface="Canva Sans Bold"/>
                <a:ea typeface="Canva Sans Bold"/>
                <a:cs typeface="Canva Sans Bold"/>
                <a:sym typeface="Canva Sans Bold"/>
              </a:rPr>
              <a:t>          - O.A.Mohamed Thoufiq (Final Year AI&amp;DS)</a:t>
            </a:r>
          </a:p>
          <a:p>
            <a:pPr algn="ctr">
              <a:lnSpc>
                <a:spcPts val="1960"/>
              </a:lnSpc>
            </a:pPr>
          </a:p>
        </p:txBody>
      </p:sp>
      <p:sp>
        <p:nvSpPr>
          <p:cNvPr name="TextBox 9" id="9"/>
          <p:cNvSpPr txBox="true"/>
          <p:nvPr/>
        </p:nvSpPr>
        <p:spPr>
          <a:xfrm rot="0">
            <a:off x="4531599" y="4777100"/>
            <a:ext cx="1415761" cy="257175"/>
          </a:xfrm>
          <a:prstGeom prst="rect">
            <a:avLst/>
          </a:prstGeom>
        </p:spPr>
        <p:txBody>
          <a:bodyPr anchor="t" rtlCol="false" tIns="0" lIns="0" bIns="0" rIns="0">
            <a:spAutoFit/>
          </a:bodyPr>
          <a:lstStyle/>
          <a:p>
            <a:pPr algn="ctr">
              <a:lnSpc>
                <a:spcPts val="2100"/>
              </a:lnSpc>
            </a:pPr>
            <a:r>
              <a:rPr lang="en-US" sz="1500" b="true">
                <a:solidFill>
                  <a:srgbClr val="000000"/>
                </a:solidFill>
                <a:latin typeface="Canva Sans Bold"/>
                <a:ea typeface="Canva Sans Bold"/>
                <a:cs typeface="Canva Sans Bold"/>
                <a:sym typeface="Canva Sans Bold"/>
              </a:rPr>
              <a:t>Presented By :-</a:t>
            </a:r>
          </a:p>
        </p:txBody>
      </p:sp>
      <p:sp>
        <p:nvSpPr>
          <p:cNvPr name="TextBox 10" id="10"/>
          <p:cNvSpPr txBox="true"/>
          <p:nvPr/>
        </p:nvSpPr>
        <p:spPr>
          <a:xfrm rot="0">
            <a:off x="1303646" y="4775832"/>
            <a:ext cx="1448774" cy="257175"/>
          </a:xfrm>
          <a:prstGeom prst="rect">
            <a:avLst/>
          </a:prstGeom>
        </p:spPr>
        <p:txBody>
          <a:bodyPr anchor="t" rtlCol="false" tIns="0" lIns="0" bIns="0" rIns="0">
            <a:spAutoFit/>
          </a:bodyPr>
          <a:lstStyle/>
          <a:p>
            <a:pPr algn="ctr">
              <a:lnSpc>
                <a:spcPts val="2100"/>
              </a:lnSpc>
            </a:pPr>
            <a:r>
              <a:rPr lang="en-US" sz="1500" b="true">
                <a:solidFill>
                  <a:srgbClr val="000000"/>
                </a:solidFill>
                <a:latin typeface="Canva Sans Bold"/>
                <a:ea typeface="Canva Sans Bold"/>
                <a:cs typeface="Canva Sans Bold"/>
                <a:sym typeface="Canva Sans Bold"/>
              </a:rPr>
              <a:t>Mentor Name :-</a:t>
            </a:r>
          </a:p>
        </p:txBody>
      </p:sp>
      <p:sp>
        <p:nvSpPr>
          <p:cNvPr name="TextBox 11" id="11"/>
          <p:cNvSpPr txBox="true"/>
          <p:nvPr/>
        </p:nvSpPr>
        <p:spPr>
          <a:xfrm rot="0">
            <a:off x="-797148" y="5255259"/>
            <a:ext cx="6450792" cy="488315"/>
          </a:xfrm>
          <a:prstGeom prst="rect">
            <a:avLst/>
          </a:prstGeom>
        </p:spPr>
        <p:txBody>
          <a:bodyPr anchor="t" rtlCol="false" tIns="0" lIns="0" bIns="0" rIns="0">
            <a:spAutoFit/>
          </a:bodyPr>
          <a:lstStyle/>
          <a:p>
            <a:pPr algn="ctr">
              <a:lnSpc>
                <a:spcPts val="1960"/>
              </a:lnSpc>
            </a:pPr>
            <a:r>
              <a:rPr lang="en-US" sz="1400" b="true">
                <a:solidFill>
                  <a:srgbClr val="000000"/>
                </a:solidFill>
                <a:latin typeface="Canva Sans Bold"/>
                <a:ea typeface="Canva Sans Bold"/>
                <a:cs typeface="Canva Sans Bold"/>
                <a:sym typeface="Canva Sans Bold"/>
              </a:rPr>
              <a:t>-Mrs. B.Praveena </a:t>
            </a:r>
          </a:p>
          <a:p>
            <a:pPr algn="ctr">
              <a:lnSpc>
                <a:spcPts val="1960"/>
              </a:lnSpc>
            </a:pPr>
            <a:r>
              <a:rPr lang="en-US" sz="1400" b="true">
                <a:solidFill>
                  <a:srgbClr val="000000"/>
                </a:solidFill>
                <a:latin typeface="Canva Sans Bold"/>
                <a:ea typeface="Canva Sans Bold"/>
                <a:cs typeface="Canva Sans Bold"/>
                <a:sym typeface="Canva Sans Bold"/>
              </a:rPr>
              <a:t> (Assistant Professor - AI&amp;DS)</a:t>
            </a:r>
          </a:p>
        </p:txBody>
      </p:sp>
      <p:sp>
        <p:nvSpPr>
          <p:cNvPr name="AutoShape 12" id="12"/>
          <p:cNvSpPr/>
          <p:nvPr/>
        </p:nvSpPr>
        <p:spPr>
          <a:xfrm flipV="true">
            <a:off x="337150" y="707677"/>
            <a:ext cx="9079896" cy="0"/>
          </a:xfrm>
          <a:prstGeom prst="line">
            <a:avLst/>
          </a:prstGeom>
          <a:ln cap="flat" w="38100">
            <a:solidFill>
              <a:srgbClr val="000000"/>
            </a:solidFill>
            <a:prstDash val="solid"/>
            <a:headEnd type="diamond" len="lg" w="lg"/>
            <a:tailEnd type="diamond" len="lg" w="lg"/>
          </a:ln>
        </p:spPr>
      </p:sp>
      <p:sp>
        <p:nvSpPr>
          <p:cNvPr name="AutoShape 13" id="13"/>
          <p:cNvSpPr/>
          <p:nvPr/>
        </p:nvSpPr>
        <p:spPr>
          <a:xfrm>
            <a:off x="296837" y="6564630"/>
            <a:ext cx="9079896" cy="0"/>
          </a:xfrm>
          <a:prstGeom prst="line">
            <a:avLst/>
          </a:prstGeom>
          <a:ln cap="flat" w="38100">
            <a:solidFill>
              <a:srgbClr val="000000"/>
            </a:solidFill>
            <a:prstDash val="solid"/>
            <a:headEnd type="diamond" len="lg" w="lg"/>
            <a:tailEnd type="diamond" len="lg" w="lg"/>
          </a:ln>
        </p:spPr>
      </p:sp>
      <p:sp>
        <p:nvSpPr>
          <p:cNvPr name="AutoShape 14" id="14"/>
          <p:cNvSpPr/>
          <p:nvPr/>
        </p:nvSpPr>
        <p:spPr>
          <a:xfrm flipV="true">
            <a:off x="9376733" y="707677"/>
            <a:ext cx="0" cy="5856953"/>
          </a:xfrm>
          <a:prstGeom prst="line">
            <a:avLst/>
          </a:prstGeom>
          <a:ln cap="flat" w="38100">
            <a:solidFill>
              <a:srgbClr val="000000"/>
            </a:solidFill>
            <a:prstDash val="solid"/>
            <a:headEnd type="diamond" len="lg" w="lg"/>
            <a:tailEnd type="diamond" len="lg" w="lg"/>
          </a:ln>
        </p:spPr>
      </p:sp>
      <p:sp>
        <p:nvSpPr>
          <p:cNvPr name="AutoShape 15" id="15"/>
          <p:cNvSpPr/>
          <p:nvPr/>
        </p:nvSpPr>
        <p:spPr>
          <a:xfrm flipV="true">
            <a:off x="337150" y="707677"/>
            <a:ext cx="0" cy="5856953"/>
          </a:xfrm>
          <a:prstGeom prst="line">
            <a:avLst/>
          </a:prstGeom>
          <a:ln cap="flat" w="38100">
            <a:solidFill>
              <a:srgbClr val="000000"/>
            </a:solidFill>
            <a:prstDash val="solid"/>
            <a:headEnd type="diamond" len="lg" w="lg"/>
            <a:tailEnd type="diamond" len="lg" w="lg"/>
          </a:ln>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292947"/>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AEEF">
                <a:alpha val="0"/>
              </a:srgbClr>
            </a:solidFill>
            <a:ln cap="sq">
              <a:noFill/>
              <a:prstDash val="solid"/>
              <a:miter/>
            </a:ln>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20"/>
                </a:lnSpc>
              </a:pPr>
              <a:r>
                <a:rPr lang="en-US" sz="4100" b="true">
                  <a:solidFill>
                    <a:srgbClr val="000000"/>
                  </a:solidFill>
                  <a:latin typeface="Calibri (MS) Bold"/>
                  <a:ea typeface="Calibri (MS) Bold"/>
                  <a:cs typeface="Calibri (MS) Bold"/>
                  <a:sym typeface="Calibri (MS) Bold"/>
                </a:rPr>
                <a:t>Abstract</a:t>
              </a:r>
            </a:p>
          </p:txBody>
        </p:sp>
      </p:grpSp>
      <p:grpSp>
        <p:nvGrpSpPr>
          <p:cNvPr name="Group 5" id="5"/>
          <p:cNvGrpSpPr/>
          <p:nvPr/>
        </p:nvGrpSpPr>
        <p:grpSpPr>
          <a:xfrm rot="0">
            <a:off x="243840" y="1662184"/>
            <a:ext cx="8778240" cy="5311775"/>
            <a:chOff x="0" y="0"/>
            <a:chExt cx="11704320" cy="7082367"/>
          </a:xfrm>
        </p:grpSpPr>
        <p:sp>
          <p:nvSpPr>
            <p:cNvPr name="Freeform 6" id="6"/>
            <p:cNvSpPr/>
            <p:nvPr/>
          </p:nvSpPr>
          <p:spPr>
            <a:xfrm flipH="false" flipV="false" rot="0">
              <a:off x="0" y="0"/>
              <a:ext cx="11704320" cy="7082367"/>
            </a:xfrm>
            <a:custGeom>
              <a:avLst/>
              <a:gdLst/>
              <a:ahLst/>
              <a:cxnLst/>
              <a:rect r="r" b="b" t="t" l="l"/>
              <a:pathLst>
                <a:path h="7082367" w="11704320">
                  <a:moveTo>
                    <a:pt x="0" y="0"/>
                  </a:moveTo>
                  <a:lnTo>
                    <a:pt x="11704320" y="0"/>
                  </a:lnTo>
                  <a:lnTo>
                    <a:pt x="11704320" y="7082367"/>
                  </a:lnTo>
                  <a:lnTo>
                    <a:pt x="0" y="7082367"/>
                  </a:lnTo>
                  <a:close/>
                </a:path>
              </a:pathLst>
            </a:custGeom>
            <a:solidFill>
              <a:srgbClr val="000000">
                <a:alpha val="0"/>
              </a:srgbClr>
            </a:solidFill>
            <a:ln cap="sq">
              <a:noFill/>
              <a:prstDash val="solid"/>
              <a:miter/>
            </a:ln>
          </p:spPr>
        </p:sp>
        <p:sp>
          <p:nvSpPr>
            <p:cNvPr name="TextBox 7" id="7"/>
            <p:cNvSpPr txBox="true"/>
            <p:nvPr/>
          </p:nvSpPr>
          <p:spPr>
            <a:xfrm>
              <a:off x="0" y="-28575"/>
              <a:ext cx="11704320" cy="7110942"/>
            </a:xfrm>
            <a:prstGeom prst="rect">
              <a:avLst/>
            </a:prstGeom>
          </p:spPr>
          <p:txBody>
            <a:bodyPr anchor="t" rtlCol="false" tIns="177800" lIns="177800" bIns="177800" rIns="177800"/>
            <a:lstStyle/>
            <a:p>
              <a:pPr algn="just" marL="453395" indent="-226697" lvl="1">
                <a:lnSpc>
                  <a:spcPts val="2352"/>
                </a:lnSpc>
                <a:buFont typeface="Arial"/>
                <a:buChar char="•"/>
              </a:pPr>
              <a:r>
                <a:rPr lang="en-US" sz="2100" spc="71">
                  <a:solidFill>
                    <a:srgbClr val="000000"/>
                  </a:solidFill>
                  <a:latin typeface="Calibri (MS)"/>
                  <a:ea typeface="Calibri (MS)"/>
                  <a:cs typeface="Calibri (MS)"/>
                  <a:sym typeface="Calibri (MS)"/>
                </a:rPr>
                <a:t>Urban traffic congestion has become a pressing issue, leading to increased travel time, fuel consumption, and environmental pollution. Traditional traffic management systems, based on fixed signal timings, often fail to adapt to real-time traffic conditions, resulting in inefficiencies and road safety concerns. This project presents a Smart Traffic Management System designed to simulate and optimize traffic flow using Python and modules such as pygame, threading, time, random, and os.</a:t>
              </a:r>
            </a:p>
            <a:p>
              <a:pPr algn="just">
                <a:lnSpc>
                  <a:spcPts val="2352"/>
                </a:lnSpc>
              </a:pPr>
            </a:p>
            <a:p>
              <a:pPr algn="just" marL="453395" indent="-226697" lvl="1">
                <a:lnSpc>
                  <a:spcPts val="2352"/>
                </a:lnSpc>
                <a:buFont typeface="Arial"/>
                <a:buChar char="•"/>
              </a:pPr>
              <a:r>
                <a:rPr lang="en-US" sz="2100" spc="71">
                  <a:solidFill>
                    <a:srgbClr val="000000"/>
                  </a:solidFill>
                  <a:latin typeface="Calibri (MS)"/>
                  <a:ea typeface="Calibri (MS)"/>
                  <a:cs typeface="Calibri (MS)"/>
                  <a:sym typeface="Calibri (MS)"/>
                </a:rPr>
                <a:t>The system emulates a multi-lane intersection where vehicles and traffic lights are dynamically managed within a graphical environment. By using multithreading, the simulation ensures real-time responsiveness, allowing traffic lights to adapt their timing based on vehicle density. Randomized vehicle generation and dynamic signal control enhance the realism of the model, making it suitable for analyzing various traffic conditions.</a:t>
              </a:r>
            </a:p>
          </p:txBody>
        </p:sp>
      </p:grpSp>
      <p:sp>
        <p:nvSpPr>
          <p:cNvPr name="AutoShape 8" id="8"/>
          <p:cNvSpPr/>
          <p:nvPr/>
        </p:nvSpPr>
        <p:spPr>
          <a:xfrm>
            <a:off x="487680" y="1512147"/>
            <a:ext cx="8757382"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292947"/>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20"/>
                </a:lnSpc>
              </a:pPr>
              <a:r>
                <a:rPr lang="en-US" sz="4100" b="true">
                  <a:solidFill>
                    <a:srgbClr val="000000"/>
                  </a:solidFill>
                  <a:latin typeface="Calibri (MS) Bold"/>
                  <a:ea typeface="Calibri (MS) Bold"/>
                  <a:cs typeface="Calibri (MS) Bold"/>
                  <a:sym typeface="Calibri (MS) Bold"/>
                </a:rPr>
                <a:t>Objective </a:t>
              </a:r>
            </a:p>
          </p:txBody>
        </p:sp>
      </p:grpSp>
      <p:grpSp>
        <p:nvGrpSpPr>
          <p:cNvPr name="Group 5" id="5"/>
          <p:cNvGrpSpPr/>
          <p:nvPr/>
        </p:nvGrpSpPr>
        <p:grpSpPr>
          <a:xfrm rot="0">
            <a:off x="591971" y="1941182"/>
            <a:ext cx="8569659" cy="5990649"/>
            <a:chOff x="0" y="0"/>
            <a:chExt cx="11426212" cy="7987531"/>
          </a:xfrm>
        </p:grpSpPr>
        <p:sp>
          <p:nvSpPr>
            <p:cNvPr name="Freeform 6" id="6"/>
            <p:cNvSpPr/>
            <p:nvPr/>
          </p:nvSpPr>
          <p:spPr>
            <a:xfrm flipH="false" flipV="false" rot="0">
              <a:off x="0" y="0"/>
              <a:ext cx="11426211" cy="7987532"/>
            </a:xfrm>
            <a:custGeom>
              <a:avLst/>
              <a:gdLst/>
              <a:ahLst/>
              <a:cxnLst/>
              <a:rect r="r" b="b" t="t" l="l"/>
              <a:pathLst>
                <a:path h="7987532" w="11426211">
                  <a:moveTo>
                    <a:pt x="0" y="0"/>
                  </a:moveTo>
                  <a:lnTo>
                    <a:pt x="11426211" y="0"/>
                  </a:lnTo>
                  <a:lnTo>
                    <a:pt x="11426211" y="7987532"/>
                  </a:lnTo>
                  <a:lnTo>
                    <a:pt x="0" y="7987532"/>
                  </a:lnTo>
                  <a:close/>
                </a:path>
              </a:pathLst>
            </a:custGeom>
            <a:solidFill>
              <a:srgbClr val="000000">
                <a:alpha val="0"/>
              </a:srgbClr>
            </a:solidFill>
          </p:spPr>
        </p:sp>
        <p:sp>
          <p:nvSpPr>
            <p:cNvPr name="TextBox 7" id="7"/>
            <p:cNvSpPr txBox="true"/>
            <p:nvPr/>
          </p:nvSpPr>
          <p:spPr>
            <a:xfrm>
              <a:off x="0" y="-114300"/>
              <a:ext cx="11426212" cy="8101831"/>
            </a:xfrm>
            <a:prstGeom prst="rect">
              <a:avLst/>
            </a:prstGeom>
          </p:spPr>
          <p:txBody>
            <a:bodyPr anchor="t" rtlCol="false" tIns="0" lIns="0" bIns="0" rIns="0"/>
            <a:lstStyle/>
            <a:p>
              <a:pPr algn="just" marL="321629" indent="-160815" lvl="1">
                <a:lnSpc>
                  <a:spcPts val="3600"/>
                </a:lnSpc>
                <a:buFont typeface="Arial"/>
                <a:buChar char="•"/>
              </a:pPr>
              <a:r>
                <a:rPr lang="en-US" sz="2500" spc="-117">
                  <a:solidFill>
                    <a:srgbClr val="000000"/>
                  </a:solidFill>
                  <a:latin typeface="Calibri (MS)"/>
                  <a:ea typeface="Calibri (MS)"/>
                  <a:cs typeface="Calibri (MS)"/>
                  <a:sym typeface="Calibri (MS)"/>
                </a:rPr>
                <a:t>The primary objective of this project is to design and develop a simulated Smart Traffic Management System that dynamically manages urban traffic conditions to improve flow efficiency, reduce congestion, and enhance road safety. The system aims to emulate real-time traffic behavior and adapt signal timings using Python-based modules.</a:t>
              </a:r>
            </a:p>
            <a:p>
              <a:pPr algn="just" marL="321629" indent="-160815" lvl="1">
                <a:lnSpc>
                  <a:spcPts val="3600"/>
                </a:lnSpc>
                <a:buFont typeface="Arial"/>
                <a:buChar char="•"/>
              </a:pPr>
              <a:r>
                <a:rPr lang="en-US" sz="2500" spc="-117">
                  <a:solidFill>
                    <a:srgbClr val="000000"/>
                  </a:solidFill>
                  <a:latin typeface="Calibri (MS)"/>
                  <a:ea typeface="Calibri (MS)"/>
                  <a:cs typeface="Calibri (MS)"/>
                  <a:sym typeface="Calibri (MS)"/>
                </a:rPr>
                <a:t>This simulation will be built using Python programming language, integrating multiple modules such as pygame for graphical rendering, time and threading for real-time control, and random for simulating unpredictable traffic behavior</a:t>
              </a:r>
            </a:p>
            <a:p>
              <a:pPr algn="just">
                <a:lnSpc>
                  <a:spcPts val="3600"/>
                </a:lnSpc>
              </a:pPr>
            </a:p>
            <a:p>
              <a:pPr algn="l">
                <a:lnSpc>
                  <a:spcPts val="3600"/>
                </a:lnSpc>
              </a:pPr>
            </a:p>
            <a:p>
              <a:pPr algn="l">
                <a:lnSpc>
                  <a:spcPts val="3600"/>
                </a:lnSpc>
              </a:pPr>
            </a:p>
          </p:txBody>
        </p:sp>
      </p:grpSp>
      <p:sp>
        <p:nvSpPr>
          <p:cNvPr name="AutoShape 8" id="8"/>
          <p:cNvSpPr/>
          <p:nvPr/>
        </p:nvSpPr>
        <p:spPr>
          <a:xfrm>
            <a:off x="487680" y="1512147"/>
            <a:ext cx="877824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08095" y="14097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20"/>
                </a:lnSpc>
              </a:pPr>
              <a:r>
                <a:rPr lang="en-US" sz="4100" b="true">
                  <a:solidFill>
                    <a:srgbClr val="000000"/>
                  </a:solidFill>
                  <a:latin typeface="Calibri (MS) Bold"/>
                  <a:ea typeface="Calibri (MS) Bold"/>
                  <a:cs typeface="Calibri (MS) Bold"/>
                  <a:sym typeface="Calibri (MS) Bold"/>
                </a:rPr>
                <a:t>Problem Statement</a:t>
              </a:r>
            </a:p>
          </p:txBody>
        </p:sp>
      </p:grpSp>
      <p:sp>
        <p:nvSpPr>
          <p:cNvPr name="AutoShape 5" id="5"/>
          <p:cNvSpPr/>
          <p:nvPr/>
        </p:nvSpPr>
        <p:spPr>
          <a:xfrm flipV="true">
            <a:off x="508095" y="1360170"/>
            <a:ext cx="8778240"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487680" y="1848439"/>
            <a:ext cx="8652150" cy="6742304"/>
            <a:chOff x="0" y="0"/>
            <a:chExt cx="10283469" cy="8013531"/>
          </a:xfrm>
        </p:grpSpPr>
        <p:sp>
          <p:nvSpPr>
            <p:cNvPr name="Freeform 7" id="7"/>
            <p:cNvSpPr/>
            <p:nvPr/>
          </p:nvSpPr>
          <p:spPr>
            <a:xfrm flipH="false" flipV="false" rot="0">
              <a:off x="0" y="0"/>
              <a:ext cx="10283468" cy="8013531"/>
            </a:xfrm>
            <a:custGeom>
              <a:avLst/>
              <a:gdLst/>
              <a:ahLst/>
              <a:cxnLst/>
              <a:rect r="r" b="b" t="t" l="l"/>
              <a:pathLst>
                <a:path h="8013531" w="10283468">
                  <a:moveTo>
                    <a:pt x="0" y="0"/>
                  </a:moveTo>
                  <a:lnTo>
                    <a:pt x="10283468" y="0"/>
                  </a:lnTo>
                  <a:lnTo>
                    <a:pt x="10283468" y="8013531"/>
                  </a:lnTo>
                  <a:lnTo>
                    <a:pt x="0" y="8013531"/>
                  </a:lnTo>
                  <a:close/>
                </a:path>
              </a:pathLst>
            </a:custGeom>
            <a:solidFill>
              <a:srgbClr val="000000">
                <a:alpha val="0"/>
              </a:srgbClr>
            </a:solidFill>
          </p:spPr>
        </p:sp>
        <p:sp>
          <p:nvSpPr>
            <p:cNvPr name="TextBox 8" id="8"/>
            <p:cNvSpPr txBox="true"/>
            <p:nvPr/>
          </p:nvSpPr>
          <p:spPr>
            <a:xfrm>
              <a:off x="0" y="-76200"/>
              <a:ext cx="10283469" cy="8089731"/>
            </a:xfrm>
            <a:prstGeom prst="rect">
              <a:avLst/>
            </a:prstGeom>
          </p:spPr>
          <p:txBody>
            <a:bodyPr anchor="t" rtlCol="false" tIns="0" lIns="0" bIns="0" rIns="0"/>
            <a:lstStyle/>
            <a:p>
              <a:pPr algn="just" marL="518160" indent="-259080" lvl="1">
                <a:lnSpc>
                  <a:spcPts val="3240"/>
                </a:lnSpc>
                <a:buFont typeface="Arial"/>
                <a:buChar char="•"/>
              </a:pPr>
              <a:r>
                <a:rPr lang="en-US" sz="2400" spc="-134">
                  <a:solidFill>
                    <a:srgbClr val="000000"/>
                  </a:solidFill>
                  <a:latin typeface="Calibri (MS)"/>
                  <a:ea typeface="Calibri (MS)"/>
                  <a:cs typeface="Calibri (MS)"/>
                  <a:sym typeface="Calibri (MS)"/>
                </a:rPr>
                <a:t>Urban traffic congestion has become a critical issue in modern cities, leading to increased travel time, fuel consumption, air pollution, and road rage. Traditional traffic control systems, especially those using fixed-time signals, are not responsive to real-time changes in traffic flow. These systems fail to adapt to varying vehicle densities, peak-hour surges, or unexpected events, resulting in inefficiencies and driver frustration.</a:t>
              </a:r>
            </a:p>
            <a:p>
              <a:pPr algn="just">
                <a:lnSpc>
                  <a:spcPts val="3240"/>
                </a:lnSpc>
              </a:pPr>
            </a:p>
            <a:p>
              <a:pPr algn="just" marL="518160" indent="-259080" lvl="1">
                <a:lnSpc>
                  <a:spcPts val="3240"/>
                </a:lnSpc>
                <a:buFont typeface="Arial"/>
                <a:buChar char="•"/>
              </a:pPr>
              <a:r>
                <a:rPr lang="en-US" sz="2400" spc="-134">
                  <a:solidFill>
                    <a:srgbClr val="000000"/>
                  </a:solidFill>
                  <a:latin typeface="Calibri (MS)"/>
                  <a:ea typeface="Calibri (MS)"/>
                  <a:cs typeface="Calibri (MS)"/>
                  <a:sym typeface="Calibri (MS)"/>
                </a:rPr>
                <a:t>Additionally, current infrastructure-based adaptive systems are expensive to implement and maintain, limiting their use in developing regions. There is a pressing need for a cost-effective, scalable, and intelligent traffic management solution that can simulate real-world conditions and optimize traffic signal operations dynamically.</a:t>
              </a:r>
            </a:p>
          </p:txBody>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97138" y="-76939"/>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76200"/>
              <a:ext cx="11704320" cy="1701800"/>
            </a:xfrm>
            <a:prstGeom prst="rect">
              <a:avLst/>
            </a:prstGeom>
          </p:spPr>
          <p:txBody>
            <a:bodyPr anchor="ctr" rtlCol="false" tIns="0" lIns="0" bIns="0" rIns="0"/>
            <a:lstStyle/>
            <a:p>
              <a:pPr algn="ctr">
                <a:lnSpc>
                  <a:spcPts val="4560"/>
                </a:lnSpc>
              </a:pPr>
              <a:r>
                <a:rPr lang="en-US" sz="3800" b="true">
                  <a:solidFill>
                    <a:srgbClr val="000000"/>
                  </a:solidFill>
                  <a:latin typeface="Calibri (MS) Bold"/>
                  <a:ea typeface="Calibri (MS) Bold"/>
                  <a:cs typeface="Calibri (MS) Bold"/>
                  <a:sym typeface="Calibri (MS) Bold"/>
                </a:rPr>
                <a:t>Literature Survey</a:t>
              </a:r>
            </a:p>
          </p:txBody>
        </p:sp>
      </p:grpSp>
      <p:graphicFrame>
        <p:nvGraphicFramePr>
          <p:cNvPr name="Table 5" id="5"/>
          <p:cNvGraphicFramePr>
            <a:graphicFrameLocks noGrp="true"/>
          </p:cNvGraphicFramePr>
          <p:nvPr/>
        </p:nvGraphicFramePr>
        <p:xfrm>
          <a:off x="371844" y="1035842"/>
          <a:ext cx="9009912" cy="5980884"/>
        </p:xfrm>
        <a:graphic>
          <a:graphicData uri="http://schemas.openxmlformats.org/drawingml/2006/table">
            <a:tbl>
              <a:tblPr/>
              <a:tblGrid>
                <a:gridCol w="1568473"/>
                <a:gridCol w="1925173"/>
                <a:gridCol w="1956248"/>
                <a:gridCol w="1657960"/>
                <a:gridCol w="1902058"/>
              </a:tblGrid>
              <a:tr h="971338">
                <a:tc>
                  <a:txBody>
                    <a:bodyPr anchor="t" rtlCol="false"/>
                    <a:lstStyle/>
                    <a:p>
                      <a:pPr algn="ctr">
                        <a:lnSpc>
                          <a:spcPts val="1495"/>
                        </a:lnSpc>
                        <a:defRPr/>
                      </a:pPr>
                      <a:r>
                        <a:rPr lang="en-US" sz="1300" b="true">
                          <a:solidFill>
                            <a:srgbClr val="000000"/>
                          </a:solidFill>
                          <a:latin typeface="Cambria Bold"/>
                          <a:ea typeface="Cambria Bold"/>
                          <a:cs typeface="Cambria Bold"/>
                          <a:sym typeface="Cambria Bold"/>
                        </a:rPr>
                        <a:t>Author</a:t>
                      </a:r>
                      <a:endParaRPr lang="en-US" sz="1100"/>
                    </a:p>
                    <a:p>
                      <a:pPr algn="ctr">
                        <a:lnSpc>
                          <a:spcPts val="1609"/>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5CE1E6"/>
                    </a:solidFill>
                  </a:tcPr>
                </a:tc>
                <a:tc>
                  <a:txBody>
                    <a:bodyPr anchor="t" rtlCol="false"/>
                    <a:lstStyle/>
                    <a:p>
                      <a:pPr algn="ctr">
                        <a:lnSpc>
                          <a:spcPts val="1495"/>
                        </a:lnSpc>
                        <a:defRPr/>
                      </a:pPr>
                      <a:r>
                        <a:rPr lang="en-US" sz="1300" b="true">
                          <a:solidFill>
                            <a:srgbClr val="000000"/>
                          </a:solidFill>
                          <a:latin typeface="Cambria Bold"/>
                          <a:ea typeface="Cambria Bold"/>
                          <a:cs typeface="Cambria Bold"/>
                          <a:sym typeface="Cambria Bold"/>
                        </a:rPr>
                        <a:t>Title</a:t>
                      </a:r>
                      <a:endParaRPr lang="en-US" sz="1100"/>
                    </a:p>
                    <a:p>
                      <a:pPr algn="ctr">
                        <a:lnSpc>
                          <a:spcPts val="1609"/>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5CE1E6"/>
                    </a:solidFill>
                  </a:tcPr>
                </a:tc>
                <a:tc>
                  <a:txBody>
                    <a:bodyPr anchor="t" rtlCol="false"/>
                    <a:lstStyle/>
                    <a:p>
                      <a:pPr algn="ctr">
                        <a:lnSpc>
                          <a:spcPts val="1495"/>
                        </a:lnSpc>
                        <a:defRPr/>
                      </a:pPr>
                      <a:r>
                        <a:rPr lang="en-US" sz="1300" b="true">
                          <a:solidFill>
                            <a:srgbClr val="000000"/>
                          </a:solidFill>
                          <a:latin typeface="Cambria Bold"/>
                          <a:ea typeface="Cambria Bold"/>
                          <a:cs typeface="Cambria Bold"/>
                          <a:sym typeface="Cambria Bold"/>
                        </a:rPr>
                        <a:t>Description</a:t>
                      </a:r>
                      <a:endParaRPr lang="en-US" sz="1100"/>
                    </a:p>
                    <a:p>
                      <a:pPr algn="ctr">
                        <a:lnSpc>
                          <a:spcPts val="1609"/>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5CE1E6"/>
                    </a:solidFill>
                  </a:tcPr>
                </a:tc>
                <a:tc>
                  <a:txBody>
                    <a:bodyPr anchor="t" rtlCol="false"/>
                    <a:lstStyle/>
                    <a:p>
                      <a:pPr algn="ctr">
                        <a:lnSpc>
                          <a:spcPts val="1495"/>
                        </a:lnSpc>
                        <a:defRPr/>
                      </a:pPr>
                      <a:r>
                        <a:rPr lang="en-US" sz="1300" b="true">
                          <a:solidFill>
                            <a:srgbClr val="000000"/>
                          </a:solidFill>
                          <a:latin typeface="Cambria Bold"/>
                          <a:ea typeface="Cambria Bold"/>
                          <a:cs typeface="Cambria Bold"/>
                          <a:sym typeface="Cambria Bold"/>
                        </a:rPr>
                        <a:t>Merits</a:t>
                      </a:r>
                      <a:endParaRPr lang="en-US" sz="1100"/>
                    </a:p>
                    <a:p>
                      <a:pPr algn="ctr">
                        <a:lnSpc>
                          <a:spcPts val="1609"/>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5CE1E6"/>
                    </a:solidFill>
                  </a:tcPr>
                </a:tc>
                <a:tc>
                  <a:txBody>
                    <a:bodyPr anchor="t" rtlCol="false"/>
                    <a:lstStyle/>
                    <a:p>
                      <a:pPr algn="ctr">
                        <a:lnSpc>
                          <a:spcPts val="1495"/>
                        </a:lnSpc>
                        <a:defRPr/>
                      </a:pPr>
                      <a:r>
                        <a:rPr lang="en-US" sz="1300" b="true">
                          <a:solidFill>
                            <a:srgbClr val="000000"/>
                          </a:solidFill>
                          <a:latin typeface="Cambria Bold"/>
                          <a:ea typeface="Cambria Bold"/>
                          <a:cs typeface="Cambria Bold"/>
                          <a:sym typeface="Cambria Bold"/>
                        </a:rPr>
                        <a:t>Demerits</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5CE1E6"/>
                    </a:solidFill>
                  </a:tcPr>
                </a:tc>
              </a:tr>
              <a:tr h="1394085">
                <a:tc>
                  <a:txBody>
                    <a:bodyPr anchor="t" rtlCol="false"/>
                    <a:lstStyle/>
                    <a:p>
                      <a:pPr algn="ctr">
                        <a:lnSpc>
                          <a:spcPts val="1380"/>
                        </a:lnSpc>
                        <a:defRPr/>
                      </a:pPr>
                      <a:r>
                        <a:rPr lang="en-US" sz="1200">
                          <a:solidFill>
                            <a:srgbClr val="000000"/>
                          </a:solidFill>
                          <a:latin typeface="Cambria"/>
                          <a:ea typeface="Cambria"/>
                          <a:cs typeface="Cambria"/>
                          <a:sym typeface="Cambria"/>
                        </a:rPr>
                        <a:t>Smith, J. (2020)</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0AEEF"/>
                    </a:solidFill>
                  </a:tcPr>
                </a:tc>
                <a:tc>
                  <a:txBody>
                    <a:bodyPr anchor="t" rtlCol="false"/>
                    <a:lstStyle/>
                    <a:p>
                      <a:pPr algn="ctr">
                        <a:lnSpc>
                          <a:spcPts val="1380"/>
                        </a:lnSpc>
                        <a:defRPr/>
                      </a:pPr>
                      <a:r>
                        <a:rPr lang="en-US" sz="1200">
                          <a:solidFill>
                            <a:srgbClr val="000000"/>
                          </a:solidFill>
                          <a:latin typeface="Cambria"/>
                          <a:ea typeface="Cambria"/>
                          <a:cs typeface="Cambria"/>
                          <a:sym typeface="Cambria"/>
                        </a:rPr>
                        <a:t>A Study on Traffic Light Management Systems</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1380"/>
                        </a:lnSpc>
                        <a:defRPr/>
                      </a:pPr>
                      <a:r>
                        <a:rPr lang="en-US" sz="1200">
                          <a:solidFill>
                            <a:srgbClr val="000000"/>
                          </a:solidFill>
                          <a:latin typeface="Cambria"/>
                          <a:ea typeface="Cambria"/>
                          <a:cs typeface="Cambria"/>
                          <a:sym typeface="Cambria"/>
                        </a:rPr>
                        <a:t>Analyzed traditional traffic light systems and proposed the need for adaptive control.</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380"/>
                        </a:lnSpc>
                        <a:defRPr/>
                      </a:pPr>
                      <a:r>
                        <a:rPr lang="en-US" sz="1200">
                          <a:solidFill>
                            <a:srgbClr val="000000"/>
                          </a:solidFill>
                          <a:latin typeface="Cambria"/>
                          <a:ea typeface="Cambria"/>
                          <a:cs typeface="Cambria"/>
                          <a:sym typeface="Cambria"/>
                        </a:rPr>
                        <a:t>Identified inefficiencies in fixed-timed systems.</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380"/>
                        </a:lnSpc>
                        <a:defRPr/>
                      </a:pPr>
                      <a:r>
                        <a:rPr lang="en-US" sz="1200">
                          <a:solidFill>
                            <a:srgbClr val="000000"/>
                          </a:solidFill>
                          <a:latin typeface="Cambria"/>
                          <a:ea typeface="Cambria"/>
                          <a:cs typeface="Cambria"/>
                          <a:sym typeface="Cambria"/>
                        </a:rPr>
                        <a:t>No practical simulation or real-time system implementation.</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211332">
                <a:tc>
                  <a:txBody>
                    <a:bodyPr anchor="t" rtlCol="false"/>
                    <a:lstStyle/>
                    <a:p>
                      <a:pPr algn="ctr">
                        <a:lnSpc>
                          <a:spcPts val="1380"/>
                        </a:lnSpc>
                        <a:defRPr/>
                      </a:pPr>
                      <a:r>
                        <a:rPr lang="en-US" sz="1200">
                          <a:solidFill>
                            <a:srgbClr val="000000"/>
                          </a:solidFill>
                          <a:latin typeface="Cambria"/>
                          <a:ea typeface="Cambria"/>
                          <a:cs typeface="Cambria"/>
                          <a:sym typeface="Cambria"/>
                        </a:rPr>
                        <a:t>Li, K. et al. (2021)</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0AEEF"/>
                    </a:solidFill>
                  </a:tcPr>
                </a:tc>
                <a:tc>
                  <a:txBody>
                    <a:bodyPr anchor="t" rtlCol="false"/>
                    <a:lstStyle/>
                    <a:p>
                      <a:pPr algn="ctr">
                        <a:lnSpc>
                          <a:spcPts val="1380"/>
                        </a:lnSpc>
                        <a:defRPr/>
                      </a:pPr>
                      <a:r>
                        <a:rPr lang="en-US" sz="1200">
                          <a:solidFill>
                            <a:srgbClr val="000000"/>
                          </a:solidFill>
                          <a:latin typeface="Cambria"/>
                          <a:ea typeface="Cambria"/>
                          <a:cs typeface="Cambria"/>
                          <a:sym typeface="Cambria"/>
                        </a:rPr>
                        <a:t>Real-Time Traffic Management Using Machine Learning</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380"/>
                        </a:lnSpc>
                        <a:defRPr/>
                      </a:pPr>
                      <a:r>
                        <a:rPr lang="en-US" sz="1200">
                          <a:solidFill>
                            <a:srgbClr val="000000"/>
                          </a:solidFill>
                          <a:latin typeface="Cambria"/>
                          <a:ea typeface="Cambria"/>
                          <a:cs typeface="Cambria"/>
                          <a:sym typeface="Cambria"/>
                        </a:rPr>
                        <a:t>Developed a machine learning model for dynamic traffic signal control.</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380"/>
                        </a:lnSpc>
                        <a:defRPr/>
                      </a:pPr>
                      <a:r>
                        <a:rPr lang="en-US" sz="1200">
                          <a:solidFill>
                            <a:srgbClr val="000000"/>
                          </a:solidFill>
                          <a:latin typeface="Cambria"/>
                          <a:ea typeface="Cambria"/>
                          <a:cs typeface="Cambria"/>
                          <a:sym typeface="Cambria"/>
                        </a:rPr>
                        <a:t>Accurate predictions and real-time adjustments.</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380"/>
                        </a:lnSpc>
                        <a:defRPr/>
                      </a:pPr>
                      <a:r>
                        <a:rPr lang="en-US" sz="1200">
                          <a:solidFill>
                            <a:srgbClr val="000000"/>
                          </a:solidFill>
                          <a:latin typeface="Cambria"/>
                          <a:ea typeface="Cambria"/>
                          <a:cs typeface="Cambria"/>
                          <a:sym typeface="Cambria"/>
                        </a:rPr>
                        <a:t>High computational cost and data complexity.</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202064">
                <a:tc>
                  <a:txBody>
                    <a:bodyPr anchor="t" rtlCol="false"/>
                    <a:lstStyle/>
                    <a:p>
                      <a:pPr algn="ctr">
                        <a:lnSpc>
                          <a:spcPts val="1380"/>
                        </a:lnSpc>
                        <a:defRPr/>
                      </a:pPr>
                      <a:r>
                        <a:rPr lang="en-US" sz="1200">
                          <a:solidFill>
                            <a:srgbClr val="000000"/>
                          </a:solidFill>
                          <a:latin typeface="Cambria"/>
                          <a:ea typeface="Cambria"/>
                          <a:cs typeface="Cambria"/>
                          <a:sym typeface="Cambria"/>
                        </a:rPr>
                        <a:t>Gupta, R. (2022)</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0AEEF"/>
                    </a:solidFill>
                  </a:tcPr>
                </a:tc>
                <a:tc>
                  <a:txBody>
                    <a:bodyPr anchor="t" rtlCol="false"/>
                    <a:lstStyle/>
                    <a:p>
                      <a:pPr algn="ctr">
                        <a:lnSpc>
                          <a:spcPts val="1380"/>
                        </a:lnSpc>
                        <a:defRPr/>
                      </a:pPr>
                      <a:r>
                        <a:rPr lang="en-US" sz="1200">
                          <a:solidFill>
                            <a:srgbClr val="000000"/>
                          </a:solidFill>
                          <a:latin typeface="Cambria"/>
                          <a:ea typeface="Cambria"/>
                          <a:cs typeface="Cambria"/>
                          <a:sym typeface="Cambria"/>
                        </a:rPr>
                        <a:t>Simulation-Based Traffic Flow Optimization</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380"/>
                        </a:lnSpc>
                        <a:defRPr/>
                      </a:pPr>
                      <a:r>
                        <a:rPr lang="en-US" sz="1200">
                          <a:solidFill>
                            <a:srgbClr val="000000"/>
                          </a:solidFill>
                          <a:latin typeface="Cambria"/>
                          <a:ea typeface="Cambria"/>
                          <a:cs typeface="Cambria"/>
                          <a:sym typeface="Cambria"/>
                        </a:rPr>
                        <a:t>Created a traffic signal simulation using custom models and logic.</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380"/>
                        </a:lnSpc>
                        <a:defRPr/>
                      </a:pPr>
                      <a:r>
                        <a:rPr lang="en-US" sz="1200">
                          <a:solidFill>
                            <a:srgbClr val="000000"/>
                          </a:solidFill>
                          <a:latin typeface="Cambria"/>
                          <a:ea typeface="Cambria"/>
                          <a:cs typeface="Cambria"/>
                          <a:sym typeface="Cambria"/>
                        </a:rPr>
                        <a:t>Showed potential for simulation-based traffic optimization.</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380"/>
                        </a:lnSpc>
                        <a:defRPr/>
                      </a:pPr>
                      <a:r>
                        <a:rPr lang="en-US" sz="1200">
                          <a:solidFill>
                            <a:srgbClr val="000000"/>
                          </a:solidFill>
                          <a:latin typeface="Cambria"/>
                          <a:ea typeface="Cambria"/>
                          <a:cs typeface="Cambria"/>
                          <a:sym typeface="Cambria"/>
                        </a:rPr>
                        <a:t>Lacked support for pedestrian traffic and multithreading.</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202064">
                <a:tc>
                  <a:txBody>
                    <a:bodyPr anchor="t" rtlCol="false"/>
                    <a:lstStyle/>
                    <a:p>
                      <a:pPr algn="ctr">
                        <a:lnSpc>
                          <a:spcPts val="1380"/>
                        </a:lnSpc>
                        <a:defRPr/>
                      </a:pPr>
                      <a:r>
                        <a:rPr lang="en-US" sz="1200">
                          <a:solidFill>
                            <a:srgbClr val="000000"/>
                          </a:solidFill>
                          <a:latin typeface="Cambria"/>
                          <a:ea typeface="Cambria"/>
                          <a:cs typeface="Cambria"/>
                          <a:sym typeface="Cambria"/>
                        </a:rPr>
                        <a:t>Kumar, P. &amp; Rao, A. (2019)</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0AEEF"/>
                    </a:solidFill>
                  </a:tcPr>
                </a:tc>
                <a:tc>
                  <a:txBody>
                    <a:bodyPr anchor="t" rtlCol="false"/>
                    <a:lstStyle/>
                    <a:p>
                      <a:pPr algn="ctr">
                        <a:lnSpc>
                          <a:spcPts val="1380"/>
                        </a:lnSpc>
                        <a:defRPr/>
                      </a:pPr>
                      <a:r>
                        <a:rPr lang="en-US" sz="1200">
                          <a:solidFill>
                            <a:srgbClr val="000000"/>
                          </a:solidFill>
                          <a:latin typeface="Cambria"/>
                          <a:ea typeface="Cambria"/>
                          <a:cs typeface="Cambria"/>
                          <a:sym typeface="Cambria"/>
                        </a:rPr>
                        <a:t>An Adaptive Traffic Light System Using Sensor Inputs</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380"/>
                        </a:lnSpc>
                        <a:defRPr/>
                      </a:pPr>
                      <a:r>
                        <a:rPr lang="en-US" sz="1200">
                          <a:solidFill>
                            <a:srgbClr val="000000"/>
                          </a:solidFill>
                          <a:latin typeface="Cambria"/>
                          <a:ea typeface="Cambria"/>
                          <a:cs typeface="Cambria"/>
                          <a:sym typeface="Cambria"/>
                        </a:rPr>
                        <a:t>Used vehicle sensors to dynamically adjust traffic light durations.</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380"/>
                        </a:lnSpc>
                        <a:defRPr/>
                      </a:pPr>
                      <a:r>
                        <a:rPr lang="en-US" sz="1200">
                          <a:solidFill>
                            <a:srgbClr val="000000"/>
                          </a:solidFill>
                          <a:latin typeface="Cambria"/>
                          <a:ea typeface="Cambria"/>
                          <a:cs typeface="Cambria"/>
                          <a:sym typeface="Cambria"/>
                        </a:rPr>
                        <a:t>Real-world integration potential with IoT sensors.</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380"/>
                        </a:lnSpc>
                        <a:defRPr/>
                      </a:pPr>
                      <a:r>
                        <a:rPr lang="en-US" sz="1200">
                          <a:solidFill>
                            <a:srgbClr val="000000"/>
                          </a:solidFill>
                          <a:latin typeface="Cambria"/>
                          <a:ea typeface="Cambria"/>
                          <a:cs typeface="Cambria"/>
                          <a:sym typeface="Cambria"/>
                        </a:rPr>
                        <a:t>Hardware-dependent; limited user interface and expandability.</a:t>
                      </a:r>
                      <a:endParaRPr lang="en-US" sz="1100"/>
                    </a:p>
                    <a:p>
                      <a:pPr algn="ctr">
                        <a:lnSpc>
                          <a:spcPts val="1494"/>
                        </a:lnSpc>
                      </a:pPr>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AutoShape 6" id="6"/>
          <p:cNvSpPr/>
          <p:nvPr/>
        </p:nvSpPr>
        <p:spPr>
          <a:xfrm flipV="true">
            <a:off x="371844" y="894221"/>
            <a:ext cx="9003534"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06451" y="12192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76200"/>
              <a:ext cx="11704320" cy="1701800"/>
            </a:xfrm>
            <a:prstGeom prst="rect">
              <a:avLst/>
            </a:prstGeom>
          </p:spPr>
          <p:txBody>
            <a:bodyPr anchor="ctr" rtlCol="false" tIns="0" lIns="0" bIns="0" rIns="0"/>
            <a:lstStyle/>
            <a:p>
              <a:pPr algn="ctr">
                <a:lnSpc>
                  <a:spcPts val="4800"/>
                </a:lnSpc>
              </a:pPr>
              <a:r>
                <a:rPr lang="en-US" sz="4000" b="true">
                  <a:solidFill>
                    <a:srgbClr val="000000"/>
                  </a:solidFill>
                  <a:latin typeface="Calibri (MS) Bold"/>
                  <a:ea typeface="Calibri (MS) Bold"/>
                  <a:cs typeface="Calibri (MS) Bold"/>
                  <a:sym typeface="Calibri (MS) Bold"/>
                </a:rPr>
                <a:t>Existing </a:t>
              </a:r>
              <a:r>
                <a:rPr lang="en-US" sz="4000" b="true">
                  <a:solidFill>
                    <a:srgbClr val="000000"/>
                  </a:solidFill>
                  <a:latin typeface="Calibri (MS) Bold"/>
                  <a:ea typeface="Calibri (MS) Bold"/>
                  <a:cs typeface="Calibri (MS) Bold"/>
                  <a:sym typeface="Calibri (MS) Bold"/>
                </a:rPr>
                <a:t>Methodology</a:t>
              </a:r>
            </a:p>
          </p:txBody>
        </p:sp>
      </p:grpSp>
      <p:sp>
        <p:nvSpPr>
          <p:cNvPr name="AutoShape 5" id="5"/>
          <p:cNvSpPr/>
          <p:nvPr/>
        </p:nvSpPr>
        <p:spPr>
          <a:xfrm>
            <a:off x="731520" y="1102995"/>
            <a:ext cx="8290560" cy="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772823" y="1816735"/>
            <a:ext cx="8645497" cy="7212330"/>
          </a:xfrm>
          <a:prstGeom prst="rect">
            <a:avLst/>
          </a:prstGeom>
        </p:spPr>
        <p:txBody>
          <a:bodyPr anchor="t" rtlCol="false" tIns="0" lIns="0" bIns="0" rIns="0">
            <a:spAutoFit/>
          </a:bodyPr>
          <a:lstStyle/>
          <a:p>
            <a:pPr algn="l">
              <a:lnSpc>
                <a:spcPts val="2520"/>
              </a:lnSpc>
            </a:pPr>
            <a:r>
              <a:rPr lang="en-US" sz="1800" b="true">
                <a:solidFill>
                  <a:srgbClr val="000000"/>
                </a:solidFill>
                <a:latin typeface="Canva Sans Bold"/>
                <a:ea typeface="Canva Sans Bold"/>
                <a:cs typeface="Canva Sans Bold"/>
                <a:sym typeface="Canva Sans Bold"/>
              </a:rPr>
              <a:t>1. Fixed-Time Traffic Signal Control:</a:t>
            </a:r>
          </a:p>
          <a:p>
            <a:pPr algn="l" marL="388620" indent="-194310" lvl="1">
              <a:lnSpc>
                <a:spcPts val="2520"/>
              </a:lnSpc>
              <a:buFont typeface="Arial"/>
              <a:buChar char="•"/>
            </a:pPr>
            <a:r>
              <a:rPr lang="en-US" sz="1800">
                <a:solidFill>
                  <a:srgbClr val="000000"/>
                </a:solidFill>
                <a:latin typeface="Canva Sans"/>
                <a:ea typeface="Canva Sans"/>
                <a:cs typeface="Canva Sans"/>
                <a:sym typeface="Canva Sans"/>
              </a:rPr>
              <a:t>Traffic lights operate on pre-set time intervals regardless of actual traffic conditions.</a:t>
            </a:r>
          </a:p>
          <a:p>
            <a:pPr algn="l" marL="388620" indent="-194310" lvl="1">
              <a:lnSpc>
                <a:spcPts val="2520"/>
              </a:lnSpc>
              <a:buFont typeface="Arial"/>
              <a:buChar char="•"/>
            </a:pPr>
            <a:r>
              <a:rPr lang="en-US" sz="1800">
                <a:solidFill>
                  <a:srgbClr val="000000"/>
                </a:solidFill>
                <a:latin typeface="Canva Sans"/>
                <a:ea typeface="Canva Sans"/>
                <a:cs typeface="Canva Sans"/>
                <a:sym typeface="Canva Sans"/>
              </a:rPr>
              <a:t> </a:t>
            </a:r>
            <a:r>
              <a:rPr lang="en-US" sz="1800">
                <a:solidFill>
                  <a:srgbClr val="000000"/>
                </a:solidFill>
                <a:latin typeface="Canva Sans"/>
                <a:ea typeface="Canva Sans"/>
                <a:cs typeface="Canva Sans"/>
                <a:sym typeface="Canva Sans"/>
              </a:rPr>
              <a:t>Example: Green light remains on for 60 seconds even if there are no vehicles.</a:t>
            </a:r>
          </a:p>
          <a:p>
            <a:pPr algn="l">
              <a:lnSpc>
                <a:spcPts val="2520"/>
              </a:lnSpc>
            </a:pPr>
            <a:r>
              <a:rPr lang="en-US" sz="1800" b="true">
                <a:solidFill>
                  <a:srgbClr val="000000"/>
                </a:solidFill>
                <a:latin typeface="Canva Sans Bold"/>
                <a:ea typeface="Canva Sans Bold"/>
                <a:cs typeface="Canva Sans Bold"/>
                <a:sym typeface="Canva Sans Bold"/>
              </a:rPr>
              <a:t>Limitations:</a:t>
            </a:r>
          </a:p>
          <a:p>
            <a:pPr algn="l" marL="388620" indent="-194310" lvl="1">
              <a:lnSpc>
                <a:spcPts val="2520"/>
              </a:lnSpc>
              <a:buFont typeface="Arial"/>
              <a:buChar char="•"/>
            </a:pPr>
            <a:r>
              <a:rPr lang="en-US" sz="1800">
                <a:solidFill>
                  <a:srgbClr val="000000"/>
                </a:solidFill>
                <a:latin typeface="Canva Sans"/>
                <a:ea typeface="Canva Sans"/>
                <a:cs typeface="Canva Sans"/>
                <a:sym typeface="Canva Sans"/>
              </a:rPr>
              <a:t>Inefficient during off-peak hours.</a:t>
            </a:r>
          </a:p>
          <a:p>
            <a:pPr algn="l" marL="388620" indent="-194310" lvl="1">
              <a:lnSpc>
                <a:spcPts val="2520"/>
              </a:lnSpc>
              <a:buFont typeface="Arial"/>
              <a:buChar char="•"/>
            </a:pPr>
            <a:r>
              <a:rPr lang="en-US" sz="1800">
                <a:solidFill>
                  <a:srgbClr val="000000"/>
                </a:solidFill>
                <a:latin typeface="Canva Sans"/>
                <a:ea typeface="Canva Sans"/>
                <a:cs typeface="Canva Sans"/>
                <a:sym typeface="Canva Sans"/>
              </a:rPr>
              <a:t>Causes unnecessary waiting and congestion.</a:t>
            </a:r>
          </a:p>
          <a:p>
            <a:pPr algn="l">
              <a:lnSpc>
                <a:spcPts val="2520"/>
              </a:lnSpc>
            </a:pPr>
          </a:p>
          <a:p>
            <a:pPr algn="l">
              <a:lnSpc>
                <a:spcPts val="2520"/>
              </a:lnSpc>
            </a:pPr>
            <a:r>
              <a:rPr lang="en-US" sz="1800" b="true">
                <a:solidFill>
                  <a:srgbClr val="000000"/>
                </a:solidFill>
                <a:latin typeface="Canva Sans Bold"/>
                <a:ea typeface="Canva Sans Bold"/>
                <a:cs typeface="Canva Sans Bold"/>
                <a:sym typeface="Canva Sans Bold"/>
              </a:rPr>
              <a:t>2. Manually Controlled Traffic Systems:</a:t>
            </a:r>
          </a:p>
          <a:p>
            <a:pPr algn="l" marL="388620" indent="-194310" lvl="1">
              <a:lnSpc>
                <a:spcPts val="2520"/>
              </a:lnSpc>
              <a:buFont typeface="Arial"/>
              <a:buChar char="•"/>
            </a:pPr>
            <a:r>
              <a:rPr lang="en-US" sz="1800">
                <a:solidFill>
                  <a:srgbClr val="000000"/>
                </a:solidFill>
                <a:latin typeface="Canva Sans"/>
                <a:ea typeface="Canva Sans"/>
                <a:cs typeface="Canva Sans"/>
                <a:sym typeface="Canva Sans"/>
              </a:rPr>
              <a:t>Traffic police or control room operators manually adjust signals based on observation.</a:t>
            </a:r>
          </a:p>
          <a:p>
            <a:pPr algn="l" marL="388620" indent="-194310" lvl="1">
              <a:lnSpc>
                <a:spcPts val="2520"/>
              </a:lnSpc>
              <a:buFont typeface="Arial"/>
              <a:buChar char="•"/>
            </a:pPr>
            <a:r>
              <a:rPr lang="en-US" sz="1800">
                <a:solidFill>
                  <a:srgbClr val="000000"/>
                </a:solidFill>
                <a:latin typeface="Canva Sans"/>
                <a:ea typeface="Canva Sans"/>
                <a:cs typeface="Canva Sans"/>
                <a:sym typeface="Canva Sans"/>
              </a:rPr>
              <a:t>Often used during special events, emergencies, or peak hours.</a:t>
            </a:r>
          </a:p>
          <a:p>
            <a:pPr algn="l">
              <a:lnSpc>
                <a:spcPts val="2520"/>
              </a:lnSpc>
            </a:pPr>
            <a:r>
              <a:rPr lang="en-US" sz="1800" b="true">
                <a:solidFill>
                  <a:srgbClr val="000000"/>
                </a:solidFill>
                <a:latin typeface="Canva Sans Bold"/>
                <a:ea typeface="Canva Sans Bold"/>
                <a:cs typeface="Canva Sans Bold"/>
                <a:sym typeface="Canva Sans Bold"/>
              </a:rPr>
              <a:t>Limitations:</a:t>
            </a:r>
          </a:p>
          <a:p>
            <a:pPr algn="l" marL="388620" indent="-194310" lvl="1">
              <a:lnSpc>
                <a:spcPts val="2520"/>
              </a:lnSpc>
              <a:buFont typeface="Arial"/>
              <a:buChar char="•"/>
            </a:pPr>
            <a:r>
              <a:rPr lang="en-US" sz="1800">
                <a:solidFill>
                  <a:srgbClr val="000000"/>
                </a:solidFill>
                <a:latin typeface="Canva Sans"/>
                <a:ea typeface="Canva Sans"/>
                <a:cs typeface="Canva Sans"/>
                <a:sym typeface="Canva Sans"/>
              </a:rPr>
              <a:t>Labor-intensive and prone to human error.</a:t>
            </a:r>
          </a:p>
          <a:p>
            <a:pPr algn="l" marL="388620" indent="-194310" lvl="1">
              <a:lnSpc>
                <a:spcPts val="2520"/>
              </a:lnSpc>
              <a:buFont typeface="Arial"/>
              <a:buChar char="•"/>
            </a:pPr>
            <a:r>
              <a:rPr lang="en-US" sz="1800">
                <a:solidFill>
                  <a:srgbClr val="000000"/>
                </a:solidFill>
                <a:latin typeface="Canva Sans"/>
                <a:ea typeface="Canva Sans"/>
                <a:cs typeface="Canva Sans"/>
                <a:sym typeface="Canva Sans"/>
              </a:rPr>
              <a:t>Not scalable or consistent across large networks.</a:t>
            </a:r>
          </a:p>
          <a:p>
            <a:pPr algn="l">
              <a:lnSpc>
                <a:spcPts val="2520"/>
              </a:lnSpc>
            </a:pPr>
          </a:p>
          <a:p>
            <a:pPr algn="l">
              <a:lnSpc>
                <a:spcPts val="2520"/>
              </a:lnSpc>
            </a:pPr>
          </a:p>
          <a:p>
            <a:pPr algn="l">
              <a:lnSpc>
                <a:spcPts val="2520"/>
              </a:lnSpc>
            </a:pPr>
          </a:p>
          <a:p>
            <a:pPr algn="l">
              <a:lnSpc>
                <a:spcPts val="2520"/>
              </a:lnSpc>
            </a:pPr>
          </a:p>
          <a:p>
            <a:pPr algn="ctr">
              <a:lnSpc>
                <a:spcPts val="2520"/>
              </a:lnSpc>
            </a:pPr>
          </a:p>
          <a:p>
            <a:pPr algn="ctr">
              <a:lnSpc>
                <a:spcPts val="2520"/>
              </a:lnSpc>
            </a:pPr>
          </a:p>
          <a:p>
            <a:pPr algn="ctr">
              <a:lnSpc>
                <a:spcPts val="2520"/>
              </a:lnSpc>
            </a:pPr>
          </a:p>
        </p:txBody>
      </p:sp>
      <p:sp>
        <p:nvSpPr>
          <p:cNvPr name="TextBox 7" id="7"/>
          <p:cNvSpPr txBox="true"/>
          <p:nvPr/>
        </p:nvSpPr>
        <p:spPr>
          <a:xfrm rot="0">
            <a:off x="652688" y="1303020"/>
            <a:ext cx="5380077" cy="323215"/>
          </a:xfrm>
          <a:prstGeom prst="rect">
            <a:avLst/>
          </a:prstGeom>
        </p:spPr>
        <p:txBody>
          <a:bodyPr anchor="t" rtlCol="false" tIns="0" lIns="0" bIns="0" rIns="0">
            <a:spAutoFit/>
          </a:bodyPr>
          <a:lstStyle/>
          <a:p>
            <a:pPr algn="ctr">
              <a:lnSpc>
                <a:spcPts val="2660"/>
              </a:lnSpc>
            </a:pPr>
            <a:r>
              <a:rPr lang="en-US" sz="1900" b="true">
                <a:solidFill>
                  <a:srgbClr val="000000"/>
                </a:solidFill>
                <a:latin typeface="Canva Sans Bold"/>
                <a:ea typeface="Canva Sans Bold"/>
                <a:cs typeface="Canva Sans Bold"/>
                <a:sym typeface="Canva Sans Bold"/>
              </a:rPr>
              <a:t>Traditional Traffic Management Approaches :-</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12"/>
                </a:lnSpc>
              </a:pPr>
              <a:r>
                <a:rPr lang="en-US" sz="4093" b="true">
                  <a:solidFill>
                    <a:srgbClr val="000000"/>
                  </a:solidFill>
                  <a:latin typeface="Calibri (MS) Bold"/>
                  <a:ea typeface="Calibri (MS) Bold"/>
                  <a:cs typeface="Calibri (MS) Bold"/>
                  <a:sym typeface="Calibri (MS) Bold"/>
                </a:rPr>
                <a:t>Existing </a:t>
              </a:r>
              <a:r>
                <a:rPr lang="en-US" sz="4093" b="true">
                  <a:solidFill>
                    <a:srgbClr val="000000"/>
                  </a:solidFill>
                  <a:latin typeface="Calibri (MS) Bold"/>
                  <a:ea typeface="Calibri (MS) Bold"/>
                  <a:cs typeface="Calibri (MS) Bold"/>
                  <a:sym typeface="Calibri (MS) Bold"/>
                </a:rPr>
                <a:t>Methodology</a:t>
              </a:r>
            </a:p>
          </p:txBody>
        </p:sp>
      </p:grpSp>
      <p:sp>
        <p:nvSpPr>
          <p:cNvPr name="AutoShape 5" id="5"/>
          <p:cNvSpPr/>
          <p:nvPr/>
        </p:nvSpPr>
        <p:spPr>
          <a:xfrm>
            <a:off x="457883" y="998458"/>
            <a:ext cx="8808037" cy="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487680" y="1324610"/>
            <a:ext cx="8645511" cy="5990590"/>
          </a:xfrm>
          <a:prstGeom prst="rect">
            <a:avLst/>
          </a:prstGeom>
        </p:spPr>
        <p:txBody>
          <a:bodyPr anchor="t" rtlCol="false" tIns="0" lIns="0" bIns="0" rIns="0">
            <a:spAutoFit/>
          </a:bodyPr>
          <a:lstStyle/>
          <a:p>
            <a:pPr algn="l">
              <a:lnSpc>
                <a:spcPts val="2660"/>
              </a:lnSpc>
            </a:pPr>
            <a:r>
              <a:rPr lang="en-US" sz="1900" b="true">
                <a:solidFill>
                  <a:srgbClr val="000000"/>
                </a:solidFill>
                <a:latin typeface="Canva Sans Bold"/>
                <a:ea typeface="Canva Sans Bold"/>
                <a:cs typeface="Canva Sans Bold"/>
                <a:sym typeface="Canva Sans Bold"/>
              </a:rPr>
              <a:t>3. Sensor-Based Actuated Signals:</a:t>
            </a:r>
          </a:p>
          <a:p>
            <a:pPr algn="just" marL="410211" indent="-205106" lvl="1">
              <a:lnSpc>
                <a:spcPts val="2660"/>
              </a:lnSpc>
              <a:buFont typeface="Arial"/>
              <a:buChar char="•"/>
            </a:pPr>
            <a:r>
              <a:rPr lang="en-US" sz="1900">
                <a:solidFill>
                  <a:srgbClr val="000000"/>
                </a:solidFill>
                <a:latin typeface="Canva Sans"/>
                <a:ea typeface="Canva Sans"/>
                <a:cs typeface="Canva Sans"/>
                <a:sym typeface="Canva Sans"/>
              </a:rPr>
              <a:t>Use sensors (inductive loops, infrared, etc.) embedded in the road to detect vehicles.</a:t>
            </a:r>
          </a:p>
          <a:p>
            <a:pPr algn="just" marL="410211" indent="-205106" lvl="1">
              <a:lnSpc>
                <a:spcPts val="2660"/>
              </a:lnSpc>
              <a:buFont typeface="Arial"/>
              <a:buChar char="•"/>
            </a:pPr>
            <a:r>
              <a:rPr lang="en-US" sz="1900">
                <a:solidFill>
                  <a:srgbClr val="000000"/>
                </a:solidFill>
                <a:latin typeface="Canva Sans"/>
                <a:ea typeface="Canva Sans"/>
                <a:cs typeface="Canva Sans"/>
                <a:sym typeface="Canva Sans"/>
              </a:rPr>
              <a:t>Traffic lights change based on vehicle presence and queue length.</a:t>
            </a:r>
          </a:p>
          <a:p>
            <a:pPr algn="l">
              <a:lnSpc>
                <a:spcPts val="2660"/>
              </a:lnSpc>
            </a:pPr>
            <a:r>
              <a:rPr lang="en-US" sz="1900" b="true">
                <a:solidFill>
                  <a:srgbClr val="000000"/>
                </a:solidFill>
                <a:latin typeface="Canva Sans Bold"/>
                <a:ea typeface="Canva Sans Bold"/>
                <a:cs typeface="Canva Sans Bold"/>
                <a:sym typeface="Canva Sans Bold"/>
              </a:rPr>
              <a:t>Limitations:</a:t>
            </a:r>
          </a:p>
          <a:p>
            <a:pPr algn="just" marL="410211" indent="-205106" lvl="1">
              <a:lnSpc>
                <a:spcPts val="2660"/>
              </a:lnSpc>
              <a:buFont typeface="Arial"/>
              <a:buChar char="•"/>
            </a:pPr>
            <a:r>
              <a:rPr lang="en-US" sz="1900">
                <a:solidFill>
                  <a:srgbClr val="000000"/>
                </a:solidFill>
                <a:latin typeface="Canva Sans"/>
                <a:ea typeface="Canva Sans"/>
                <a:cs typeface="Canva Sans"/>
                <a:sym typeface="Canva Sans"/>
              </a:rPr>
              <a:t>High installation and maintenance cost.</a:t>
            </a:r>
          </a:p>
          <a:p>
            <a:pPr algn="just" marL="410211" indent="-205106" lvl="1">
              <a:lnSpc>
                <a:spcPts val="2660"/>
              </a:lnSpc>
              <a:buFont typeface="Arial"/>
              <a:buChar char="•"/>
            </a:pPr>
            <a:r>
              <a:rPr lang="en-US" sz="1900">
                <a:solidFill>
                  <a:srgbClr val="000000"/>
                </a:solidFill>
                <a:latin typeface="Canva Sans"/>
                <a:ea typeface="Canva Sans"/>
                <a:cs typeface="Canva Sans"/>
                <a:sym typeface="Canva Sans"/>
              </a:rPr>
              <a:t>Limited flexibility in adapting to rapidly changing traffic patterns.</a:t>
            </a:r>
          </a:p>
          <a:p>
            <a:pPr algn="l">
              <a:lnSpc>
                <a:spcPts val="2660"/>
              </a:lnSpc>
            </a:pPr>
          </a:p>
          <a:p>
            <a:pPr algn="l">
              <a:lnSpc>
                <a:spcPts val="2660"/>
              </a:lnSpc>
            </a:pPr>
            <a:r>
              <a:rPr lang="en-US" sz="1900" b="true">
                <a:solidFill>
                  <a:srgbClr val="000000"/>
                </a:solidFill>
                <a:latin typeface="Canva Sans Bold"/>
                <a:ea typeface="Canva Sans Bold"/>
                <a:cs typeface="Canva Sans Bold"/>
                <a:sym typeface="Canva Sans Bold"/>
              </a:rPr>
              <a:t>4. CCTV-Based Monitoring and Control:</a:t>
            </a:r>
          </a:p>
          <a:p>
            <a:pPr algn="just" marL="410211" indent="-205106" lvl="1">
              <a:lnSpc>
                <a:spcPts val="2660"/>
              </a:lnSpc>
              <a:buFont typeface="Arial"/>
              <a:buChar char="•"/>
            </a:pPr>
            <a:r>
              <a:rPr lang="en-US" sz="1900">
                <a:solidFill>
                  <a:srgbClr val="000000"/>
                </a:solidFill>
                <a:latin typeface="Canva Sans"/>
                <a:ea typeface="Canva Sans"/>
                <a:cs typeface="Canva Sans"/>
                <a:sym typeface="Canva Sans"/>
              </a:rPr>
              <a:t>Surveillance systems provide real-time video feeds to control centers.</a:t>
            </a:r>
          </a:p>
          <a:p>
            <a:pPr algn="just" marL="410211" indent="-205106" lvl="1">
              <a:lnSpc>
                <a:spcPts val="2660"/>
              </a:lnSpc>
              <a:buFont typeface="Arial"/>
              <a:buChar char="•"/>
            </a:pPr>
            <a:r>
              <a:rPr lang="en-US" sz="1900">
                <a:solidFill>
                  <a:srgbClr val="000000"/>
                </a:solidFill>
                <a:latin typeface="Canva Sans"/>
                <a:ea typeface="Canva Sans"/>
                <a:cs typeface="Canva Sans"/>
                <a:sym typeface="Canva Sans"/>
              </a:rPr>
              <a:t>Human operators monitor traffic and adjust signals as needed.</a:t>
            </a:r>
          </a:p>
          <a:p>
            <a:pPr algn="l">
              <a:lnSpc>
                <a:spcPts val="2660"/>
              </a:lnSpc>
            </a:pPr>
            <a:r>
              <a:rPr lang="en-US" sz="1900" b="true">
                <a:solidFill>
                  <a:srgbClr val="000000"/>
                </a:solidFill>
                <a:latin typeface="Canva Sans Bold"/>
                <a:ea typeface="Canva Sans Bold"/>
                <a:cs typeface="Canva Sans Bold"/>
                <a:sym typeface="Canva Sans Bold"/>
              </a:rPr>
              <a:t>Limitations:</a:t>
            </a:r>
          </a:p>
          <a:p>
            <a:pPr algn="just" marL="410211" indent="-205106" lvl="1">
              <a:lnSpc>
                <a:spcPts val="2660"/>
              </a:lnSpc>
              <a:buFont typeface="Arial"/>
              <a:buChar char="•"/>
            </a:pPr>
            <a:r>
              <a:rPr lang="en-US" sz="1900">
                <a:solidFill>
                  <a:srgbClr val="000000"/>
                </a:solidFill>
                <a:latin typeface="Canva Sans"/>
                <a:ea typeface="Canva Sans"/>
                <a:cs typeface="Canva Sans"/>
                <a:sym typeface="Canva Sans"/>
              </a:rPr>
              <a:t>Delayed response due to human decision-making.</a:t>
            </a:r>
          </a:p>
          <a:p>
            <a:pPr algn="just" marL="410211" indent="-205106" lvl="1">
              <a:lnSpc>
                <a:spcPts val="2660"/>
              </a:lnSpc>
              <a:buFont typeface="Arial"/>
              <a:buChar char="•"/>
            </a:pPr>
            <a:r>
              <a:rPr lang="en-US" sz="1900">
                <a:solidFill>
                  <a:srgbClr val="000000"/>
                </a:solidFill>
                <a:latin typeface="Canva Sans"/>
                <a:ea typeface="Canva Sans"/>
                <a:cs typeface="Canva Sans"/>
                <a:sym typeface="Canva Sans"/>
              </a:rPr>
              <a:t>Not automated or data-driven.</a:t>
            </a:r>
          </a:p>
          <a:p>
            <a:pPr algn="l">
              <a:lnSpc>
                <a:spcPts val="2660"/>
              </a:lnSpc>
            </a:pPr>
          </a:p>
          <a:p>
            <a:pPr algn="l">
              <a:lnSpc>
                <a:spcPts val="2660"/>
              </a:lnSpc>
            </a:pPr>
          </a:p>
          <a:p>
            <a:pPr algn="l">
              <a:lnSpc>
                <a:spcPts val="2660"/>
              </a:lnSpc>
            </a:pPr>
          </a:p>
          <a:p>
            <a:pPr algn="l">
              <a:lnSpc>
                <a:spcPts val="2660"/>
              </a:lnSpc>
            </a:pP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12"/>
                </a:lnSpc>
              </a:pPr>
              <a:r>
                <a:rPr lang="en-US" sz="4093" b="true">
                  <a:solidFill>
                    <a:srgbClr val="000000"/>
                  </a:solidFill>
                  <a:latin typeface="Calibri (MS) Bold"/>
                  <a:ea typeface="Calibri (MS) Bold"/>
                  <a:cs typeface="Calibri (MS) Bold"/>
                  <a:sym typeface="Calibri (MS) Bold"/>
                </a:rPr>
                <a:t>Proposed Methodology</a:t>
              </a:r>
            </a:p>
          </p:txBody>
        </p:sp>
      </p:grpSp>
      <p:sp>
        <p:nvSpPr>
          <p:cNvPr name="TextBox 5" id="5"/>
          <p:cNvSpPr txBox="true"/>
          <p:nvPr/>
        </p:nvSpPr>
        <p:spPr>
          <a:xfrm rot="0">
            <a:off x="576888" y="1438473"/>
            <a:ext cx="8599824" cy="5324475"/>
          </a:xfrm>
          <a:prstGeom prst="rect">
            <a:avLst/>
          </a:prstGeom>
        </p:spPr>
        <p:txBody>
          <a:bodyPr anchor="t" rtlCol="false" tIns="0" lIns="0" bIns="0" rIns="0">
            <a:spAutoFit/>
          </a:bodyPr>
          <a:lstStyle/>
          <a:p>
            <a:pPr algn="l">
              <a:lnSpc>
                <a:spcPts val="3000"/>
              </a:lnSpc>
            </a:pPr>
            <a:r>
              <a:rPr lang="en-US" sz="2000" b="true">
                <a:solidFill>
                  <a:srgbClr val="000000"/>
                </a:solidFill>
                <a:latin typeface="Canva Sans Bold"/>
                <a:ea typeface="Canva Sans Bold"/>
                <a:cs typeface="Canva Sans Bold"/>
                <a:sym typeface="Canva Sans Bold"/>
              </a:rPr>
              <a:t>Proposed Smart Traffic Management System : -</a:t>
            </a:r>
          </a:p>
          <a:p>
            <a:pPr algn="just">
              <a:lnSpc>
                <a:spcPts val="3000"/>
              </a:lnSpc>
            </a:pPr>
            <a:r>
              <a:rPr lang="en-US" sz="2000">
                <a:solidFill>
                  <a:srgbClr val="000000"/>
                </a:solidFill>
                <a:latin typeface="Canva Sans"/>
                <a:ea typeface="Canva Sans"/>
                <a:cs typeface="Canva Sans"/>
                <a:sym typeface="Canva Sans"/>
              </a:rPr>
              <a:t>The proposed system is a Python-based traffic simulation environment designed to intelligently manage traffic flow using adaptive signal control. Unlike traditional systems, this simulation is dynamic, modular, and event-driven, aiming to model realistic urban traffic behavior and demonstrate how smart signal control can reduce congestion and improve road safety.</a:t>
            </a:r>
          </a:p>
          <a:p>
            <a:pPr algn="just">
              <a:lnSpc>
                <a:spcPts val="3000"/>
              </a:lnSpc>
            </a:pPr>
          </a:p>
          <a:p>
            <a:pPr algn="just">
              <a:lnSpc>
                <a:spcPts val="3000"/>
              </a:lnSpc>
            </a:pPr>
            <a:r>
              <a:rPr lang="en-US" sz="2000" b="true">
                <a:solidFill>
                  <a:srgbClr val="000000"/>
                </a:solidFill>
                <a:latin typeface="Canva Sans Bold"/>
                <a:ea typeface="Canva Sans Bold"/>
                <a:cs typeface="Canva Sans Bold"/>
                <a:sym typeface="Canva Sans Bold"/>
              </a:rPr>
              <a:t>1,Traffic Simulation Engine (Using pygame)</a:t>
            </a:r>
          </a:p>
          <a:p>
            <a:pPr algn="just" marL="431801" indent="-215900" lvl="1">
              <a:lnSpc>
                <a:spcPts val="3000"/>
              </a:lnSpc>
              <a:buFont typeface="Arial"/>
              <a:buChar char="•"/>
            </a:pPr>
            <a:r>
              <a:rPr lang="en-US" sz="2000">
                <a:solidFill>
                  <a:srgbClr val="000000"/>
                </a:solidFill>
                <a:latin typeface="Canva Sans"/>
                <a:ea typeface="Canva Sans"/>
                <a:cs typeface="Canva Sans"/>
                <a:sym typeface="Canva Sans"/>
              </a:rPr>
              <a:t>Simulates a grid-based intersection with multiple lanes.</a:t>
            </a:r>
          </a:p>
          <a:p>
            <a:pPr algn="just" marL="431801" indent="-215900" lvl="1">
              <a:lnSpc>
                <a:spcPts val="3000"/>
              </a:lnSpc>
              <a:buFont typeface="Arial"/>
              <a:buChar char="•"/>
            </a:pPr>
            <a:r>
              <a:rPr lang="en-US" sz="2000">
                <a:solidFill>
                  <a:srgbClr val="000000"/>
                </a:solidFill>
                <a:latin typeface="Canva Sans"/>
                <a:ea typeface="Canva Sans"/>
                <a:cs typeface="Canva Sans"/>
                <a:sym typeface="Canva Sans"/>
              </a:rPr>
              <a:t>Animates real-time vehicle movement and pedestrian crossings.</a:t>
            </a:r>
          </a:p>
          <a:p>
            <a:pPr algn="just" marL="431801" indent="-215900" lvl="1">
              <a:lnSpc>
                <a:spcPts val="3000"/>
              </a:lnSpc>
              <a:buFont typeface="Arial"/>
              <a:buChar char="•"/>
            </a:pPr>
            <a:r>
              <a:rPr lang="en-US" sz="2000">
                <a:solidFill>
                  <a:srgbClr val="000000"/>
                </a:solidFill>
                <a:latin typeface="Canva Sans"/>
                <a:ea typeface="Canva Sans"/>
                <a:cs typeface="Canva Sans"/>
                <a:sym typeface="Canva Sans"/>
              </a:rPr>
              <a:t>Visually represents traffic lights, vehicle positions, and flow directions.</a:t>
            </a:r>
          </a:p>
          <a:p>
            <a:pPr algn="just">
              <a:lnSpc>
                <a:spcPts val="3000"/>
              </a:lnSpc>
            </a:pPr>
          </a:p>
        </p:txBody>
      </p:sp>
      <p:sp>
        <p:nvSpPr>
          <p:cNvPr name="AutoShape 6" id="6"/>
          <p:cNvSpPr/>
          <p:nvPr/>
        </p:nvSpPr>
        <p:spPr>
          <a:xfrm>
            <a:off x="487680" y="1070216"/>
            <a:ext cx="877824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19344" y="85424"/>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76200"/>
              <a:ext cx="11704320" cy="1701800"/>
            </a:xfrm>
            <a:prstGeom prst="rect">
              <a:avLst/>
            </a:prstGeom>
          </p:spPr>
          <p:txBody>
            <a:bodyPr anchor="ctr" rtlCol="false" tIns="0" lIns="0" bIns="0" rIns="0"/>
            <a:lstStyle/>
            <a:p>
              <a:pPr algn="ctr">
                <a:lnSpc>
                  <a:spcPts val="4800"/>
                </a:lnSpc>
              </a:pPr>
              <a:r>
                <a:rPr lang="en-US" sz="4000" b="true">
                  <a:solidFill>
                    <a:srgbClr val="000000"/>
                  </a:solidFill>
                  <a:latin typeface="Calibri (MS) Bold"/>
                  <a:ea typeface="Calibri (MS) Bold"/>
                  <a:cs typeface="Calibri (MS) Bold"/>
                  <a:sym typeface="Calibri (MS) Bold"/>
                </a:rPr>
                <a:t>Proposed Methodology</a:t>
              </a:r>
            </a:p>
          </p:txBody>
        </p:sp>
      </p:grpSp>
      <p:sp>
        <p:nvSpPr>
          <p:cNvPr name="AutoShape 5" id="5"/>
          <p:cNvSpPr/>
          <p:nvPr/>
        </p:nvSpPr>
        <p:spPr>
          <a:xfrm>
            <a:off x="556016" y="1053536"/>
            <a:ext cx="8641569" cy="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624351" y="1459539"/>
            <a:ext cx="8504898" cy="4930775"/>
          </a:xfrm>
          <a:prstGeom prst="rect">
            <a:avLst/>
          </a:prstGeom>
        </p:spPr>
        <p:txBody>
          <a:bodyPr anchor="t" rtlCol="false" tIns="0" lIns="0" bIns="0" rIns="0">
            <a:spAutoFit/>
          </a:bodyPr>
          <a:lstStyle/>
          <a:p>
            <a:pPr algn="l">
              <a:lnSpc>
                <a:spcPts val="2800"/>
              </a:lnSpc>
            </a:pPr>
            <a:r>
              <a:rPr lang="en-US" sz="2000" b="true">
                <a:solidFill>
                  <a:srgbClr val="000000"/>
                </a:solidFill>
                <a:latin typeface="Canva Sans Bold"/>
                <a:ea typeface="Canva Sans Bold"/>
                <a:cs typeface="Canva Sans Bold"/>
                <a:sym typeface="Canva Sans Bold"/>
              </a:rPr>
              <a:t>2,Adaptive Signal Control Algorithm</a:t>
            </a:r>
          </a:p>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Dynamically adjusts signal timings based on simulated traffic density.</a:t>
            </a:r>
          </a:p>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Uses logic to prioritize high-traffic lanes and prevent bottlenecks.</a:t>
            </a:r>
          </a:p>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Adapts light durations (green/yellow/red) in each cycle to optimize flow.</a:t>
            </a:r>
          </a:p>
          <a:p>
            <a:pPr algn="ctr">
              <a:lnSpc>
                <a:spcPts val="2800"/>
              </a:lnSpc>
            </a:pPr>
          </a:p>
          <a:p>
            <a:pPr algn="l">
              <a:lnSpc>
                <a:spcPts val="2800"/>
              </a:lnSpc>
            </a:pPr>
            <a:r>
              <a:rPr lang="en-US" sz="2000" b="true">
                <a:solidFill>
                  <a:srgbClr val="000000"/>
                </a:solidFill>
                <a:latin typeface="Canva Sans Bold"/>
                <a:ea typeface="Canva Sans Bold"/>
                <a:cs typeface="Canva Sans Bold"/>
                <a:sym typeface="Canva Sans Bold"/>
              </a:rPr>
              <a:t>3,</a:t>
            </a:r>
            <a:r>
              <a:rPr lang="en-US" sz="2000" b="true">
                <a:solidFill>
                  <a:srgbClr val="000000"/>
                </a:solidFill>
                <a:latin typeface="Canva Sans Bold"/>
                <a:ea typeface="Canva Sans Bold"/>
                <a:cs typeface="Canva Sans Bold"/>
                <a:sym typeface="Canva Sans Bold"/>
              </a:rPr>
              <a:t>Real-Time Multithreaded Control (Using threading)</a:t>
            </a:r>
          </a:p>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Ensures that vehicle movement, signal updates, and pedestrian actions run concurrently.</a:t>
            </a:r>
          </a:p>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Prevents freezing or lagging in the simulation by separating logic threads.</a:t>
            </a:r>
          </a:p>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Mimics real-world parallel traffic operations.</a:t>
            </a:r>
          </a:p>
          <a:p>
            <a:pPr algn="ctr">
              <a:lnSpc>
                <a:spcPts val="2800"/>
              </a:lnSpc>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12192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12"/>
                </a:lnSpc>
              </a:pPr>
              <a:r>
                <a:rPr lang="en-US" sz="4093" b="true">
                  <a:solidFill>
                    <a:srgbClr val="000000"/>
                  </a:solidFill>
                  <a:latin typeface="Calibri (MS) Bold"/>
                  <a:ea typeface="Calibri (MS) Bold"/>
                  <a:cs typeface="Calibri (MS) Bold"/>
                  <a:sym typeface="Calibri (MS) Bold"/>
                </a:rPr>
                <a:t>Proposed Methodology</a:t>
              </a:r>
            </a:p>
          </p:txBody>
        </p:sp>
      </p:grpSp>
      <p:sp>
        <p:nvSpPr>
          <p:cNvPr name="AutoShape 5" id="5"/>
          <p:cNvSpPr/>
          <p:nvPr/>
        </p:nvSpPr>
        <p:spPr>
          <a:xfrm>
            <a:off x="635673" y="1122808"/>
            <a:ext cx="8482255" cy="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635673" y="1637347"/>
            <a:ext cx="8482255" cy="2956560"/>
          </a:xfrm>
          <a:prstGeom prst="rect">
            <a:avLst/>
          </a:prstGeom>
        </p:spPr>
        <p:txBody>
          <a:bodyPr anchor="t" rtlCol="false" tIns="0" lIns="0" bIns="0" rIns="0">
            <a:spAutoFit/>
          </a:bodyPr>
          <a:lstStyle/>
          <a:p>
            <a:pPr algn="l">
              <a:lnSpc>
                <a:spcPts val="2940"/>
              </a:lnSpc>
            </a:pPr>
            <a:r>
              <a:rPr lang="en-US" sz="2100" b="true">
                <a:solidFill>
                  <a:srgbClr val="000000"/>
                </a:solidFill>
                <a:latin typeface="Canva Sans Bold"/>
                <a:ea typeface="Canva Sans Bold"/>
                <a:cs typeface="Canva Sans Bold"/>
                <a:sym typeface="Canva Sans Bold"/>
              </a:rPr>
              <a:t>4,Traffic Pattern Generator (Using random)</a:t>
            </a:r>
          </a:p>
          <a:p>
            <a:pPr algn="just" marL="453390" indent="-226695" lvl="1">
              <a:lnSpc>
                <a:spcPts val="2940"/>
              </a:lnSpc>
              <a:buFont typeface="Arial"/>
              <a:buChar char="•"/>
            </a:pPr>
            <a:r>
              <a:rPr lang="en-US" sz="2100">
                <a:solidFill>
                  <a:srgbClr val="000000"/>
                </a:solidFill>
                <a:latin typeface="Canva Sans"/>
                <a:ea typeface="Canva Sans"/>
                <a:cs typeface="Canva Sans"/>
                <a:sym typeface="Canva Sans"/>
              </a:rPr>
              <a:t>Introduces randomness in vehicle entry points, density, and timing.</a:t>
            </a:r>
          </a:p>
          <a:p>
            <a:pPr algn="just" marL="453390" indent="-226695" lvl="1">
              <a:lnSpc>
                <a:spcPts val="2940"/>
              </a:lnSpc>
              <a:buFont typeface="Arial"/>
              <a:buChar char="•"/>
            </a:pPr>
            <a:r>
              <a:rPr lang="en-US" sz="2100">
                <a:solidFill>
                  <a:srgbClr val="000000"/>
                </a:solidFill>
                <a:latin typeface="Canva Sans"/>
                <a:ea typeface="Canva Sans"/>
                <a:cs typeface="Canva Sans"/>
                <a:sym typeface="Canva Sans"/>
              </a:rPr>
              <a:t>Simulates rush hours, low-traffic conditions, and unexpected congestion.</a:t>
            </a:r>
          </a:p>
          <a:p>
            <a:pPr algn="just" marL="453390" indent="-226695" lvl="1">
              <a:lnSpc>
                <a:spcPts val="2940"/>
              </a:lnSpc>
              <a:buFont typeface="Arial"/>
              <a:buChar char="•"/>
            </a:pPr>
            <a:r>
              <a:rPr lang="en-US" sz="2100">
                <a:solidFill>
                  <a:srgbClr val="000000"/>
                </a:solidFill>
                <a:latin typeface="Canva Sans"/>
                <a:ea typeface="Canva Sans"/>
                <a:cs typeface="Canva Sans"/>
                <a:sym typeface="Canva Sans"/>
              </a:rPr>
              <a:t>Makes the simulation more realistic and suitable for stress-testing algorithms.</a:t>
            </a:r>
          </a:p>
          <a:p>
            <a:pPr algn="ctr">
              <a:lnSpc>
                <a:spcPts val="2940"/>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4008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12"/>
                </a:lnSpc>
              </a:pPr>
              <a:r>
                <a:rPr lang="en-US" sz="4093" b="true">
                  <a:solidFill>
                    <a:srgbClr val="000000"/>
                  </a:solidFill>
                  <a:latin typeface="Calibri (MS) Bold"/>
                  <a:ea typeface="Calibri (MS) Bold"/>
                  <a:cs typeface="Calibri (MS) Bold"/>
                  <a:sym typeface="Calibri (MS) Bold"/>
                </a:rPr>
                <a:t>Feasibility Study</a:t>
              </a:r>
            </a:p>
          </p:txBody>
        </p:sp>
      </p:grpSp>
      <p:sp>
        <p:nvSpPr>
          <p:cNvPr name="AutoShape 5" id="5"/>
          <p:cNvSpPr/>
          <p:nvPr/>
        </p:nvSpPr>
        <p:spPr>
          <a:xfrm>
            <a:off x="784526" y="960158"/>
            <a:ext cx="8355140"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784526" y="1064449"/>
            <a:ext cx="8355140" cy="8136803"/>
            <a:chOff x="0" y="0"/>
            <a:chExt cx="10793420" cy="10511367"/>
          </a:xfrm>
        </p:grpSpPr>
        <p:sp>
          <p:nvSpPr>
            <p:cNvPr name="Freeform 7" id="7"/>
            <p:cNvSpPr/>
            <p:nvPr/>
          </p:nvSpPr>
          <p:spPr>
            <a:xfrm flipH="false" flipV="false" rot="0">
              <a:off x="0" y="0"/>
              <a:ext cx="10793420" cy="10511367"/>
            </a:xfrm>
            <a:custGeom>
              <a:avLst/>
              <a:gdLst/>
              <a:ahLst/>
              <a:cxnLst/>
              <a:rect r="r" b="b" t="t" l="l"/>
              <a:pathLst>
                <a:path h="10511367" w="10793420">
                  <a:moveTo>
                    <a:pt x="0" y="0"/>
                  </a:moveTo>
                  <a:lnTo>
                    <a:pt x="10793420" y="0"/>
                  </a:lnTo>
                  <a:lnTo>
                    <a:pt x="10793420" y="10511367"/>
                  </a:lnTo>
                  <a:lnTo>
                    <a:pt x="0" y="10511367"/>
                  </a:lnTo>
                  <a:close/>
                </a:path>
              </a:pathLst>
            </a:custGeom>
            <a:solidFill>
              <a:srgbClr val="000000">
                <a:alpha val="0"/>
              </a:srgbClr>
            </a:solidFill>
          </p:spPr>
        </p:sp>
        <p:sp>
          <p:nvSpPr>
            <p:cNvPr name="TextBox 8" id="8"/>
            <p:cNvSpPr txBox="true"/>
            <p:nvPr/>
          </p:nvSpPr>
          <p:spPr>
            <a:xfrm>
              <a:off x="0" y="-38100"/>
              <a:ext cx="10793420" cy="10549467"/>
            </a:xfrm>
            <a:prstGeom prst="rect">
              <a:avLst/>
            </a:prstGeom>
          </p:spPr>
          <p:txBody>
            <a:bodyPr anchor="t" rtlCol="false" tIns="0" lIns="0" bIns="0" rIns="0"/>
            <a:lstStyle/>
            <a:p>
              <a:pPr algn="l">
                <a:lnSpc>
                  <a:spcPts val="2460"/>
                </a:lnSpc>
              </a:pPr>
              <a:r>
                <a:rPr lang="en-US" sz="2000" spc="68" b="true">
                  <a:solidFill>
                    <a:srgbClr val="000000"/>
                  </a:solidFill>
                  <a:latin typeface="Calibri (MS) Bold"/>
                  <a:ea typeface="Calibri (MS) Bold"/>
                  <a:cs typeface="Calibri (MS) Bold"/>
                  <a:sym typeface="Calibri (MS) Bold"/>
                </a:rPr>
                <a:t>1. Technical Feasibility :</a:t>
              </a:r>
            </a:p>
            <a:p>
              <a:pPr algn="just">
                <a:lnSpc>
                  <a:spcPts val="2460"/>
                </a:lnSpc>
              </a:pPr>
              <a:r>
                <a:rPr lang="en-US" sz="2000" spc="68">
                  <a:solidFill>
                    <a:srgbClr val="000000"/>
                  </a:solidFill>
                  <a:latin typeface="Calibri (MS)"/>
                  <a:ea typeface="Calibri (MS)"/>
                  <a:cs typeface="Calibri (MS)"/>
                  <a:sym typeface="Calibri (MS)"/>
                </a:rPr>
                <a:t>The project is technically feasible as it uses widely available and well-documented tools and technologies. The system is developed using Python and libraries such as pygame, threading, os, time, and random, which are lightweight, open-source, and suitable for real-time simulation and graphical modeling.</a:t>
              </a:r>
            </a:p>
            <a:p>
              <a:pPr algn="just" marL="431802" indent="-215901" lvl="1">
                <a:lnSpc>
                  <a:spcPts val="2460"/>
                </a:lnSpc>
                <a:buFont typeface="Arial"/>
                <a:buChar char="•"/>
              </a:pPr>
              <a:r>
                <a:rPr lang="en-US" b="true" sz="2000" spc="68">
                  <a:solidFill>
                    <a:srgbClr val="000000"/>
                  </a:solidFill>
                  <a:latin typeface="Calibri (MS) Bold"/>
                  <a:ea typeface="Calibri (MS) Bold"/>
                  <a:cs typeface="Calibri (MS) Bold"/>
                  <a:sym typeface="Calibri (MS) Bold"/>
                </a:rPr>
                <a:t>Simulation Engine:</a:t>
              </a:r>
              <a:r>
                <a:rPr lang="en-US" sz="2000" spc="68">
                  <a:solidFill>
                    <a:srgbClr val="000000"/>
                  </a:solidFill>
                  <a:latin typeface="Calibri (MS)"/>
                  <a:ea typeface="Calibri (MS)"/>
                  <a:cs typeface="Calibri (MS)"/>
                  <a:sym typeface="Calibri (MS)"/>
                </a:rPr>
                <a:t> pygame provides a robust framework for rendering 2D simulations with animations.</a:t>
              </a:r>
            </a:p>
            <a:p>
              <a:pPr algn="just" marL="431802" indent="-215901" lvl="1">
                <a:lnSpc>
                  <a:spcPts val="2460"/>
                </a:lnSpc>
                <a:buFont typeface="Arial"/>
                <a:buChar char="•"/>
              </a:pPr>
              <a:r>
                <a:rPr lang="en-US" b="true" sz="2000" spc="68">
                  <a:solidFill>
                    <a:srgbClr val="000000"/>
                  </a:solidFill>
                  <a:latin typeface="Calibri (MS) Bold"/>
                  <a:ea typeface="Calibri (MS) Bold"/>
                  <a:cs typeface="Calibri (MS) Bold"/>
                  <a:sym typeface="Calibri (MS) Bold"/>
                </a:rPr>
                <a:t>Concurrency: </a:t>
              </a:r>
              <a:r>
                <a:rPr lang="en-US" sz="2000" spc="68">
                  <a:solidFill>
                    <a:srgbClr val="000000"/>
                  </a:solidFill>
                  <a:latin typeface="Calibri (MS)"/>
                  <a:ea typeface="Calibri (MS)"/>
                  <a:cs typeface="Calibri (MS)"/>
                  <a:sym typeface="Calibri (MS)"/>
                </a:rPr>
                <a:t>threading allows for simultaneous vehicle movement and traffic light control, simulating real-time interaction.</a:t>
              </a:r>
            </a:p>
            <a:p>
              <a:pPr algn="just" marL="431802" indent="-215901" lvl="1">
                <a:lnSpc>
                  <a:spcPts val="2460"/>
                </a:lnSpc>
                <a:buFont typeface="Arial"/>
                <a:buChar char="•"/>
              </a:pPr>
              <a:r>
                <a:rPr lang="en-US" b="true" sz="2000" spc="68">
                  <a:solidFill>
                    <a:srgbClr val="000000"/>
                  </a:solidFill>
                  <a:latin typeface="Calibri (MS) Bold"/>
                  <a:ea typeface="Calibri (MS) Bold"/>
                  <a:cs typeface="Calibri (MS) Bold"/>
                  <a:sym typeface="Calibri (MS) Bold"/>
                </a:rPr>
                <a:t>Platform Compatibility:</a:t>
              </a:r>
              <a:r>
                <a:rPr lang="en-US" sz="2000" spc="68">
                  <a:solidFill>
                    <a:srgbClr val="000000"/>
                  </a:solidFill>
                  <a:latin typeface="Calibri (MS)"/>
                  <a:ea typeface="Calibri (MS)"/>
                  <a:cs typeface="Calibri (MS)"/>
                  <a:sym typeface="Calibri (MS)"/>
                </a:rPr>
                <a:t> The system can be executed on any standard PC or laptop with Python installed, making it accessible and platform-independent.</a:t>
              </a:r>
            </a:p>
            <a:p>
              <a:pPr algn="l">
                <a:lnSpc>
                  <a:spcPts val="2460"/>
                </a:lnSpc>
              </a:pPr>
            </a:p>
            <a:p>
              <a:pPr algn="l">
                <a:lnSpc>
                  <a:spcPts val="2460"/>
                </a:lnSpc>
              </a:pPr>
              <a:r>
                <a:rPr lang="en-US" sz="2000" spc="68" b="true">
                  <a:solidFill>
                    <a:srgbClr val="000000"/>
                  </a:solidFill>
                  <a:latin typeface="Calibri (MS) Bold"/>
                  <a:ea typeface="Calibri (MS) Bold"/>
                  <a:cs typeface="Calibri (MS) Bold"/>
                  <a:sym typeface="Calibri (MS) Bold"/>
                </a:rPr>
                <a:t>2. Economic Feasibility :</a:t>
              </a:r>
            </a:p>
            <a:p>
              <a:pPr algn="just">
                <a:lnSpc>
                  <a:spcPts val="2460"/>
                </a:lnSpc>
              </a:pPr>
              <a:r>
                <a:rPr lang="en-US" sz="2000" spc="68">
                  <a:solidFill>
                    <a:srgbClr val="000000"/>
                  </a:solidFill>
                  <a:latin typeface="Calibri (MS)"/>
                  <a:ea typeface="Calibri (MS)"/>
                  <a:cs typeface="Calibri (MS)"/>
                  <a:sym typeface="Calibri (MS)"/>
                </a:rPr>
                <a:t>The system is highly economical due to its reliance on free and open-source software components. There is no need for any expensive proprietary software or specialized hardware.</a:t>
              </a:r>
            </a:p>
            <a:p>
              <a:pPr algn="just" marL="431802" indent="-215901" lvl="1">
                <a:lnSpc>
                  <a:spcPts val="2460"/>
                </a:lnSpc>
                <a:buFont typeface="Arial"/>
                <a:buChar char="•"/>
              </a:pPr>
              <a:r>
                <a:rPr lang="en-US" b="true" sz="2000" spc="68">
                  <a:solidFill>
                    <a:srgbClr val="000000"/>
                  </a:solidFill>
                  <a:latin typeface="Calibri (MS) Bold"/>
                  <a:ea typeface="Calibri (MS) Bold"/>
                  <a:cs typeface="Calibri (MS) Bold"/>
                  <a:sym typeface="Calibri (MS) Bold"/>
                </a:rPr>
                <a:t>Software Costs:</a:t>
              </a:r>
              <a:r>
                <a:rPr lang="en-US" sz="2000" spc="68">
                  <a:solidFill>
                    <a:srgbClr val="000000"/>
                  </a:solidFill>
                  <a:latin typeface="Calibri (MS)"/>
                  <a:ea typeface="Calibri (MS)"/>
                  <a:cs typeface="Calibri (MS)"/>
                  <a:sym typeface="Calibri (MS)"/>
                </a:rPr>
                <a:t> All tools used (Python and its modules) are free.</a:t>
              </a:r>
            </a:p>
            <a:p>
              <a:pPr algn="l">
                <a:lnSpc>
                  <a:spcPts val="2460"/>
                </a:lnSpc>
              </a:pPr>
            </a:p>
            <a:p>
              <a:pPr algn="l">
                <a:lnSpc>
                  <a:spcPts val="2460"/>
                </a:lnSpc>
              </a:pPr>
            </a:p>
            <a:p>
              <a:pPr algn="l">
                <a:lnSpc>
                  <a:spcPts val="2460"/>
                </a:lnSpc>
              </a:pPr>
            </a:p>
            <a:p>
              <a:pPr algn="l">
                <a:lnSpc>
                  <a:spcPts val="2460"/>
                </a:lnSpc>
              </a:pPr>
            </a:p>
            <a:p>
              <a:pPr algn="l">
                <a:lnSpc>
                  <a:spcPts val="2460"/>
                </a:lnSpc>
              </a:pPr>
            </a:p>
          </p:txBody>
        </p:sp>
      </p:gr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12"/>
                </a:lnSpc>
              </a:pPr>
              <a:r>
                <a:rPr lang="en-US" sz="4093" b="true">
                  <a:solidFill>
                    <a:srgbClr val="000000"/>
                  </a:solidFill>
                  <a:latin typeface="Calibri (MS) Bold"/>
                  <a:ea typeface="Calibri (MS) Bold"/>
                  <a:cs typeface="Calibri (MS) Bold"/>
                  <a:sym typeface="Calibri (MS) Bold"/>
                </a:rPr>
                <a:t>Feasibility Study</a:t>
              </a:r>
            </a:p>
          </p:txBody>
        </p:sp>
      </p:grpSp>
      <p:sp>
        <p:nvSpPr>
          <p:cNvPr name="AutoShape 5" id="5"/>
          <p:cNvSpPr/>
          <p:nvPr/>
        </p:nvSpPr>
        <p:spPr>
          <a:xfrm flipV="true">
            <a:off x="609600" y="993369"/>
            <a:ext cx="8534400"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609600" y="1219200"/>
            <a:ext cx="8534400" cy="8136803"/>
            <a:chOff x="0" y="0"/>
            <a:chExt cx="11024994" cy="10511367"/>
          </a:xfrm>
        </p:grpSpPr>
        <p:sp>
          <p:nvSpPr>
            <p:cNvPr name="Freeform 7" id="7"/>
            <p:cNvSpPr/>
            <p:nvPr/>
          </p:nvSpPr>
          <p:spPr>
            <a:xfrm flipH="false" flipV="false" rot="0">
              <a:off x="0" y="0"/>
              <a:ext cx="11024994" cy="10511367"/>
            </a:xfrm>
            <a:custGeom>
              <a:avLst/>
              <a:gdLst/>
              <a:ahLst/>
              <a:cxnLst/>
              <a:rect r="r" b="b" t="t" l="l"/>
              <a:pathLst>
                <a:path h="10511367" w="11024994">
                  <a:moveTo>
                    <a:pt x="0" y="0"/>
                  </a:moveTo>
                  <a:lnTo>
                    <a:pt x="11024994" y="0"/>
                  </a:lnTo>
                  <a:lnTo>
                    <a:pt x="11024994" y="10511367"/>
                  </a:lnTo>
                  <a:lnTo>
                    <a:pt x="0" y="10511367"/>
                  </a:lnTo>
                  <a:close/>
                </a:path>
              </a:pathLst>
            </a:custGeom>
            <a:solidFill>
              <a:srgbClr val="000000">
                <a:alpha val="0"/>
              </a:srgbClr>
            </a:solidFill>
          </p:spPr>
        </p:sp>
        <p:sp>
          <p:nvSpPr>
            <p:cNvPr name="TextBox 8" id="8"/>
            <p:cNvSpPr txBox="true"/>
            <p:nvPr/>
          </p:nvSpPr>
          <p:spPr>
            <a:xfrm>
              <a:off x="0" y="-38100"/>
              <a:ext cx="11024994" cy="10549467"/>
            </a:xfrm>
            <a:prstGeom prst="rect">
              <a:avLst/>
            </a:prstGeom>
          </p:spPr>
          <p:txBody>
            <a:bodyPr anchor="t" rtlCol="false" tIns="0" lIns="0" bIns="0" rIns="0"/>
            <a:lstStyle/>
            <a:p>
              <a:pPr algn="just" marL="431802" indent="-215901" lvl="1">
                <a:lnSpc>
                  <a:spcPts val="2460"/>
                </a:lnSpc>
                <a:buFont typeface="Arial"/>
                <a:buChar char="•"/>
              </a:pPr>
              <a:r>
                <a:rPr lang="en-US" b="true" sz="2000" spc="68">
                  <a:solidFill>
                    <a:srgbClr val="000000"/>
                  </a:solidFill>
                  <a:latin typeface="Calibri (MS) Bold"/>
                  <a:ea typeface="Calibri (MS) Bold"/>
                  <a:cs typeface="Calibri (MS) Bold"/>
                  <a:sym typeface="Calibri (MS) Bold"/>
                </a:rPr>
                <a:t>Hardware Requirements:</a:t>
              </a:r>
              <a:r>
                <a:rPr lang="en-US" sz="2000" spc="68">
                  <a:solidFill>
                    <a:srgbClr val="000000"/>
                  </a:solidFill>
                  <a:latin typeface="Calibri (MS)"/>
                  <a:ea typeface="Calibri (MS)"/>
                  <a:cs typeface="Calibri (MS)"/>
                  <a:sym typeface="Calibri (MS)"/>
                </a:rPr>
                <a:t> Runs on low-to-mid specification computers; no need for high-end machines.</a:t>
              </a:r>
            </a:p>
            <a:p>
              <a:pPr algn="just" marL="431802" indent="-215901" lvl="1">
                <a:lnSpc>
                  <a:spcPts val="2460"/>
                </a:lnSpc>
                <a:buFont typeface="Arial"/>
                <a:buChar char="•"/>
              </a:pPr>
              <a:r>
                <a:rPr lang="en-US" b="true" sz="2000" spc="68">
                  <a:solidFill>
                    <a:srgbClr val="000000"/>
                  </a:solidFill>
                  <a:latin typeface="Calibri (MS) Bold"/>
                  <a:ea typeface="Calibri (MS) Bold"/>
                  <a:cs typeface="Calibri (MS) Bold"/>
                  <a:sym typeface="Calibri (MS) Bold"/>
                </a:rPr>
                <a:t>Development and Maintenance:</a:t>
              </a:r>
              <a:r>
                <a:rPr lang="en-US" sz="2000" spc="68">
                  <a:solidFill>
                    <a:srgbClr val="000000"/>
                  </a:solidFill>
                  <a:latin typeface="Calibri (MS)"/>
                  <a:ea typeface="Calibri (MS)"/>
                  <a:cs typeface="Calibri (MS)"/>
                  <a:sym typeface="Calibri (MS)"/>
                </a:rPr>
                <a:t> Minimal cost involved as the development and testing can be carried out using existing infrastructure.</a:t>
              </a:r>
            </a:p>
            <a:p>
              <a:pPr algn="l">
                <a:lnSpc>
                  <a:spcPts val="2460"/>
                </a:lnSpc>
              </a:pPr>
            </a:p>
            <a:p>
              <a:pPr algn="l">
                <a:lnSpc>
                  <a:spcPts val="2460"/>
                </a:lnSpc>
              </a:pPr>
              <a:r>
                <a:rPr lang="en-US" sz="2000" spc="68" b="true">
                  <a:solidFill>
                    <a:srgbClr val="000000"/>
                  </a:solidFill>
                  <a:latin typeface="Calibri (MS) Bold"/>
                  <a:ea typeface="Calibri (MS) Bold"/>
                  <a:cs typeface="Calibri (MS) Bold"/>
                  <a:sym typeface="Calibri (MS) Bold"/>
                </a:rPr>
                <a:t>3. Operational Feasibility :</a:t>
              </a:r>
            </a:p>
            <a:p>
              <a:pPr algn="just">
                <a:lnSpc>
                  <a:spcPts val="2460"/>
                </a:lnSpc>
              </a:pPr>
              <a:r>
                <a:rPr lang="en-US" sz="2000" spc="68">
                  <a:solidFill>
                    <a:srgbClr val="000000"/>
                  </a:solidFill>
                  <a:latin typeface="Calibri (MS)"/>
                  <a:ea typeface="Calibri (MS)"/>
                  <a:cs typeface="Calibri (MS)"/>
                  <a:sym typeface="Calibri (MS)"/>
                </a:rPr>
                <a:t>The project is operationally feasible and easy to run and maintain. The graphical interface provides a clear visualization of traffic flow and signal changes, making the system user-friendly and intuitive.</a:t>
              </a:r>
            </a:p>
            <a:p>
              <a:pPr algn="just" marL="431802" indent="-215901" lvl="1">
                <a:lnSpc>
                  <a:spcPts val="2460"/>
                </a:lnSpc>
                <a:buFont typeface="Arial"/>
                <a:buChar char="•"/>
              </a:pPr>
              <a:r>
                <a:rPr lang="en-US" b="true" sz="2000" spc="68">
                  <a:solidFill>
                    <a:srgbClr val="000000"/>
                  </a:solidFill>
                  <a:latin typeface="Calibri (MS) Bold"/>
                  <a:ea typeface="Calibri (MS) Bold"/>
                  <a:cs typeface="Calibri (MS) Bold"/>
                  <a:sym typeface="Calibri (MS) Bold"/>
                </a:rPr>
                <a:t>User Interaction:</a:t>
              </a:r>
              <a:r>
                <a:rPr lang="en-US" sz="2000" spc="68">
                  <a:solidFill>
                    <a:srgbClr val="000000"/>
                  </a:solidFill>
                  <a:latin typeface="Calibri (MS)"/>
                  <a:ea typeface="Calibri (MS)"/>
                  <a:cs typeface="Calibri (MS)"/>
                  <a:sym typeface="Calibri (MS)"/>
                </a:rPr>
                <a:t> Basic interface allows the user to observe and analyze traffic behavior and signal adaptation.</a:t>
              </a:r>
            </a:p>
            <a:p>
              <a:pPr algn="just" marL="431802" indent="-215901" lvl="1">
                <a:lnSpc>
                  <a:spcPts val="2460"/>
                </a:lnSpc>
                <a:buFont typeface="Arial"/>
                <a:buChar char="•"/>
              </a:pPr>
              <a:r>
                <a:rPr lang="en-US" b="true" sz="2000" spc="68">
                  <a:solidFill>
                    <a:srgbClr val="000000"/>
                  </a:solidFill>
                  <a:latin typeface="Calibri (MS) Bold"/>
                  <a:ea typeface="Calibri (MS) Bold"/>
                  <a:cs typeface="Calibri (MS) Bold"/>
                  <a:sym typeface="Calibri (MS) Bold"/>
                </a:rPr>
                <a:t>Extensibility:</a:t>
              </a:r>
              <a:r>
                <a:rPr lang="en-US" sz="2000" spc="68">
                  <a:solidFill>
                    <a:srgbClr val="000000"/>
                  </a:solidFill>
                  <a:latin typeface="Calibri (MS)"/>
                  <a:ea typeface="Calibri (MS)"/>
                  <a:cs typeface="Calibri (MS)"/>
                  <a:sym typeface="Calibri (MS)"/>
                </a:rPr>
                <a:t> The system is modular, enabling future updates such as pedestrian simulation, emergency vehicle priority, or real-time sensor input.</a:t>
              </a:r>
            </a:p>
            <a:p>
              <a:pPr algn="just" marL="431802" indent="-215901" lvl="1">
                <a:lnSpc>
                  <a:spcPts val="2460"/>
                </a:lnSpc>
                <a:buFont typeface="Arial"/>
                <a:buChar char="•"/>
              </a:pPr>
              <a:r>
                <a:rPr lang="en-US" b="true" sz="2000" spc="68">
                  <a:solidFill>
                    <a:srgbClr val="000000"/>
                  </a:solidFill>
                  <a:latin typeface="Calibri (MS) Bold"/>
                  <a:ea typeface="Calibri (MS) Bold"/>
                  <a:cs typeface="Calibri (MS) Bold"/>
                  <a:sym typeface="Calibri (MS) Bold"/>
                </a:rPr>
                <a:t>Reliability: </a:t>
              </a:r>
              <a:r>
                <a:rPr lang="en-US" sz="2000" spc="68">
                  <a:solidFill>
                    <a:srgbClr val="000000"/>
                  </a:solidFill>
                  <a:latin typeface="Calibri (MS)"/>
                  <a:ea typeface="Calibri (MS)"/>
                  <a:cs typeface="Calibri (MS)"/>
                  <a:sym typeface="Calibri (MS)"/>
                </a:rPr>
                <a:t>Proper use of threading and modular code structure ensures the system is stable and performs well under different traffic scenarios.</a:t>
              </a:r>
            </a:p>
            <a:p>
              <a:pPr algn="l">
                <a:lnSpc>
                  <a:spcPts val="2460"/>
                </a:lnSpc>
              </a:pPr>
            </a:p>
            <a:p>
              <a:pPr algn="l">
                <a:lnSpc>
                  <a:spcPts val="2460"/>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12"/>
                </a:lnSpc>
              </a:pPr>
              <a:r>
                <a:rPr lang="en-US" sz="4093" b="true">
                  <a:solidFill>
                    <a:srgbClr val="000000"/>
                  </a:solidFill>
                  <a:latin typeface="Calibri (MS) Bold"/>
                  <a:ea typeface="Calibri (MS) Bold"/>
                  <a:cs typeface="Calibri (MS) Bold"/>
                  <a:sym typeface="Calibri (MS) Bold"/>
                </a:rPr>
                <a:t>Architecture Diagram</a:t>
              </a:r>
            </a:p>
          </p:txBody>
        </p:sp>
      </p:grpSp>
      <p:grpSp>
        <p:nvGrpSpPr>
          <p:cNvPr name="Group 5" id="5"/>
          <p:cNvGrpSpPr/>
          <p:nvPr/>
        </p:nvGrpSpPr>
        <p:grpSpPr>
          <a:xfrm rot="0">
            <a:off x="2627745" y="1619292"/>
            <a:ext cx="4401039" cy="4964388"/>
            <a:chOff x="0" y="0"/>
            <a:chExt cx="952583" cy="1074517"/>
          </a:xfrm>
        </p:grpSpPr>
        <p:sp>
          <p:nvSpPr>
            <p:cNvPr name="Freeform 6" id="6"/>
            <p:cNvSpPr/>
            <p:nvPr/>
          </p:nvSpPr>
          <p:spPr>
            <a:xfrm flipH="false" flipV="false" rot="0">
              <a:off x="0" y="0"/>
              <a:ext cx="952583" cy="1074517"/>
            </a:xfrm>
            <a:custGeom>
              <a:avLst/>
              <a:gdLst/>
              <a:ahLst/>
              <a:cxnLst/>
              <a:rect r="r" b="b" t="t" l="l"/>
              <a:pathLst>
                <a:path h="1074517" w="952583">
                  <a:moveTo>
                    <a:pt x="72124" y="0"/>
                  </a:moveTo>
                  <a:lnTo>
                    <a:pt x="880460" y="0"/>
                  </a:lnTo>
                  <a:cubicBezTo>
                    <a:pt x="899588" y="0"/>
                    <a:pt x="917933" y="7599"/>
                    <a:pt x="931459" y="21125"/>
                  </a:cubicBezTo>
                  <a:cubicBezTo>
                    <a:pt x="944985" y="34650"/>
                    <a:pt x="952583" y="52995"/>
                    <a:pt x="952583" y="72124"/>
                  </a:cubicBezTo>
                  <a:lnTo>
                    <a:pt x="952583" y="1002394"/>
                  </a:lnTo>
                  <a:cubicBezTo>
                    <a:pt x="952583" y="1021522"/>
                    <a:pt x="944985" y="1039867"/>
                    <a:pt x="931459" y="1053393"/>
                  </a:cubicBezTo>
                  <a:cubicBezTo>
                    <a:pt x="917933" y="1066919"/>
                    <a:pt x="899588" y="1074517"/>
                    <a:pt x="880460" y="1074517"/>
                  </a:cubicBezTo>
                  <a:lnTo>
                    <a:pt x="72124" y="1074517"/>
                  </a:lnTo>
                  <a:cubicBezTo>
                    <a:pt x="52995" y="1074517"/>
                    <a:pt x="34650" y="1066919"/>
                    <a:pt x="21125" y="1053393"/>
                  </a:cubicBezTo>
                  <a:cubicBezTo>
                    <a:pt x="7599" y="1039867"/>
                    <a:pt x="0" y="1021522"/>
                    <a:pt x="0" y="1002394"/>
                  </a:cubicBezTo>
                  <a:lnTo>
                    <a:pt x="0" y="72124"/>
                  </a:lnTo>
                  <a:cubicBezTo>
                    <a:pt x="0" y="52995"/>
                    <a:pt x="7599" y="34650"/>
                    <a:pt x="21125" y="21125"/>
                  </a:cubicBezTo>
                  <a:cubicBezTo>
                    <a:pt x="34650" y="7599"/>
                    <a:pt x="52995" y="0"/>
                    <a:pt x="72124" y="0"/>
                  </a:cubicBezTo>
                  <a:close/>
                </a:path>
              </a:pathLst>
            </a:custGeom>
            <a:blipFill>
              <a:blip r:embed="rId2"/>
              <a:stretch>
                <a:fillRect l="-6400" t="0" r="-6400" b="0"/>
              </a:stretch>
            </a:blipFill>
          </p:spPr>
        </p:sp>
      </p:grpSp>
      <p:grpSp>
        <p:nvGrpSpPr>
          <p:cNvPr name="Group 7" id="7"/>
          <p:cNvGrpSpPr/>
          <p:nvPr/>
        </p:nvGrpSpPr>
        <p:grpSpPr>
          <a:xfrm rot="0">
            <a:off x="4381981" y="6219301"/>
            <a:ext cx="875407" cy="258421"/>
            <a:chOff x="0" y="0"/>
            <a:chExt cx="324225" cy="95711"/>
          </a:xfrm>
        </p:grpSpPr>
        <p:sp>
          <p:nvSpPr>
            <p:cNvPr name="Freeform 8" id="8"/>
            <p:cNvSpPr/>
            <p:nvPr/>
          </p:nvSpPr>
          <p:spPr>
            <a:xfrm flipH="false" flipV="false" rot="0">
              <a:off x="0" y="0"/>
              <a:ext cx="324225" cy="95711"/>
            </a:xfrm>
            <a:custGeom>
              <a:avLst/>
              <a:gdLst/>
              <a:ahLst/>
              <a:cxnLst/>
              <a:rect r="r" b="b" t="t" l="l"/>
              <a:pathLst>
                <a:path h="95711" w="324225">
                  <a:moveTo>
                    <a:pt x="47856" y="0"/>
                  </a:moveTo>
                  <a:lnTo>
                    <a:pt x="276369" y="0"/>
                  </a:lnTo>
                  <a:cubicBezTo>
                    <a:pt x="289061" y="0"/>
                    <a:pt x="301234" y="5042"/>
                    <a:pt x="310208" y="14017"/>
                  </a:cubicBezTo>
                  <a:cubicBezTo>
                    <a:pt x="319183" y="22991"/>
                    <a:pt x="324225" y="35164"/>
                    <a:pt x="324225" y="47856"/>
                  </a:cubicBezTo>
                  <a:lnTo>
                    <a:pt x="324225" y="47856"/>
                  </a:lnTo>
                  <a:cubicBezTo>
                    <a:pt x="324225" y="60548"/>
                    <a:pt x="319183" y="72720"/>
                    <a:pt x="310208" y="81695"/>
                  </a:cubicBezTo>
                  <a:cubicBezTo>
                    <a:pt x="301234" y="90670"/>
                    <a:pt x="289061" y="95711"/>
                    <a:pt x="276369" y="95711"/>
                  </a:cubicBezTo>
                  <a:lnTo>
                    <a:pt x="47856" y="95711"/>
                  </a:lnTo>
                  <a:cubicBezTo>
                    <a:pt x="35164" y="95711"/>
                    <a:pt x="22991" y="90670"/>
                    <a:pt x="14017" y="81695"/>
                  </a:cubicBezTo>
                  <a:cubicBezTo>
                    <a:pt x="5042" y="72720"/>
                    <a:pt x="0" y="60548"/>
                    <a:pt x="0" y="47856"/>
                  </a:cubicBezTo>
                  <a:lnTo>
                    <a:pt x="0" y="47856"/>
                  </a:lnTo>
                  <a:cubicBezTo>
                    <a:pt x="0" y="35164"/>
                    <a:pt x="5042" y="22991"/>
                    <a:pt x="14017" y="14017"/>
                  </a:cubicBezTo>
                  <a:cubicBezTo>
                    <a:pt x="22991" y="5042"/>
                    <a:pt x="35164" y="0"/>
                    <a:pt x="47856" y="0"/>
                  </a:cubicBezTo>
                  <a:close/>
                </a:path>
              </a:pathLst>
            </a:custGeom>
            <a:solidFill>
              <a:srgbClr val="FFFFFF"/>
            </a:solidFill>
          </p:spPr>
        </p:sp>
        <p:sp>
          <p:nvSpPr>
            <p:cNvPr name="TextBox 9" id="9"/>
            <p:cNvSpPr txBox="true"/>
            <p:nvPr/>
          </p:nvSpPr>
          <p:spPr>
            <a:xfrm>
              <a:off x="0" y="-28575"/>
              <a:ext cx="324225" cy="124286"/>
            </a:xfrm>
            <a:prstGeom prst="rect">
              <a:avLst/>
            </a:prstGeom>
          </p:spPr>
          <p:txBody>
            <a:bodyPr anchor="ctr" rtlCol="false" tIns="50800" lIns="50800" bIns="50800" rIns="50800"/>
            <a:lstStyle/>
            <a:p>
              <a:pPr algn="ctr">
                <a:lnSpc>
                  <a:spcPts val="1960"/>
                </a:lnSpc>
                <a:spcBef>
                  <a:spcPct val="0"/>
                </a:spcBef>
              </a:pPr>
            </a:p>
          </p:txBody>
        </p:sp>
      </p:grpSp>
      <p:sp>
        <p:nvSpPr>
          <p:cNvPr name="TextBox 10" id="10"/>
          <p:cNvSpPr txBox="true"/>
          <p:nvPr/>
        </p:nvSpPr>
        <p:spPr>
          <a:xfrm rot="0">
            <a:off x="4559628" y="6181201"/>
            <a:ext cx="593148" cy="233680"/>
          </a:xfrm>
          <a:prstGeom prst="rect">
            <a:avLst/>
          </a:prstGeom>
        </p:spPr>
        <p:txBody>
          <a:bodyPr anchor="t" rtlCol="false" tIns="0" lIns="0" bIns="0" rIns="0">
            <a:spAutoFit/>
          </a:bodyPr>
          <a:lstStyle/>
          <a:p>
            <a:pPr algn="ctr">
              <a:lnSpc>
                <a:spcPts val="1819"/>
              </a:lnSpc>
            </a:pPr>
            <a:r>
              <a:rPr lang="en-US" sz="1299" b="true">
                <a:solidFill>
                  <a:srgbClr val="000000"/>
                </a:solidFill>
                <a:latin typeface="Canva Sans Bold"/>
                <a:ea typeface="Canva Sans Bold"/>
                <a:cs typeface="Canva Sans Bold"/>
                <a:sym typeface="Canva Sans Bold"/>
              </a:rPr>
              <a:t>Vehicle</a:t>
            </a:r>
          </a:p>
        </p:txBody>
      </p:sp>
      <p:sp>
        <p:nvSpPr>
          <p:cNvPr name="AutoShape 11" id="11"/>
          <p:cNvSpPr/>
          <p:nvPr/>
        </p:nvSpPr>
        <p:spPr>
          <a:xfrm>
            <a:off x="731520" y="949228"/>
            <a:ext cx="829056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31663" y="-88933"/>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12"/>
                </a:lnSpc>
              </a:pPr>
              <a:r>
                <a:rPr lang="en-US" sz="4093" b="true">
                  <a:solidFill>
                    <a:srgbClr val="000000"/>
                  </a:solidFill>
                  <a:latin typeface="Calibri (MS) Bold"/>
                  <a:ea typeface="Calibri (MS) Bold"/>
                  <a:cs typeface="Calibri (MS) Bold"/>
                  <a:sym typeface="Calibri (MS) Bold"/>
                </a:rPr>
                <a:t>Implementation - Modules</a:t>
              </a:r>
            </a:p>
          </p:txBody>
        </p:sp>
      </p:grpSp>
      <p:sp>
        <p:nvSpPr>
          <p:cNvPr name="AutoShape 5" id="5"/>
          <p:cNvSpPr/>
          <p:nvPr/>
        </p:nvSpPr>
        <p:spPr>
          <a:xfrm>
            <a:off x="577596" y="986509"/>
            <a:ext cx="8832308" cy="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577596" y="1279623"/>
            <a:ext cx="8717598" cy="1054100"/>
          </a:xfrm>
          <a:prstGeom prst="rect">
            <a:avLst/>
          </a:prstGeom>
        </p:spPr>
        <p:txBody>
          <a:bodyPr anchor="t" rtlCol="false" tIns="0" lIns="0" bIns="0" rIns="0">
            <a:spAutoFit/>
          </a:bodyPr>
          <a:lstStyle/>
          <a:p>
            <a:pPr algn="just">
              <a:lnSpc>
                <a:spcPts val="2800"/>
              </a:lnSpc>
            </a:pPr>
            <a:r>
              <a:rPr lang="en-US" sz="2000">
                <a:solidFill>
                  <a:srgbClr val="000000"/>
                </a:solidFill>
                <a:latin typeface="Canva Sans"/>
                <a:ea typeface="Canva Sans"/>
                <a:cs typeface="Canva Sans"/>
                <a:sym typeface="Canva Sans"/>
              </a:rPr>
              <a:t>The Smart Traffic Management System is implemented using several core Python modules, each playing a specific role in simulating traffic flow and enabling adaptive control.</a:t>
            </a:r>
          </a:p>
        </p:txBody>
      </p:sp>
      <p:sp>
        <p:nvSpPr>
          <p:cNvPr name="TextBox 7" id="7"/>
          <p:cNvSpPr txBox="true"/>
          <p:nvPr/>
        </p:nvSpPr>
        <p:spPr>
          <a:xfrm rot="0">
            <a:off x="577596" y="2609948"/>
            <a:ext cx="8717598" cy="4225925"/>
          </a:xfrm>
          <a:prstGeom prst="rect">
            <a:avLst/>
          </a:prstGeom>
        </p:spPr>
        <p:txBody>
          <a:bodyPr anchor="t" rtlCol="false" tIns="0" lIns="0" bIns="0" rIns="0">
            <a:spAutoFit/>
          </a:bodyPr>
          <a:lstStyle/>
          <a:p>
            <a:pPr algn="l">
              <a:lnSpc>
                <a:spcPts val="2800"/>
              </a:lnSpc>
            </a:pPr>
            <a:r>
              <a:rPr lang="en-US" sz="2000" b="true">
                <a:solidFill>
                  <a:srgbClr val="000000"/>
                </a:solidFill>
                <a:latin typeface="Canva Sans Bold"/>
                <a:ea typeface="Canva Sans Bold"/>
                <a:cs typeface="Canva Sans Bold"/>
                <a:sym typeface="Canva Sans Bold"/>
              </a:rPr>
              <a:t>1. pygame —</a:t>
            </a:r>
            <a:r>
              <a:rPr lang="en-US" sz="2000" i="true" b="true">
                <a:solidFill>
                  <a:srgbClr val="000000"/>
                </a:solidFill>
                <a:latin typeface="Canva Sans Bold Italics"/>
                <a:ea typeface="Canva Sans Bold Italics"/>
                <a:cs typeface="Canva Sans Bold Italics"/>
                <a:sym typeface="Canva Sans Bold Italics"/>
              </a:rPr>
              <a:t> Graphical Simulation Interface</a:t>
            </a:r>
          </a:p>
          <a:p>
            <a:pPr algn="just" marL="431801" indent="-215900" lvl="1">
              <a:lnSpc>
                <a:spcPts val="2800"/>
              </a:lnSpc>
              <a:buFont typeface="Arial"/>
              <a:buChar char="•"/>
            </a:pPr>
            <a:r>
              <a:rPr lang="en-US" b="true" sz="2000">
                <a:solidFill>
                  <a:srgbClr val="000000"/>
                </a:solidFill>
                <a:latin typeface="Canva Sans Bold"/>
                <a:ea typeface="Canva Sans Bold"/>
                <a:cs typeface="Canva Sans Bold"/>
                <a:sym typeface="Canva Sans Bold"/>
              </a:rPr>
              <a:t>Purpose: </a:t>
            </a:r>
            <a:r>
              <a:rPr lang="en-US" sz="2000">
                <a:solidFill>
                  <a:srgbClr val="000000"/>
                </a:solidFill>
                <a:latin typeface="Canva Sans"/>
                <a:ea typeface="Canva Sans"/>
                <a:cs typeface="Canva Sans"/>
                <a:sym typeface="Canva Sans"/>
              </a:rPr>
              <a:t>Use</a:t>
            </a:r>
            <a:r>
              <a:rPr lang="en-US" sz="2000">
                <a:solidFill>
                  <a:srgbClr val="000000"/>
                </a:solidFill>
                <a:latin typeface="Canva Sans"/>
                <a:ea typeface="Canva Sans"/>
                <a:cs typeface="Canva Sans"/>
                <a:sym typeface="Canva Sans"/>
              </a:rPr>
              <a:t>d to build and render the visual environment of the traffic system.</a:t>
            </a:r>
          </a:p>
          <a:p>
            <a:pPr algn="l" marL="431801" indent="-215900" lvl="1">
              <a:lnSpc>
                <a:spcPts val="2800"/>
              </a:lnSpc>
              <a:buFont typeface="Arial"/>
              <a:buChar char="•"/>
            </a:pPr>
            <a:r>
              <a:rPr lang="en-US" b="true" sz="2000">
                <a:solidFill>
                  <a:srgbClr val="000000"/>
                </a:solidFill>
                <a:latin typeface="Canva Sans Bold"/>
                <a:ea typeface="Canva Sans Bold"/>
                <a:cs typeface="Canva Sans Bold"/>
                <a:sym typeface="Canva Sans Bold"/>
              </a:rPr>
              <a:t>Functionality:</a:t>
            </a:r>
          </a:p>
          <a:p>
            <a:pPr algn="just" marL="863601" indent="-287867" lvl="2">
              <a:lnSpc>
                <a:spcPts val="2800"/>
              </a:lnSpc>
              <a:buFont typeface="Arial"/>
              <a:buChar char="⚬"/>
            </a:pPr>
            <a:r>
              <a:rPr lang="en-US" sz="2000">
                <a:solidFill>
                  <a:srgbClr val="000000"/>
                </a:solidFill>
                <a:latin typeface="Canva Sans"/>
                <a:ea typeface="Canva Sans"/>
                <a:cs typeface="Canva Sans"/>
                <a:sym typeface="Canva Sans"/>
              </a:rPr>
              <a:t>Draws roads, intersections, vehicles, and traffic lights.</a:t>
            </a:r>
          </a:p>
          <a:p>
            <a:pPr algn="just" marL="863601" indent="-287867" lvl="2">
              <a:lnSpc>
                <a:spcPts val="2800"/>
              </a:lnSpc>
              <a:buFont typeface="Arial"/>
              <a:buChar char="⚬"/>
            </a:pPr>
            <a:r>
              <a:rPr lang="en-US" sz="2000">
                <a:solidFill>
                  <a:srgbClr val="000000"/>
                </a:solidFill>
                <a:latin typeface="Canva Sans"/>
                <a:ea typeface="Canva Sans"/>
                <a:cs typeface="Canva Sans"/>
                <a:sym typeface="Canva Sans"/>
              </a:rPr>
              <a:t>Animates vehicle movements, signal changes, and pedestrian crossings.</a:t>
            </a:r>
          </a:p>
          <a:p>
            <a:pPr algn="just" marL="863601" indent="-287867" lvl="2">
              <a:lnSpc>
                <a:spcPts val="2800"/>
              </a:lnSpc>
              <a:buFont typeface="Arial"/>
              <a:buChar char="⚬"/>
            </a:pPr>
            <a:r>
              <a:rPr lang="en-US" sz="2000">
                <a:solidFill>
                  <a:srgbClr val="000000"/>
                </a:solidFill>
                <a:latin typeface="Canva Sans"/>
                <a:ea typeface="Canva Sans"/>
                <a:cs typeface="Canva Sans"/>
                <a:sym typeface="Canva Sans"/>
              </a:rPr>
              <a:t>Handles user events (e.g., closing the window or updating simulation).</a:t>
            </a:r>
          </a:p>
          <a:p>
            <a:pPr algn="l" marL="431801" indent="-215900" lvl="1">
              <a:lnSpc>
                <a:spcPts val="2800"/>
              </a:lnSpc>
              <a:buFont typeface="Arial"/>
              <a:buChar char="•"/>
            </a:pPr>
            <a:r>
              <a:rPr lang="en-US" b="true" sz="2000">
                <a:solidFill>
                  <a:srgbClr val="000000"/>
                </a:solidFill>
                <a:latin typeface="Canva Sans Bold"/>
                <a:ea typeface="Canva Sans Bold"/>
                <a:cs typeface="Canva Sans Bold"/>
                <a:sym typeface="Canva Sans Bold"/>
              </a:rPr>
              <a:t>Benefit:</a:t>
            </a:r>
            <a:r>
              <a:rPr lang="en-US" sz="2000">
                <a:solidFill>
                  <a:srgbClr val="000000"/>
                </a:solidFill>
                <a:latin typeface="Canva Sans"/>
                <a:ea typeface="Canva Sans"/>
                <a:cs typeface="Canva Sans"/>
                <a:sym typeface="Canva Sans"/>
              </a:rPr>
              <a:t> Provides a real-time, visual interface for testing and demonstrating the effectiveness of the traffic algorithm.</a:t>
            </a:r>
          </a:p>
          <a:p>
            <a:pPr algn="ctr">
              <a:lnSpc>
                <a:spcPts val="2800"/>
              </a:lnSpc>
            </a:pP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25325" y="-4915"/>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12"/>
                </a:lnSpc>
              </a:pPr>
              <a:r>
                <a:rPr lang="en-US" sz="4093" b="true">
                  <a:solidFill>
                    <a:srgbClr val="000000"/>
                  </a:solidFill>
                  <a:latin typeface="Calibri (MS) Bold"/>
                  <a:ea typeface="Calibri (MS) Bold"/>
                  <a:cs typeface="Calibri (MS) Bold"/>
                  <a:sym typeface="Calibri (MS) Bold"/>
                </a:rPr>
                <a:t>Implementation - Modules</a:t>
              </a:r>
            </a:p>
          </p:txBody>
        </p:sp>
      </p:grpSp>
      <p:sp>
        <p:nvSpPr>
          <p:cNvPr name="TextBox 5" id="5"/>
          <p:cNvSpPr txBox="true"/>
          <p:nvPr/>
        </p:nvSpPr>
        <p:spPr>
          <a:xfrm rot="0">
            <a:off x="420762" y="1455626"/>
            <a:ext cx="8912076" cy="5955030"/>
          </a:xfrm>
          <a:prstGeom prst="rect">
            <a:avLst/>
          </a:prstGeom>
        </p:spPr>
        <p:txBody>
          <a:bodyPr anchor="t" rtlCol="false" tIns="0" lIns="0" bIns="0" rIns="0">
            <a:spAutoFit/>
          </a:bodyPr>
          <a:lstStyle/>
          <a:p>
            <a:pPr algn="l">
              <a:lnSpc>
                <a:spcPts val="2520"/>
              </a:lnSpc>
            </a:pPr>
            <a:r>
              <a:rPr lang="en-US" sz="1800" b="true">
                <a:solidFill>
                  <a:srgbClr val="000000"/>
                </a:solidFill>
                <a:latin typeface="Canva Sans Bold"/>
                <a:ea typeface="Canva Sans Bold"/>
                <a:cs typeface="Canva Sans Bold"/>
                <a:sym typeface="Canva Sans Bold"/>
              </a:rPr>
              <a:t>2. os — </a:t>
            </a:r>
            <a:r>
              <a:rPr lang="en-US" sz="1800" i="true" b="true">
                <a:solidFill>
                  <a:srgbClr val="000000"/>
                </a:solidFill>
                <a:latin typeface="Canva Sans Bold Italics"/>
                <a:ea typeface="Canva Sans Bold Italics"/>
                <a:cs typeface="Canva Sans Bold Italics"/>
                <a:sym typeface="Canva Sans Bold Italics"/>
              </a:rPr>
              <a:t>System-Level Operations</a:t>
            </a:r>
          </a:p>
          <a:p>
            <a:pPr algn="just" marL="388622" indent="-194311" lvl="1">
              <a:lnSpc>
                <a:spcPts val="2520"/>
              </a:lnSpc>
              <a:buFont typeface="Arial"/>
              <a:buChar char="•"/>
            </a:pPr>
            <a:r>
              <a:rPr lang="en-US" b="true" sz="1800">
                <a:solidFill>
                  <a:srgbClr val="000000"/>
                </a:solidFill>
                <a:latin typeface="Canva Sans Bold"/>
                <a:ea typeface="Canva Sans Bold"/>
                <a:cs typeface="Canva Sans Bold"/>
                <a:sym typeface="Canva Sans Bold"/>
              </a:rPr>
              <a:t>Purpose:</a:t>
            </a:r>
            <a:r>
              <a:rPr lang="en-US" sz="1800">
                <a:solidFill>
                  <a:srgbClr val="000000"/>
                </a:solidFill>
                <a:latin typeface="Canva Sans"/>
                <a:ea typeface="Canva Sans"/>
                <a:cs typeface="Canva Sans"/>
                <a:sym typeface="Canva Sans"/>
              </a:rPr>
              <a:t> Manages low-level system operations and file handling (if needed).</a:t>
            </a:r>
          </a:p>
          <a:p>
            <a:pPr algn="l" marL="388622" indent="-194311" lvl="1">
              <a:lnSpc>
                <a:spcPts val="2520"/>
              </a:lnSpc>
              <a:buFont typeface="Arial"/>
              <a:buChar char="•"/>
            </a:pPr>
            <a:r>
              <a:rPr lang="en-US" b="true" sz="1800">
                <a:solidFill>
                  <a:srgbClr val="000000"/>
                </a:solidFill>
                <a:latin typeface="Canva Sans Bold"/>
                <a:ea typeface="Canva Sans Bold"/>
                <a:cs typeface="Canva Sans Bold"/>
                <a:sym typeface="Canva Sans Bold"/>
              </a:rPr>
              <a:t>Functionality:</a:t>
            </a:r>
          </a:p>
          <a:p>
            <a:pPr algn="l" marL="777243" indent="-259081" lvl="2">
              <a:lnSpc>
                <a:spcPts val="2520"/>
              </a:lnSpc>
              <a:buFont typeface="Arial"/>
              <a:buChar char="⚬"/>
            </a:pPr>
            <a:r>
              <a:rPr lang="en-US" sz="1800">
                <a:solidFill>
                  <a:srgbClr val="000000"/>
                </a:solidFill>
                <a:latin typeface="Canva Sans"/>
                <a:ea typeface="Canva Sans"/>
                <a:cs typeface="Canva Sans"/>
                <a:sym typeface="Canva Sans"/>
              </a:rPr>
              <a:t>Clears the terminal or console between frames (for debug output).</a:t>
            </a:r>
          </a:p>
          <a:p>
            <a:pPr algn="l" marL="777243" indent="-259081" lvl="2">
              <a:lnSpc>
                <a:spcPts val="2520"/>
              </a:lnSpc>
              <a:buFont typeface="Arial"/>
              <a:buChar char="⚬"/>
            </a:pPr>
            <a:r>
              <a:rPr lang="en-US" sz="1800">
                <a:solidFill>
                  <a:srgbClr val="000000"/>
                </a:solidFill>
                <a:latin typeface="Canva Sans"/>
                <a:ea typeface="Canva Sans"/>
                <a:cs typeface="Canva Sans"/>
                <a:sym typeface="Canva Sans"/>
              </a:rPr>
              <a:t>Handles file saving/loading for logs or configuration (optional).</a:t>
            </a:r>
          </a:p>
          <a:p>
            <a:pPr algn="just" marL="388622" indent="-194311" lvl="1">
              <a:lnSpc>
                <a:spcPts val="2520"/>
              </a:lnSpc>
              <a:buFont typeface="Arial"/>
              <a:buChar char="•"/>
            </a:pPr>
            <a:r>
              <a:rPr lang="en-US" b="true" sz="1800">
                <a:solidFill>
                  <a:srgbClr val="000000"/>
                </a:solidFill>
                <a:latin typeface="Canva Sans Bold"/>
                <a:ea typeface="Canva Sans Bold"/>
                <a:cs typeface="Canva Sans Bold"/>
                <a:sym typeface="Canva Sans Bold"/>
              </a:rPr>
              <a:t>Benefit:</a:t>
            </a:r>
            <a:r>
              <a:rPr lang="en-US" sz="1800">
                <a:solidFill>
                  <a:srgbClr val="000000"/>
                </a:solidFill>
                <a:latin typeface="Canva Sans"/>
                <a:ea typeface="Canva Sans"/>
                <a:cs typeface="Canva Sans"/>
                <a:sym typeface="Canva Sans"/>
              </a:rPr>
              <a:t> Supports backend operations that enhance user experience and debugging.</a:t>
            </a:r>
          </a:p>
          <a:p>
            <a:pPr algn="just">
              <a:lnSpc>
                <a:spcPts val="2520"/>
              </a:lnSpc>
            </a:pPr>
          </a:p>
          <a:p>
            <a:pPr algn="l">
              <a:lnSpc>
                <a:spcPts val="2520"/>
              </a:lnSpc>
            </a:pPr>
            <a:r>
              <a:rPr lang="en-US" sz="1800" b="true">
                <a:solidFill>
                  <a:srgbClr val="000000"/>
                </a:solidFill>
                <a:latin typeface="Canva Sans Bold"/>
                <a:ea typeface="Canva Sans Bold"/>
                <a:cs typeface="Canva Sans Bold"/>
                <a:sym typeface="Canva Sans Bold"/>
              </a:rPr>
              <a:t>3. time — </a:t>
            </a:r>
            <a:r>
              <a:rPr lang="en-US" sz="1800" i="true" b="true">
                <a:solidFill>
                  <a:srgbClr val="000000"/>
                </a:solidFill>
                <a:latin typeface="Canva Sans Bold Italics"/>
                <a:ea typeface="Canva Sans Bold Italics"/>
                <a:cs typeface="Canva Sans Bold Italics"/>
                <a:sym typeface="Canva Sans Bold Italics"/>
              </a:rPr>
              <a:t>Timing and Synchronization</a:t>
            </a:r>
          </a:p>
          <a:p>
            <a:pPr algn="just" marL="388622" indent="-194311" lvl="1">
              <a:lnSpc>
                <a:spcPts val="2520"/>
              </a:lnSpc>
              <a:buFont typeface="Arial"/>
              <a:buChar char="•"/>
            </a:pPr>
            <a:r>
              <a:rPr lang="en-US" b="true" sz="1800">
                <a:solidFill>
                  <a:srgbClr val="000000"/>
                </a:solidFill>
                <a:latin typeface="Canva Sans Bold"/>
                <a:ea typeface="Canva Sans Bold"/>
                <a:cs typeface="Canva Sans Bold"/>
                <a:sym typeface="Canva Sans Bold"/>
              </a:rPr>
              <a:t>Purpose:</a:t>
            </a:r>
            <a:r>
              <a:rPr lang="en-US" sz="1800">
                <a:solidFill>
                  <a:srgbClr val="000000"/>
                </a:solidFill>
                <a:latin typeface="Canva Sans"/>
                <a:ea typeface="Canva Sans"/>
                <a:cs typeface="Canva Sans"/>
                <a:sym typeface="Canva Sans"/>
              </a:rPr>
              <a:t> Manages timing for traffic light changes, delays, and vehicle movement.</a:t>
            </a:r>
          </a:p>
          <a:p>
            <a:pPr algn="l" marL="388622" indent="-194311" lvl="1">
              <a:lnSpc>
                <a:spcPts val="2520"/>
              </a:lnSpc>
              <a:buFont typeface="Arial"/>
              <a:buChar char="•"/>
            </a:pPr>
            <a:r>
              <a:rPr lang="en-US" b="true" sz="1800">
                <a:solidFill>
                  <a:srgbClr val="000000"/>
                </a:solidFill>
                <a:latin typeface="Canva Sans Bold"/>
                <a:ea typeface="Canva Sans Bold"/>
                <a:cs typeface="Canva Sans Bold"/>
                <a:sym typeface="Canva Sans Bold"/>
              </a:rPr>
              <a:t>Functionality:</a:t>
            </a:r>
          </a:p>
          <a:p>
            <a:pPr algn="just">
              <a:lnSpc>
                <a:spcPts val="2520"/>
              </a:lnSpc>
            </a:pPr>
            <a:r>
              <a:rPr lang="en-US" sz="1800">
                <a:solidFill>
                  <a:srgbClr val="000000"/>
                </a:solidFill>
                <a:latin typeface="Canva Sans"/>
                <a:ea typeface="Canva Sans"/>
                <a:cs typeface="Canva Sans"/>
                <a:sym typeface="Canva Sans"/>
              </a:rPr>
              <a:t>           </a:t>
            </a:r>
            <a:r>
              <a:rPr lang="en-US" sz="1800" b="true">
                <a:solidFill>
                  <a:srgbClr val="000000"/>
                </a:solidFill>
                <a:latin typeface="Canva Sans Bold"/>
                <a:ea typeface="Canva Sans Bold"/>
                <a:cs typeface="Canva Sans Bold"/>
                <a:sym typeface="Canva Sans Bold"/>
              </a:rPr>
              <a:t>    -</a:t>
            </a:r>
            <a:r>
              <a:rPr lang="en-US" sz="1800">
                <a:solidFill>
                  <a:srgbClr val="000000"/>
                </a:solidFill>
                <a:latin typeface="Canva Sans"/>
                <a:ea typeface="Canva Sans"/>
                <a:cs typeface="Canva Sans"/>
                <a:sym typeface="Canva Sans"/>
              </a:rPr>
              <a:t> Controls the duration of red, green, and yellow lights.</a:t>
            </a:r>
          </a:p>
          <a:p>
            <a:pPr algn="just">
              <a:lnSpc>
                <a:spcPts val="2520"/>
              </a:lnSpc>
            </a:pPr>
            <a:r>
              <a:rPr lang="en-US" sz="1800">
                <a:solidFill>
                  <a:srgbClr val="000000"/>
                </a:solidFill>
                <a:latin typeface="Canva Sans"/>
                <a:ea typeface="Canva Sans"/>
                <a:cs typeface="Canva Sans"/>
                <a:sym typeface="Canva Sans"/>
              </a:rPr>
              <a:t>               </a:t>
            </a:r>
            <a:r>
              <a:rPr lang="en-US" sz="1800" b="true">
                <a:solidFill>
                  <a:srgbClr val="000000"/>
                </a:solidFill>
                <a:latin typeface="Canva Sans Bold"/>
                <a:ea typeface="Canva Sans Bold"/>
                <a:cs typeface="Canva Sans Bold"/>
                <a:sym typeface="Canva Sans Bold"/>
              </a:rPr>
              <a:t>-</a:t>
            </a:r>
            <a:r>
              <a:rPr lang="en-US" sz="1800">
                <a:solidFill>
                  <a:srgbClr val="000000"/>
                </a:solidFill>
                <a:latin typeface="Canva Sans"/>
                <a:ea typeface="Canva Sans"/>
                <a:cs typeface="Canva Sans"/>
                <a:sym typeface="Canva Sans"/>
              </a:rPr>
              <a:t> </a:t>
            </a:r>
            <a:r>
              <a:rPr lang="en-US" sz="1800">
                <a:solidFill>
                  <a:srgbClr val="000000"/>
                </a:solidFill>
                <a:latin typeface="Canva Sans"/>
                <a:ea typeface="Canva Sans"/>
                <a:cs typeface="Canva Sans"/>
                <a:sym typeface="Canva Sans"/>
              </a:rPr>
              <a:t>Sets time intervals for vehicle movement steps.</a:t>
            </a:r>
          </a:p>
          <a:p>
            <a:pPr algn="just">
              <a:lnSpc>
                <a:spcPts val="2520"/>
              </a:lnSpc>
            </a:pPr>
            <a:r>
              <a:rPr lang="en-US" sz="1800">
                <a:solidFill>
                  <a:srgbClr val="000000"/>
                </a:solidFill>
                <a:latin typeface="Canva Sans"/>
                <a:ea typeface="Canva Sans"/>
                <a:cs typeface="Canva Sans"/>
                <a:sym typeface="Canva Sans"/>
              </a:rPr>
              <a:t>              </a:t>
            </a:r>
            <a:r>
              <a:rPr lang="en-US" sz="1800" b="true">
                <a:solidFill>
                  <a:srgbClr val="000000"/>
                </a:solidFill>
                <a:latin typeface="Canva Sans Bold"/>
                <a:ea typeface="Canva Sans Bold"/>
                <a:cs typeface="Canva Sans Bold"/>
                <a:sym typeface="Canva Sans Bold"/>
              </a:rPr>
              <a:t> -</a:t>
            </a:r>
            <a:r>
              <a:rPr lang="en-US" sz="1800">
                <a:solidFill>
                  <a:srgbClr val="000000"/>
                </a:solidFill>
                <a:latin typeface="Canva Sans"/>
                <a:ea typeface="Canva Sans"/>
                <a:cs typeface="Canva Sans"/>
                <a:sym typeface="Canva Sans"/>
              </a:rPr>
              <a:t> </a:t>
            </a:r>
            <a:r>
              <a:rPr lang="en-US" sz="1800">
                <a:solidFill>
                  <a:srgbClr val="000000"/>
                </a:solidFill>
                <a:latin typeface="Canva Sans"/>
                <a:ea typeface="Canva Sans"/>
                <a:cs typeface="Canva Sans"/>
                <a:sym typeface="Canva Sans"/>
              </a:rPr>
              <a:t>Synchronizes simulation speed with real-time.</a:t>
            </a:r>
          </a:p>
          <a:p>
            <a:pPr algn="just" marL="388622" indent="-194311" lvl="1">
              <a:lnSpc>
                <a:spcPts val="2520"/>
              </a:lnSpc>
              <a:buFont typeface="Arial"/>
              <a:buChar char="•"/>
            </a:pPr>
            <a:r>
              <a:rPr lang="en-US" b="true" sz="1800">
                <a:solidFill>
                  <a:srgbClr val="000000"/>
                </a:solidFill>
                <a:latin typeface="Canva Sans Bold"/>
                <a:ea typeface="Canva Sans Bold"/>
                <a:cs typeface="Canva Sans Bold"/>
                <a:sym typeface="Canva Sans Bold"/>
              </a:rPr>
              <a:t>Benefit: </a:t>
            </a:r>
            <a:r>
              <a:rPr lang="en-US" sz="1800">
                <a:solidFill>
                  <a:srgbClr val="000000"/>
                </a:solidFill>
                <a:latin typeface="Canva Sans"/>
                <a:ea typeface="Canva Sans"/>
                <a:cs typeface="Canva Sans"/>
                <a:sym typeface="Canva Sans"/>
              </a:rPr>
              <a:t>Provides realistic pacing and accurate simulation of signal cycles.</a:t>
            </a:r>
          </a:p>
          <a:p>
            <a:pPr algn="ctr">
              <a:lnSpc>
                <a:spcPts val="2520"/>
              </a:lnSpc>
            </a:pPr>
          </a:p>
          <a:p>
            <a:pPr algn="ctr">
              <a:lnSpc>
                <a:spcPts val="2520"/>
              </a:lnSpc>
            </a:pPr>
          </a:p>
          <a:p>
            <a:pPr algn="ctr">
              <a:lnSpc>
                <a:spcPts val="2520"/>
              </a:lnSpc>
            </a:pPr>
          </a:p>
        </p:txBody>
      </p:sp>
      <p:sp>
        <p:nvSpPr>
          <p:cNvPr name="AutoShape 6" id="6"/>
          <p:cNvSpPr/>
          <p:nvPr/>
        </p:nvSpPr>
        <p:spPr>
          <a:xfrm>
            <a:off x="420762" y="974255"/>
            <a:ext cx="8982803"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14324" y="1380491"/>
            <a:ext cx="8524953" cy="5203189"/>
          </a:xfrm>
          <a:prstGeom prst="rect">
            <a:avLst/>
          </a:prstGeom>
        </p:spPr>
        <p:txBody>
          <a:bodyPr anchor="t" rtlCol="false" tIns="0" lIns="0" bIns="0" rIns="0">
            <a:spAutoFit/>
          </a:bodyPr>
          <a:lstStyle/>
          <a:p>
            <a:pPr algn="l">
              <a:lnSpc>
                <a:spcPts val="2380"/>
              </a:lnSpc>
            </a:pPr>
            <a:r>
              <a:rPr lang="en-US" sz="1700" b="true">
                <a:solidFill>
                  <a:srgbClr val="000000"/>
                </a:solidFill>
                <a:latin typeface="Canva Sans Bold"/>
                <a:ea typeface="Canva Sans Bold"/>
                <a:cs typeface="Canva Sans Bold"/>
                <a:sym typeface="Canva Sans Bold"/>
              </a:rPr>
              <a:t>4. random — </a:t>
            </a:r>
            <a:r>
              <a:rPr lang="en-US" sz="1700" i="true" b="true">
                <a:solidFill>
                  <a:srgbClr val="000000"/>
                </a:solidFill>
                <a:latin typeface="Canva Sans Bold Italics"/>
                <a:ea typeface="Canva Sans Bold Italics"/>
                <a:cs typeface="Canva Sans Bold Italics"/>
                <a:sym typeface="Canva Sans Bold Italics"/>
              </a:rPr>
              <a:t>Traffic Behavior Simulation</a:t>
            </a:r>
          </a:p>
          <a:p>
            <a:pPr algn="just" marL="367032" indent="-183516" lvl="1">
              <a:lnSpc>
                <a:spcPts val="2380"/>
              </a:lnSpc>
              <a:buFont typeface="Arial"/>
              <a:buChar char="•"/>
            </a:pPr>
            <a:r>
              <a:rPr lang="en-US" b="true" sz="1700">
                <a:solidFill>
                  <a:srgbClr val="000000"/>
                </a:solidFill>
                <a:latin typeface="Canva Sans Bold"/>
                <a:ea typeface="Canva Sans Bold"/>
                <a:cs typeface="Canva Sans Bold"/>
                <a:sym typeface="Canva Sans Bold"/>
              </a:rPr>
              <a:t>Purpose:</a:t>
            </a:r>
            <a:r>
              <a:rPr lang="en-US" sz="1700">
                <a:solidFill>
                  <a:srgbClr val="000000"/>
                </a:solidFill>
                <a:latin typeface="Canva Sans"/>
                <a:ea typeface="Canva Sans"/>
                <a:cs typeface="Canva Sans"/>
                <a:sym typeface="Canva Sans"/>
              </a:rPr>
              <a:t> Simulates unpredictability in vehicle arrival and pedestrian movement.</a:t>
            </a:r>
          </a:p>
          <a:p>
            <a:pPr algn="l" marL="367032" indent="-183516" lvl="1">
              <a:lnSpc>
                <a:spcPts val="2380"/>
              </a:lnSpc>
              <a:buFont typeface="Arial"/>
              <a:buChar char="•"/>
            </a:pPr>
            <a:r>
              <a:rPr lang="en-US" b="true" sz="1700">
                <a:solidFill>
                  <a:srgbClr val="000000"/>
                </a:solidFill>
                <a:latin typeface="Canva Sans Bold"/>
                <a:ea typeface="Canva Sans Bold"/>
                <a:cs typeface="Canva Sans Bold"/>
                <a:sym typeface="Canva Sans Bold"/>
              </a:rPr>
              <a:t>Functionality:</a:t>
            </a:r>
          </a:p>
          <a:p>
            <a:pPr algn="just" marL="734064" indent="-244688" lvl="2">
              <a:lnSpc>
                <a:spcPts val="2380"/>
              </a:lnSpc>
              <a:buFont typeface="Arial"/>
              <a:buChar char="⚬"/>
            </a:pPr>
            <a:r>
              <a:rPr lang="en-US" sz="1700">
                <a:solidFill>
                  <a:srgbClr val="000000"/>
                </a:solidFill>
                <a:latin typeface="Canva Sans"/>
                <a:ea typeface="Canva Sans"/>
                <a:cs typeface="Canva Sans"/>
                <a:sym typeface="Canva Sans"/>
              </a:rPr>
              <a:t>Randomizes vehicle generation at entry points.</a:t>
            </a:r>
          </a:p>
          <a:p>
            <a:pPr algn="just" marL="734064" indent="-244688" lvl="2">
              <a:lnSpc>
                <a:spcPts val="2380"/>
              </a:lnSpc>
              <a:buFont typeface="Arial"/>
              <a:buChar char="⚬"/>
            </a:pPr>
            <a:r>
              <a:rPr lang="en-US" sz="1700">
                <a:solidFill>
                  <a:srgbClr val="000000"/>
                </a:solidFill>
                <a:latin typeface="Canva Sans"/>
                <a:ea typeface="Canva Sans"/>
                <a:cs typeface="Canva Sans"/>
                <a:sym typeface="Canva Sans"/>
              </a:rPr>
              <a:t>Controls the timing of vehicle and pedestrian appearances.</a:t>
            </a:r>
          </a:p>
          <a:p>
            <a:pPr algn="just" marL="734064" indent="-244688" lvl="2">
              <a:lnSpc>
                <a:spcPts val="2380"/>
              </a:lnSpc>
              <a:buFont typeface="Arial"/>
              <a:buChar char="⚬"/>
            </a:pPr>
            <a:r>
              <a:rPr lang="en-US" sz="1700">
                <a:solidFill>
                  <a:srgbClr val="000000"/>
                </a:solidFill>
                <a:latin typeface="Canva Sans"/>
                <a:ea typeface="Canva Sans"/>
                <a:cs typeface="Canva Sans"/>
                <a:sym typeface="Canva Sans"/>
              </a:rPr>
              <a:t>Adds variability to simulate different traffic conditions (e.g., peak vs. off-peak).</a:t>
            </a:r>
          </a:p>
          <a:p>
            <a:pPr algn="l" marL="367032" indent="-183516" lvl="1">
              <a:lnSpc>
                <a:spcPts val="2380"/>
              </a:lnSpc>
              <a:buFont typeface="Arial"/>
              <a:buChar char="•"/>
            </a:pPr>
            <a:r>
              <a:rPr lang="en-US" b="true" sz="1700">
                <a:solidFill>
                  <a:srgbClr val="000000"/>
                </a:solidFill>
                <a:latin typeface="Canva Sans Bold"/>
                <a:ea typeface="Canva Sans Bold"/>
                <a:cs typeface="Canva Sans Bold"/>
                <a:sym typeface="Canva Sans Bold"/>
              </a:rPr>
              <a:t>Benefit:</a:t>
            </a:r>
            <a:r>
              <a:rPr lang="en-US" sz="1700">
                <a:solidFill>
                  <a:srgbClr val="000000"/>
                </a:solidFill>
                <a:latin typeface="Canva Sans"/>
                <a:ea typeface="Canva Sans"/>
                <a:cs typeface="Canva Sans"/>
                <a:sym typeface="Canva Sans"/>
              </a:rPr>
              <a:t> Makes the simulation dynamic and mimics real-world randomness.</a:t>
            </a:r>
          </a:p>
          <a:p>
            <a:pPr algn="l">
              <a:lnSpc>
                <a:spcPts val="2380"/>
              </a:lnSpc>
            </a:pPr>
            <a:r>
              <a:rPr lang="en-US" sz="1700" b="true">
                <a:solidFill>
                  <a:srgbClr val="000000"/>
                </a:solidFill>
                <a:latin typeface="Canva Sans Bold"/>
                <a:ea typeface="Canva Sans Bold"/>
                <a:cs typeface="Canva Sans Bold"/>
                <a:sym typeface="Canva Sans Bold"/>
              </a:rPr>
              <a:t>5. threading — </a:t>
            </a:r>
            <a:r>
              <a:rPr lang="en-US" sz="1700" i="true" b="true">
                <a:solidFill>
                  <a:srgbClr val="000000"/>
                </a:solidFill>
                <a:latin typeface="Canva Sans Bold Italics"/>
                <a:ea typeface="Canva Sans Bold Italics"/>
                <a:cs typeface="Canva Sans Bold Italics"/>
                <a:sym typeface="Canva Sans Bold Italics"/>
              </a:rPr>
              <a:t>Concurrent Operations</a:t>
            </a:r>
          </a:p>
          <a:p>
            <a:pPr algn="just" marL="367032" indent="-183516" lvl="1">
              <a:lnSpc>
                <a:spcPts val="2380"/>
              </a:lnSpc>
              <a:buFont typeface="Arial"/>
              <a:buChar char="•"/>
            </a:pPr>
            <a:r>
              <a:rPr lang="en-US" b="true" sz="1700">
                <a:solidFill>
                  <a:srgbClr val="000000"/>
                </a:solidFill>
                <a:latin typeface="Canva Sans Bold"/>
                <a:ea typeface="Canva Sans Bold"/>
                <a:cs typeface="Canva Sans Bold"/>
                <a:sym typeface="Canva Sans Bold"/>
              </a:rPr>
              <a:t>Purpose: </a:t>
            </a:r>
            <a:r>
              <a:rPr lang="en-US" sz="1700">
                <a:solidFill>
                  <a:srgbClr val="000000"/>
                </a:solidFill>
                <a:latin typeface="Canva Sans"/>
                <a:ea typeface="Canva Sans"/>
                <a:cs typeface="Canva Sans"/>
                <a:sym typeface="Canva Sans"/>
              </a:rPr>
              <a:t>Allows multiple simulation processes to run simultaneously.</a:t>
            </a:r>
          </a:p>
          <a:p>
            <a:pPr algn="l" marL="367032" indent="-183516" lvl="1">
              <a:lnSpc>
                <a:spcPts val="2380"/>
              </a:lnSpc>
              <a:buFont typeface="Arial"/>
              <a:buChar char="•"/>
            </a:pPr>
            <a:r>
              <a:rPr lang="en-US" b="true" sz="1700">
                <a:solidFill>
                  <a:srgbClr val="000000"/>
                </a:solidFill>
                <a:latin typeface="Canva Sans Bold"/>
                <a:ea typeface="Canva Sans Bold"/>
                <a:cs typeface="Canva Sans Bold"/>
                <a:sym typeface="Canva Sans Bold"/>
              </a:rPr>
              <a:t>Functionality:</a:t>
            </a:r>
          </a:p>
          <a:p>
            <a:pPr algn="just" marL="734064" indent="-244688" lvl="2">
              <a:lnSpc>
                <a:spcPts val="2380"/>
              </a:lnSpc>
              <a:buFont typeface="Arial"/>
              <a:buChar char="⚬"/>
            </a:pPr>
            <a:r>
              <a:rPr lang="en-US" sz="1700">
                <a:solidFill>
                  <a:srgbClr val="000000"/>
                </a:solidFill>
                <a:latin typeface="Canva Sans"/>
                <a:ea typeface="Canva Sans"/>
                <a:cs typeface="Canva Sans"/>
                <a:sym typeface="Canva Sans"/>
              </a:rPr>
              <a:t>Runs vehicle movement and signal updates in parallel.</a:t>
            </a:r>
          </a:p>
          <a:p>
            <a:pPr algn="just" marL="734064" indent="-244688" lvl="2">
              <a:lnSpc>
                <a:spcPts val="2380"/>
              </a:lnSpc>
              <a:buFont typeface="Arial"/>
              <a:buChar char="⚬"/>
            </a:pPr>
            <a:r>
              <a:rPr lang="en-US" sz="1700">
                <a:solidFill>
                  <a:srgbClr val="000000"/>
                </a:solidFill>
                <a:latin typeface="Canva Sans"/>
                <a:ea typeface="Canva Sans"/>
                <a:cs typeface="Canva Sans"/>
                <a:sym typeface="Canva Sans"/>
              </a:rPr>
              <a:t>Prevents lag or blocking behavior in the simulation.</a:t>
            </a:r>
          </a:p>
          <a:p>
            <a:pPr algn="just" marL="734064" indent="-244688" lvl="2">
              <a:lnSpc>
                <a:spcPts val="2380"/>
              </a:lnSpc>
              <a:buFont typeface="Arial"/>
              <a:buChar char="⚬"/>
            </a:pPr>
            <a:r>
              <a:rPr lang="en-US" sz="1700">
                <a:solidFill>
                  <a:srgbClr val="000000"/>
                </a:solidFill>
                <a:latin typeface="Canva Sans"/>
                <a:ea typeface="Canva Sans"/>
                <a:cs typeface="Canva Sans"/>
                <a:sym typeface="Canva Sans"/>
              </a:rPr>
              <a:t>Enables smoother and more responsive real-time control.</a:t>
            </a:r>
          </a:p>
          <a:p>
            <a:pPr algn="just" marL="367032" indent="-183516" lvl="1">
              <a:lnSpc>
                <a:spcPts val="2380"/>
              </a:lnSpc>
              <a:buFont typeface="Arial"/>
              <a:buChar char="•"/>
            </a:pPr>
            <a:r>
              <a:rPr lang="en-US" b="true" sz="1700">
                <a:solidFill>
                  <a:srgbClr val="000000"/>
                </a:solidFill>
                <a:latin typeface="Canva Sans Bold"/>
                <a:ea typeface="Canva Sans Bold"/>
                <a:cs typeface="Canva Sans Bold"/>
                <a:sym typeface="Canva Sans Bold"/>
              </a:rPr>
              <a:t>Benefit:</a:t>
            </a:r>
            <a:r>
              <a:rPr lang="en-US" sz="1700">
                <a:solidFill>
                  <a:srgbClr val="000000"/>
                </a:solidFill>
                <a:latin typeface="Canva Sans"/>
                <a:ea typeface="Canva Sans"/>
                <a:cs typeface="Canva Sans"/>
                <a:sym typeface="Canva Sans"/>
              </a:rPr>
              <a:t> Mimics real-world concurrency — essential for modeling real-time systems.</a:t>
            </a:r>
          </a:p>
          <a:p>
            <a:pPr algn="ctr">
              <a:lnSpc>
                <a:spcPts val="1540"/>
              </a:lnSpc>
            </a:pPr>
          </a:p>
        </p:txBody>
      </p:sp>
      <p:grpSp>
        <p:nvGrpSpPr>
          <p:cNvPr name="Group 3" id="3"/>
          <p:cNvGrpSpPr/>
          <p:nvPr/>
        </p:nvGrpSpPr>
        <p:grpSpPr>
          <a:xfrm rot="0">
            <a:off x="439010" y="-146542"/>
            <a:ext cx="8778240" cy="1219200"/>
            <a:chOff x="0" y="0"/>
            <a:chExt cx="11704320" cy="1625600"/>
          </a:xfrm>
        </p:grpSpPr>
        <p:sp>
          <p:nvSpPr>
            <p:cNvPr name="Freeform 4" id="4"/>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5" id="5"/>
            <p:cNvSpPr txBox="true"/>
            <p:nvPr/>
          </p:nvSpPr>
          <p:spPr>
            <a:xfrm>
              <a:off x="0" y="-85725"/>
              <a:ext cx="11704320" cy="1711325"/>
            </a:xfrm>
            <a:prstGeom prst="rect">
              <a:avLst/>
            </a:prstGeom>
          </p:spPr>
          <p:txBody>
            <a:bodyPr anchor="ctr" rtlCol="false" tIns="0" lIns="0" bIns="0" rIns="0"/>
            <a:lstStyle/>
            <a:p>
              <a:pPr algn="ctr">
                <a:lnSpc>
                  <a:spcPts val="4912"/>
                </a:lnSpc>
              </a:pPr>
              <a:r>
                <a:rPr lang="en-US" sz="4093" b="true">
                  <a:solidFill>
                    <a:srgbClr val="000000"/>
                  </a:solidFill>
                  <a:latin typeface="Calibri (MS) Bold"/>
                  <a:ea typeface="Calibri (MS) Bold"/>
                  <a:cs typeface="Calibri (MS) Bold"/>
                  <a:sym typeface="Calibri (MS) Bold"/>
                </a:rPr>
                <a:t>Implementation - Modules</a:t>
              </a:r>
            </a:p>
          </p:txBody>
        </p:sp>
      </p:grpSp>
      <p:sp>
        <p:nvSpPr>
          <p:cNvPr name="AutoShape 6" id="6"/>
          <p:cNvSpPr/>
          <p:nvPr/>
        </p:nvSpPr>
        <p:spPr>
          <a:xfrm>
            <a:off x="439010" y="910733"/>
            <a:ext cx="877824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5152"/>
                </a:lnSpc>
              </a:pPr>
              <a:r>
                <a:rPr lang="en-US" sz="4293" b="true">
                  <a:solidFill>
                    <a:srgbClr val="000000"/>
                  </a:solidFill>
                  <a:latin typeface="Calibri (MS) Bold"/>
                  <a:ea typeface="Calibri (MS) Bold"/>
                  <a:cs typeface="Calibri (MS) Bold"/>
                  <a:sym typeface="Calibri (MS) Bold"/>
                </a:rPr>
                <a:t>Implementation - Paradigms</a:t>
              </a:r>
            </a:p>
          </p:txBody>
        </p:sp>
      </p:grpSp>
      <p:grpSp>
        <p:nvGrpSpPr>
          <p:cNvPr name="Group 5" id="5"/>
          <p:cNvGrpSpPr/>
          <p:nvPr/>
        </p:nvGrpSpPr>
        <p:grpSpPr>
          <a:xfrm rot="0">
            <a:off x="609600" y="3096848"/>
            <a:ext cx="8534400" cy="3756199"/>
            <a:chOff x="0" y="0"/>
            <a:chExt cx="14024561" cy="6172553"/>
          </a:xfrm>
        </p:grpSpPr>
        <p:sp>
          <p:nvSpPr>
            <p:cNvPr name="Freeform 6" id="6"/>
            <p:cNvSpPr/>
            <p:nvPr/>
          </p:nvSpPr>
          <p:spPr>
            <a:xfrm flipH="false" flipV="false" rot="0">
              <a:off x="0" y="0"/>
              <a:ext cx="14024561" cy="6172553"/>
            </a:xfrm>
            <a:custGeom>
              <a:avLst/>
              <a:gdLst/>
              <a:ahLst/>
              <a:cxnLst/>
              <a:rect r="r" b="b" t="t" l="l"/>
              <a:pathLst>
                <a:path h="6172553" w="14024561">
                  <a:moveTo>
                    <a:pt x="0" y="0"/>
                  </a:moveTo>
                  <a:lnTo>
                    <a:pt x="14024561" y="0"/>
                  </a:lnTo>
                  <a:lnTo>
                    <a:pt x="14024561" y="6172553"/>
                  </a:lnTo>
                  <a:lnTo>
                    <a:pt x="0" y="6172553"/>
                  </a:lnTo>
                  <a:close/>
                </a:path>
              </a:pathLst>
            </a:custGeom>
            <a:solidFill>
              <a:srgbClr val="000000">
                <a:alpha val="0"/>
              </a:srgbClr>
            </a:solidFill>
          </p:spPr>
        </p:sp>
        <p:sp>
          <p:nvSpPr>
            <p:cNvPr name="TextBox 7" id="7"/>
            <p:cNvSpPr txBox="true"/>
            <p:nvPr/>
          </p:nvSpPr>
          <p:spPr>
            <a:xfrm>
              <a:off x="0" y="-38100"/>
              <a:ext cx="14024561" cy="6210653"/>
            </a:xfrm>
            <a:prstGeom prst="rect">
              <a:avLst/>
            </a:prstGeom>
          </p:spPr>
          <p:txBody>
            <a:bodyPr anchor="t" rtlCol="false" tIns="0" lIns="0" bIns="0" rIns="0"/>
            <a:lstStyle/>
            <a:p>
              <a:pPr algn="just">
                <a:lnSpc>
                  <a:spcPts val="2400"/>
                </a:lnSpc>
              </a:pPr>
              <a:r>
                <a:rPr lang="en-US" sz="2000" b="true">
                  <a:solidFill>
                    <a:srgbClr val="000000"/>
                  </a:solidFill>
                  <a:latin typeface="Calibri (MS) Bold"/>
                  <a:ea typeface="Calibri (MS) Bold"/>
                  <a:cs typeface="Calibri (MS) Bold"/>
                  <a:sym typeface="Calibri (MS) Bold"/>
                </a:rPr>
                <a:t>1. Event-Driven Programming :</a:t>
              </a:r>
            </a:p>
            <a:p>
              <a:pPr algn="just" marL="431801" indent="-215900" lvl="1">
                <a:lnSpc>
                  <a:spcPts val="2400"/>
                </a:lnSpc>
                <a:buFont typeface="Arial"/>
                <a:buChar char="•"/>
              </a:pPr>
              <a:r>
                <a:rPr lang="en-US" b="true" sz="2000">
                  <a:solidFill>
                    <a:srgbClr val="000000"/>
                  </a:solidFill>
                  <a:latin typeface="Calibri (MS) Bold"/>
                  <a:ea typeface="Calibri (MS) Bold"/>
                  <a:cs typeface="Calibri (MS) Bold"/>
                  <a:sym typeface="Calibri (MS) Bold"/>
                </a:rPr>
                <a:t>Definition:</a:t>
              </a:r>
              <a:r>
                <a:rPr lang="en-US" sz="2000">
                  <a:solidFill>
                    <a:srgbClr val="000000"/>
                  </a:solidFill>
                  <a:latin typeface="Calibri (MS)"/>
                  <a:ea typeface="Calibri (MS)"/>
                  <a:cs typeface="Calibri (MS)"/>
                  <a:sym typeface="Calibri (MS)"/>
                </a:rPr>
                <a:t> A paradigm where the flow of the program is determined by events such as user inputs, signal changes, or timers.</a:t>
              </a:r>
            </a:p>
            <a:p>
              <a:pPr algn="just" marL="431801" indent="-215900" lvl="1">
                <a:lnSpc>
                  <a:spcPts val="2400"/>
                </a:lnSpc>
                <a:buFont typeface="Arial"/>
                <a:buChar char="•"/>
              </a:pPr>
              <a:r>
                <a:rPr lang="en-US" b="true" sz="2000">
                  <a:solidFill>
                    <a:srgbClr val="000000"/>
                  </a:solidFill>
                  <a:latin typeface="Calibri (MS) Bold"/>
                  <a:ea typeface="Calibri (MS) Bold"/>
                  <a:cs typeface="Calibri (MS) Bold"/>
                  <a:sym typeface="Calibri (MS) Bold"/>
                </a:rPr>
                <a:t>Application in Project:</a:t>
              </a:r>
            </a:p>
            <a:p>
              <a:pPr algn="just" marL="863601" indent="-287867" lvl="2">
                <a:lnSpc>
                  <a:spcPts val="2400"/>
                </a:lnSpc>
                <a:buFont typeface="Arial"/>
                <a:buChar char="⚬"/>
              </a:pPr>
              <a:r>
                <a:rPr lang="en-US" sz="2000">
                  <a:solidFill>
                    <a:srgbClr val="000000"/>
                  </a:solidFill>
                  <a:latin typeface="Calibri (MS)"/>
                  <a:ea typeface="Calibri (MS)"/>
                  <a:cs typeface="Calibri (MS)"/>
                  <a:sym typeface="Calibri (MS)"/>
                </a:rPr>
                <a:t>Responds to simulation events like car arrivals, signal timeouts, and pedestrian requests.</a:t>
              </a:r>
            </a:p>
            <a:p>
              <a:pPr algn="just" marL="863601" indent="-287867" lvl="2">
                <a:lnSpc>
                  <a:spcPts val="2400"/>
                </a:lnSpc>
                <a:buFont typeface="Arial"/>
                <a:buChar char="⚬"/>
              </a:pPr>
              <a:r>
                <a:rPr lang="en-US" sz="2000">
                  <a:solidFill>
                    <a:srgbClr val="000000"/>
                  </a:solidFill>
                  <a:latin typeface="Calibri (MS)"/>
                  <a:ea typeface="Calibri (MS)"/>
                  <a:cs typeface="Calibri (MS)"/>
                  <a:sym typeface="Calibri (MS)"/>
                </a:rPr>
                <a:t>Pygame’s event loop handles user interactions and real-time updates to the GUI.</a:t>
              </a:r>
            </a:p>
            <a:p>
              <a:pPr algn="just" marL="431801" indent="-215900" lvl="1">
                <a:lnSpc>
                  <a:spcPts val="2400"/>
                </a:lnSpc>
                <a:buFont typeface="Arial"/>
                <a:buChar char="•"/>
              </a:pPr>
              <a:r>
                <a:rPr lang="en-US" b="true" sz="2000">
                  <a:solidFill>
                    <a:srgbClr val="000000"/>
                  </a:solidFill>
                  <a:latin typeface="Calibri (MS) Bold"/>
                  <a:ea typeface="Calibri (MS) Bold"/>
                  <a:cs typeface="Calibri (MS) Bold"/>
                  <a:sym typeface="Calibri (MS) Bold"/>
                </a:rPr>
                <a:t>Example:</a:t>
              </a:r>
            </a:p>
            <a:p>
              <a:pPr algn="just" marL="863601" indent="-287867" lvl="2">
                <a:lnSpc>
                  <a:spcPts val="2400"/>
                </a:lnSpc>
                <a:buFont typeface="Arial"/>
                <a:buChar char="⚬"/>
              </a:pPr>
              <a:r>
                <a:rPr lang="en-US" sz="2000">
                  <a:solidFill>
                    <a:srgbClr val="000000"/>
                  </a:solidFill>
                  <a:latin typeface="Calibri (MS)"/>
                  <a:ea typeface="Calibri (MS)"/>
                  <a:cs typeface="Calibri (MS)"/>
                  <a:sym typeface="Calibri (MS)"/>
                </a:rPr>
                <a:t>If a car enters a lane, the system adjusts traffic signal logic based on vehicle presence.</a:t>
              </a:r>
            </a:p>
            <a:p>
              <a:pPr algn="just">
                <a:lnSpc>
                  <a:spcPts val="2400"/>
                </a:lnSpc>
              </a:pPr>
            </a:p>
          </p:txBody>
        </p:sp>
      </p:grpSp>
      <p:sp>
        <p:nvSpPr>
          <p:cNvPr name="AutoShape 8" id="8"/>
          <p:cNvSpPr/>
          <p:nvPr/>
        </p:nvSpPr>
        <p:spPr>
          <a:xfrm>
            <a:off x="619125" y="1079295"/>
            <a:ext cx="8534400" cy="0"/>
          </a:xfrm>
          <a:prstGeom prst="line">
            <a:avLst/>
          </a:prstGeom>
          <a:ln cap="flat" w="38100">
            <a:solidFill>
              <a:srgbClr val="000000"/>
            </a:solidFill>
            <a:prstDash val="solid"/>
            <a:headEnd type="none" len="sm" w="sm"/>
            <a:tailEnd type="none" len="sm" w="sm"/>
          </a:ln>
        </p:spPr>
      </p:sp>
      <p:sp>
        <p:nvSpPr>
          <p:cNvPr name="TextBox 9" id="9"/>
          <p:cNvSpPr txBox="true"/>
          <p:nvPr/>
        </p:nvSpPr>
        <p:spPr>
          <a:xfrm rot="0">
            <a:off x="651342" y="1416917"/>
            <a:ext cx="8492658" cy="1240155"/>
          </a:xfrm>
          <a:prstGeom prst="rect">
            <a:avLst/>
          </a:prstGeom>
        </p:spPr>
        <p:txBody>
          <a:bodyPr anchor="t" rtlCol="false" tIns="0" lIns="0" bIns="0" rIns="0">
            <a:spAutoFit/>
          </a:bodyPr>
          <a:lstStyle/>
          <a:p>
            <a:pPr algn="just">
              <a:lnSpc>
                <a:spcPts val="2520"/>
              </a:lnSpc>
            </a:pPr>
            <a:r>
              <a:rPr lang="en-US" sz="1800">
                <a:solidFill>
                  <a:srgbClr val="000000"/>
                </a:solidFill>
                <a:latin typeface="Canva Sans"/>
                <a:ea typeface="Canva Sans"/>
                <a:cs typeface="Canva Sans"/>
                <a:sym typeface="Canva Sans"/>
              </a:rPr>
              <a:t>The Smart Traffic Management System is developed using multiple software paradigms that support modular, scalable, and real-time behavior. These paradigms ensure smooth interaction between components like traffic signals, vehicles, and pedestrian control systems.</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4967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12"/>
                </a:lnSpc>
              </a:pPr>
              <a:r>
                <a:rPr lang="en-US" sz="4093" b="true">
                  <a:solidFill>
                    <a:srgbClr val="000000"/>
                  </a:solidFill>
                  <a:latin typeface="Calibri (MS) Bold"/>
                  <a:ea typeface="Calibri (MS) Bold"/>
                  <a:cs typeface="Calibri (MS) Bold"/>
                  <a:sym typeface="Calibri (MS) Bold"/>
                </a:rPr>
                <a:t>Implementation - Paradigms</a:t>
              </a:r>
            </a:p>
          </p:txBody>
        </p:sp>
      </p:grpSp>
      <p:sp>
        <p:nvSpPr>
          <p:cNvPr name="TextBox 5" id="5"/>
          <p:cNvSpPr txBox="true"/>
          <p:nvPr/>
        </p:nvSpPr>
        <p:spPr>
          <a:xfrm rot="0">
            <a:off x="449670" y="1303060"/>
            <a:ext cx="8854260" cy="5788660"/>
          </a:xfrm>
          <a:prstGeom prst="rect">
            <a:avLst/>
          </a:prstGeom>
        </p:spPr>
        <p:txBody>
          <a:bodyPr anchor="t" rtlCol="false" tIns="0" lIns="0" bIns="0" rIns="0">
            <a:spAutoFit/>
          </a:bodyPr>
          <a:lstStyle/>
          <a:p>
            <a:pPr algn="l">
              <a:lnSpc>
                <a:spcPts val="2240"/>
              </a:lnSpc>
            </a:pPr>
            <a:r>
              <a:rPr lang="en-US" sz="1600" b="true">
                <a:solidFill>
                  <a:srgbClr val="000000"/>
                </a:solidFill>
                <a:latin typeface="Canva Sans Bold"/>
                <a:ea typeface="Canva Sans Bold"/>
                <a:cs typeface="Canva Sans Bold"/>
                <a:sym typeface="Canva Sans Bold"/>
              </a:rPr>
              <a:t>2. Concurrent Programming (Multithreading) :</a:t>
            </a:r>
          </a:p>
          <a:p>
            <a:pPr algn="just" marL="345443"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Definition:</a:t>
            </a:r>
            <a:r>
              <a:rPr lang="en-US" sz="1600">
                <a:solidFill>
                  <a:srgbClr val="000000"/>
                </a:solidFill>
                <a:latin typeface="Canva Sans"/>
                <a:ea typeface="Canva Sans"/>
                <a:cs typeface="Canva Sans"/>
                <a:sym typeface="Canva Sans"/>
              </a:rPr>
              <a:t> Enables multiple processes or functions to run simultaneously, improving responsiveness.</a:t>
            </a:r>
          </a:p>
          <a:p>
            <a:pPr algn="l" marL="345443"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Application in Project:</a:t>
            </a:r>
          </a:p>
          <a:p>
            <a:pPr algn="just" marL="690885" indent="-230295" lvl="2">
              <a:lnSpc>
                <a:spcPts val="2240"/>
              </a:lnSpc>
              <a:buFont typeface="Arial"/>
              <a:buChar char="⚬"/>
            </a:pPr>
            <a:r>
              <a:rPr lang="en-US" sz="1600">
                <a:solidFill>
                  <a:srgbClr val="000000"/>
                </a:solidFill>
                <a:latin typeface="Canva Sans"/>
                <a:ea typeface="Canva Sans"/>
                <a:cs typeface="Canva Sans"/>
                <a:sym typeface="Canva Sans"/>
              </a:rPr>
              <a:t>T</a:t>
            </a:r>
            <a:r>
              <a:rPr lang="en-US" sz="1600">
                <a:solidFill>
                  <a:srgbClr val="000000"/>
                </a:solidFill>
                <a:latin typeface="Canva Sans"/>
                <a:ea typeface="Canva Sans"/>
                <a:cs typeface="Canva Sans"/>
                <a:sym typeface="Canva Sans"/>
              </a:rPr>
              <a:t>hreading module is used to run vehicle movement, signal updates, and pedestrian timers in parallel.</a:t>
            </a:r>
          </a:p>
          <a:p>
            <a:pPr algn="just" marL="690885" indent="-230295" lvl="2">
              <a:lnSpc>
                <a:spcPts val="2240"/>
              </a:lnSpc>
              <a:buFont typeface="Arial"/>
              <a:buChar char="⚬"/>
            </a:pPr>
            <a:r>
              <a:rPr lang="en-US" sz="1600">
                <a:solidFill>
                  <a:srgbClr val="000000"/>
                </a:solidFill>
                <a:latin typeface="Canva Sans"/>
                <a:ea typeface="Canva Sans"/>
                <a:cs typeface="Canva Sans"/>
                <a:sym typeface="Canva Sans"/>
              </a:rPr>
              <a:t>Prevents blocking of visual updates during background computations.</a:t>
            </a:r>
          </a:p>
          <a:p>
            <a:pPr algn="l" marL="345443"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Example:</a:t>
            </a:r>
          </a:p>
          <a:p>
            <a:pPr algn="just" marL="690885" indent="-230295" lvl="2">
              <a:lnSpc>
                <a:spcPts val="2240"/>
              </a:lnSpc>
              <a:buFont typeface="Arial"/>
              <a:buChar char="⚬"/>
            </a:pPr>
            <a:r>
              <a:rPr lang="en-US" sz="1600">
                <a:solidFill>
                  <a:srgbClr val="000000"/>
                </a:solidFill>
                <a:latin typeface="Canva Sans"/>
                <a:ea typeface="Canva Sans"/>
                <a:cs typeface="Canva Sans"/>
                <a:sym typeface="Canva Sans"/>
              </a:rPr>
              <a:t>While one thread updates the traffic light, another manages ongoing car movement smoothly.</a:t>
            </a:r>
          </a:p>
          <a:p>
            <a:pPr algn="just">
              <a:lnSpc>
                <a:spcPts val="2240"/>
              </a:lnSpc>
            </a:pPr>
          </a:p>
          <a:p>
            <a:pPr algn="just">
              <a:lnSpc>
                <a:spcPts val="2240"/>
              </a:lnSpc>
            </a:pPr>
            <a:r>
              <a:rPr lang="en-US" sz="1600" b="true">
                <a:solidFill>
                  <a:srgbClr val="000000"/>
                </a:solidFill>
                <a:latin typeface="Canva Sans Bold"/>
                <a:ea typeface="Canva Sans Bold"/>
                <a:cs typeface="Canva Sans Bold"/>
                <a:sym typeface="Canva Sans Bold"/>
              </a:rPr>
              <a:t>3. Procedural Programming :</a:t>
            </a:r>
          </a:p>
          <a:p>
            <a:pPr algn="just" marL="345443"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Definition:</a:t>
            </a:r>
            <a:r>
              <a:rPr lang="en-US" sz="1600">
                <a:solidFill>
                  <a:srgbClr val="000000"/>
                </a:solidFill>
                <a:latin typeface="Canva Sans"/>
                <a:ea typeface="Canva Sans"/>
                <a:cs typeface="Canva Sans"/>
                <a:sym typeface="Canva Sans"/>
              </a:rPr>
              <a:t> A programming paradigm based on structured procedures or functions.</a:t>
            </a:r>
          </a:p>
          <a:p>
            <a:pPr algn="just" marL="345443"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Application in Project:</a:t>
            </a:r>
          </a:p>
          <a:p>
            <a:pPr algn="just" marL="690885" indent="-230295" lvl="2">
              <a:lnSpc>
                <a:spcPts val="2240"/>
              </a:lnSpc>
              <a:buFont typeface="Arial"/>
              <a:buChar char="⚬"/>
            </a:pPr>
            <a:r>
              <a:rPr lang="en-US" sz="1600">
                <a:solidFill>
                  <a:srgbClr val="000000"/>
                </a:solidFill>
                <a:latin typeface="Canva Sans"/>
                <a:ea typeface="Canva Sans"/>
                <a:cs typeface="Canva Sans"/>
                <a:sym typeface="Canva Sans"/>
              </a:rPr>
              <a:t>Organizes simulation logic into reusable functions like move_vehicles(), change_signals(), generate_cars().</a:t>
            </a:r>
          </a:p>
          <a:p>
            <a:pPr algn="just" marL="690885" indent="-230295" lvl="2">
              <a:lnSpc>
                <a:spcPts val="2240"/>
              </a:lnSpc>
              <a:buFont typeface="Arial"/>
              <a:buChar char="⚬"/>
            </a:pPr>
            <a:r>
              <a:rPr lang="en-US" sz="1600">
                <a:solidFill>
                  <a:srgbClr val="000000"/>
                </a:solidFill>
                <a:latin typeface="Canva Sans"/>
                <a:ea typeface="Canva Sans"/>
                <a:cs typeface="Canva Sans"/>
                <a:sym typeface="Canva Sans"/>
              </a:rPr>
              <a:t>Keeps the code readable and modular.</a:t>
            </a:r>
          </a:p>
          <a:p>
            <a:pPr algn="just" marL="345443"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Example:</a:t>
            </a:r>
          </a:p>
          <a:p>
            <a:pPr algn="just" marL="690885" indent="-230295" lvl="2">
              <a:lnSpc>
                <a:spcPts val="2240"/>
              </a:lnSpc>
              <a:buFont typeface="Arial"/>
              <a:buChar char="⚬"/>
            </a:pPr>
            <a:r>
              <a:rPr lang="en-US" sz="1600">
                <a:solidFill>
                  <a:srgbClr val="000000"/>
                </a:solidFill>
                <a:latin typeface="Canva Sans"/>
                <a:ea typeface="Canva Sans"/>
                <a:cs typeface="Canva Sans"/>
                <a:sym typeface="Canva Sans"/>
              </a:rPr>
              <a:t>A procedure handles the reset of the traffic light cycle after each simulation loop.</a:t>
            </a:r>
          </a:p>
          <a:p>
            <a:pPr algn="just">
              <a:lnSpc>
                <a:spcPts val="2240"/>
              </a:lnSpc>
            </a:pPr>
          </a:p>
          <a:p>
            <a:pPr algn="ctr">
              <a:lnSpc>
                <a:spcPts val="2240"/>
              </a:lnSpc>
            </a:pPr>
          </a:p>
        </p:txBody>
      </p:sp>
      <p:sp>
        <p:nvSpPr>
          <p:cNvPr name="AutoShape 6" id="6"/>
          <p:cNvSpPr/>
          <p:nvPr/>
        </p:nvSpPr>
        <p:spPr>
          <a:xfrm flipV="true">
            <a:off x="449670" y="1018962"/>
            <a:ext cx="885426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3152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12"/>
                </a:lnSpc>
              </a:pPr>
              <a:r>
                <a:rPr lang="en-US" sz="4093" b="true">
                  <a:solidFill>
                    <a:srgbClr val="000000"/>
                  </a:solidFill>
                  <a:latin typeface="Calibri (MS) Bold"/>
                  <a:ea typeface="Calibri (MS) Bold"/>
                  <a:cs typeface="Calibri (MS) Bold"/>
                  <a:sym typeface="Calibri (MS) Bold"/>
                </a:rPr>
                <a:t>Implementation - Paradigms</a:t>
              </a:r>
            </a:p>
          </p:txBody>
        </p:sp>
      </p:grpSp>
      <p:sp>
        <p:nvSpPr>
          <p:cNvPr name="AutoShape 5" id="5"/>
          <p:cNvSpPr/>
          <p:nvPr/>
        </p:nvSpPr>
        <p:spPr>
          <a:xfrm>
            <a:off x="497780" y="1219200"/>
            <a:ext cx="8758040" cy="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497780" y="1765935"/>
            <a:ext cx="8758040" cy="3754755"/>
          </a:xfrm>
          <a:prstGeom prst="rect">
            <a:avLst/>
          </a:prstGeom>
        </p:spPr>
        <p:txBody>
          <a:bodyPr anchor="t" rtlCol="false" tIns="0" lIns="0" bIns="0" rIns="0">
            <a:spAutoFit/>
          </a:bodyPr>
          <a:lstStyle/>
          <a:p>
            <a:pPr algn="l">
              <a:lnSpc>
                <a:spcPts val="2520"/>
              </a:lnSpc>
            </a:pPr>
            <a:r>
              <a:rPr lang="en-US" sz="1800" b="true">
                <a:solidFill>
                  <a:srgbClr val="000000"/>
                </a:solidFill>
                <a:latin typeface="Canva Sans Bold"/>
                <a:ea typeface="Canva Sans Bold"/>
                <a:cs typeface="Canva Sans Bold"/>
                <a:sym typeface="Canva Sans Bold"/>
              </a:rPr>
              <a:t>4. Simulation Paradigm :</a:t>
            </a:r>
          </a:p>
          <a:p>
            <a:pPr algn="just" marL="388620" indent="-194310" lvl="1">
              <a:lnSpc>
                <a:spcPts val="2520"/>
              </a:lnSpc>
              <a:buFont typeface="Arial"/>
              <a:buChar char="•"/>
            </a:pPr>
            <a:r>
              <a:rPr lang="en-US" b="true" sz="1800">
                <a:solidFill>
                  <a:srgbClr val="000000"/>
                </a:solidFill>
                <a:latin typeface="Canva Sans Bold"/>
                <a:ea typeface="Canva Sans Bold"/>
                <a:cs typeface="Canva Sans Bold"/>
                <a:sym typeface="Canva Sans Bold"/>
              </a:rPr>
              <a:t>Definition:</a:t>
            </a:r>
            <a:r>
              <a:rPr lang="en-US" sz="1800">
                <a:solidFill>
                  <a:srgbClr val="000000"/>
                </a:solidFill>
                <a:latin typeface="Canva Sans"/>
                <a:ea typeface="Canva Sans"/>
                <a:cs typeface="Canva Sans"/>
                <a:sym typeface="Canva Sans"/>
              </a:rPr>
              <a:t> A technique to imitate real-world processes over time using virtual models.</a:t>
            </a:r>
          </a:p>
          <a:p>
            <a:pPr algn="l" marL="388620" indent="-194310" lvl="1">
              <a:lnSpc>
                <a:spcPts val="2520"/>
              </a:lnSpc>
              <a:buFont typeface="Arial"/>
              <a:buChar char="•"/>
            </a:pPr>
            <a:r>
              <a:rPr lang="en-US" b="true" sz="1800">
                <a:solidFill>
                  <a:srgbClr val="000000"/>
                </a:solidFill>
                <a:latin typeface="Canva Sans Bold"/>
                <a:ea typeface="Canva Sans Bold"/>
                <a:cs typeface="Canva Sans Bold"/>
                <a:sym typeface="Canva Sans Bold"/>
              </a:rPr>
              <a:t>Application in Project:</a:t>
            </a:r>
          </a:p>
          <a:p>
            <a:pPr algn="just" marL="777240" indent="-259080" lvl="2">
              <a:lnSpc>
                <a:spcPts val="2520"/>
              </a:lnSpc>
              <a:buFont typeface="Arial"/>
              <a:buChar char="⚬"/>
            </a:pPr>
            <a:r>
              <a:rPr lang="en-US" sz="1800">
                <a:solidFill>
                  <a:srgbClr val="000000"/>
                </a:solidFill>
                <a:latin typeface="Canva Sans"/>
                <a:ea typeface="Canva Sans"/>
                <a:cs typeface="Canva Sans"/>
                <a:sym typeface="Canva Sans"/>
              </a:rPr>
              <a:t>Simulates vehicle movement, signal operation, and traffic congestion behavior.</a:t>
            </a:r>
          </a:p>
          <a:p>
            <a:pPr algn="just" marL="777240" indent="-259080" lvl="2">
              <a:lnSpc>
                <a:spcPts val="2520"/>
              </a:lnSpc>
              <a:buFont typeface="Arial"/>
              <a:buChar char="⚬"/>
            </a:pPr>
            <a:r>
              <a:rPr lang="en-US" sz="1800">
                <a:solidFill>
                  <a:srgbClr val="000000"/>
                </a:solidFill>
                <a:latin typeface="Canva Sans"/>
                <a:ea typeface="Canva Sans"/>
                <a:cs typeface="Canva Sans"/>
                <a:sym typeface="Canva Sans"/>
              </a:rPr>
              <a:t>Creates a testbed for analyzing the effect of adaptive signal timing in controlled environments.</a:t>
            </a:r>
          </a:p>
          <a:p>
            <a:pPr algn="just" marL="388620" indent="-194310" lvl="1">
              <a:lnSpc>
                <a:spcPts val="2520"/>
              </a:lnSpc>
              <a:buFont typeface="Arial"/>
              <a:buChar char="•"/>
            </a:pPr>
            <a:r>
              <a:rPr lang="en-US" b="true" sz="1800">
                <a:solidFill>
                  <a:srgbClr val="000000"/>
                </a:solidFill>
                <a:latin typeface="Canva Sans Bold"/>
                <a:ea typeface="Canva Sans Bold"/>
                <a:cs typeface="Canva Sans Bold"/>
                <a:sym typeface="Canva Sans Bold"/>
              </a:rPr>
              <a:t>Example:</a:t>
            </a:r>
          </a:p>
          <a:p>
            <a:pPr algn="just" marL="777240" indent="-259080" lvl="2">
              <a:lnSpc>
                <a:spcPts val="2520"/>
              </a:lnSpc>
              <a:buFont typeface="Arial"/>
              <a:buChar char="⚬"/>
            </a:pPr>
            <a:r>
              <a:rPr lang="en-US" sz="1800">
                <a:solidFill>
                  <a:srgbClr val="000000"/>
                </a:solidFill>
                <a:latin typeface="Canva Sans"/>
                <a:ea typeface="Canva Sans"/>
                <a:cs typeface="Canva Sans"/>
                <a:sym typeface="Canva Sans"/>
              </a:rPr>
              <a:t>The system models different traffic conditions (e.g., rush hour, light traffic) to test performance.</a:t>
            </a:r>
          </a:p>
          <a:p>
            <a:pPr algn="ctr">
              <a:lnSpc>
                <a:spcPts val="2520"/>
              </a:lnSpc>
            </a:pP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06191" y="-119585"/>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5040"/>
                </a:lnSpc>
              </a:pPr>
              <a:r>
                <a:rPr lang="en-US" sz="4200" b="true">
                  <a:solidFill>
                    <a:srgbClr val="000000"/>
                  </a:solidFill>
                  <a:latin typeface="Calibri (MS) Bold"/>
                  <a:ea typeface="Calibri (MS) Bold"/>
                  <a:cs typeface="Calibri (MS) Bold"/>
                  <a:sym typeface="Calibri (MS) Bold"/>
                </a:rPr>
                <a:t>Implementation - Algorithm</a:t>
              </a:r>
            </a:p>
          </p:txBody>
        </p:sp>
      </p:grpSp>
      <p:grpSp>
        <p:nvGrpSpPr>
          <p:cNvPr name="Group 5" id="5"/>
          <p:cNvGrpSpPr/>
          <p:nvPr/>
        </p:nvGrpSpPr>
        <p:grpSpPr>
          <a:xfrm rot="0">
            <a:off x="570601" y="1341120"/>
            <a:ext cx="8612397" cy="5808670"/>
            <a:chOff x="0" y="0"/>
            <a:chExt cx="11483197" cy="7744893"/>
          </a:xfrm>
        </p:grpSpPr>
        <p:sp>
          <p:nvSpPr>
            <p:cNvPr name="Freeform 6" id="6"/>
            <p:cNvSpPr/>
            <p:nvPr/>
          </p:nvSpPr>
          <p:spPr>
            <a:xfrm flipH="false" flipV="false" rot="0">
              <a:off x="0" y="0"/>
              <a:ext cx="11483196" cy="7744893"/>
            </a:xfrm>
            <a:custGeom>
              <a:avLst/>
              <a:gdLst/>
              <a:ahLst/>
              <a:cxnLst/>
              <a:rect r="r" b="b" t="t" l="l"/>
              <a:pathLst>
                <a:path h="7744893" w="11483196">
                  <a:moveTo>
                    <a:pt x="0" y="0"/>
                  </a:moveTo>
                  <a:lnTo>
                    <a:pt x="11483196" y="0"/>
                  </a:lnTo>
                  <a:lnTo>
                    <a:pt x="11483196" y="7744893"/>
                  </a:lnTo>
                  <a:lnTo>
                    <a:pt x="0" y="7744893"/>
                  </a:lnTo>
                  <a:close/>
                </a:path>
              </a:pathLst>
            </a:custGeom>
            <a:solidFill>
              <a:srgbClr val="000000">
                <a:alpha val="0"/>
              </a:srgbClr>
            </a:solidFill>
          </p:spPr>
        </p:sp>
        <p:sp>
          <p:nvSpPr>
            <p:cNvPr name="TextBox 7" id="7"/>
            <p:cNvSpPr txBox="true"/>
            <p:nvPr/>
          </p:nvSpPr>
          <p:spPr>
            <a:xfrm>
              <a:off x="0" y="-38100"/>
              <a:ext cx="11483197" cy="7782993"/>
            </a:xfrm>
            <a:prstGeom prst="rect">
              <a:avLst/>
            </a:prstGeom>
          </p:spPr>
          <p:txBody>
            <a:bodyPr anchor="t" rtlCol="false" tIns="0" lIns="0" bIns="0" rIns="0"/>
            <a:lstStyle/>
            <a:p>
              <a:pPr algn="l">
                <a:lnSpc>
                  <a:spcPts val="2280"/>
                </a:lnSpc>
              </a:pPr>
              <a:r>
                <a:rPr lang="en-US" sz="1900" b="true">
                  <a:solidFill>
                    <a:srgbClr val="000000"/>
                  </a:solidFill>
                  <a:latin typeface="Calibri (MS) Bold"/>
                  <a:ea typeface="Calibri (MS) Bold"/>
                  <a:cs typeface="Calibri (MS) Bold"/>
                  <a:sym typeface="Calibri (MS) Bold"/>
                </a:rPr>
                <a:t>STEP 1: Initialize Environment</a:t>
              </a:r>
            </a:p>
            <a:p>
              <a:pPr algn="l" marL="410214" indent="-205107" lvl="1">
                <a:lnSpc>
                  <a:spcPts val="2280"/>
                </a:lnSpc>
                <a:buFont typeface="Arial"/>
                <a:buChar char="•"/>
              </a:pPr>
              <a:r>
                <a:rPr lang="en-US" b="true" sz="1900">
                  <a:solidFill>
                    <a:srgbClr val="000000"/>
                  </a:solidFill>
                  <a:latin typeface="Calibri (MS) Bold"/>
                  <a:ea typeface="Calibri (MS) Bold"/>
                  <a:cs typeface="Calibri (MS) Bold"/>
                  <a:sym typeface="Calibri (MS) Bold"/>
                </a:rPr>
                <a:t>Import required modules:</a:t>
              </a:r>
              <a:r>
                <a:rPr lang="en-US" sz="1900">
                  <a:solidFill>
                    <a:srgbClr val="000000"/>
                  </a:solidFill>
                  <a:latin typeface="Calibri (MS)"/>
                  <a:ea typeface="Calibri (MS)"/>
                  <a:cs typeface="Calibri (MS)"/>
                  <a:sym typeface="Calibri (MS)"/>
                </a:rPr>
                <a:t> pygame, time, random, threading, and os.</a:t>
              </a:r>
            </a:p>
            <a:p>
              <a:pPr algn="l" marL="410214" indent="-205107" lvl="1">
                <a:lnSpc>
                  <a:spcPts val="2280"/>
                </a:lnSpc>
                <a:buFont typeface="Arial"/>
                <a:buChar char="•"/>
              </a:pPr>
              <a:r>
                <a:rPr lang="en-US" b="true" sz="1900">
                  <a:solidFill>
                    <a:srgbClr val="000000"/>
                  </a:solidFill>
                  <a:latin typeface="Calibri (MS) Bold"/>
                  <a:ea typeface="Calibri (MS) Bold"/>
                  <a:cs typeface="Calibri (MS) Bold"/>
                  <a:sym typeface="Calibri (MS) Bold"/>
                </a:rPr>
                <a:t>Set up pygame window:</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Define screen size (e.g., 800x600).</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Set title (e.g., “Smart Traffic Management System”).</a:t>
              </a:r>
            </a:p>
            <a:p>
              <a:pPr algn="l" marL="410214" indent="-205107" lvl="1">
                <a:lnSpc>
                  <a:spcPts val="2280"/>
                </a:lnSpc>
                <a:buFont typeface="Arial"/>
                <a:buChar char="•"/>
              </a:pPr>
              <a:r>
                <a:rPr lang="en-US" b="true" sz="1900">
                  <a:solidFill>
                    <a:srgbClr val="000000"/>
                  </a:solidFill>
                  <a:latin typeface="Calibri (MS) Bold"/>
                  <a:ea typeface="Calibri (MS) Bold"/>
                  <a:cs typeface="Calibri (MS) Bold"/>
                  <a:sym typeface="Calibri (MS) Bold"/>
                </a:rPr>
                <a:t>Create objects:</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Intersections and lanes.</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Vehicle and pedestrian classes.</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Traffic signal objects for each direction (North, South, East, West).</a:t>
              </a:r>
            </a:p>
            <a:p>
              <a:pPr algn="l" marL="410214" indent="-205107" lvl="1">
                <a:lnSpc>
                  <a:spcPts val="2280"/>
                </a:lnSpc>
                <a:buFont typeface="Arial"/>
                <a:buChar char="•"/>
              </a:pPr>
              <a:r>
                <a:rPr lang="en-US" b="true" sz="1900">
                  <a:solidFill>
                    <a:srgbClr val="000000"/>
                  </a:solidFill>
                  <a:latin typeface="Calibri (MS) Bold"/>
                  <a:ea typeface="Calibri (MS) Bold"/>
                  <a:cs typeface="Calibri (MS) Bold"/>
                  <a:sym typeface="Calibri (MS) Bold"/>
                </a:rPr>
                <a:t>Initialize default signal timing values:</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Green time = 15 sec, Yellow = 3 sec, Red = 18 sec.</a:t>
              </a:r>
            </a:p>
            <a:p>
              <a:pPr algn="l">
                <a:lnSpc>
                  <a:spcPts val="2280"/>
                </a:lnSpc>
              </a:pPr>
              <a:r>
                <a:rPr lang="en-US" sz="1900">
                  <a:solidFill>
                    <a:srgbClr val="000000"/>
                  </a:solidFill>
                  <a:latin typeface="Calibri (MS)"/>
                  <a:ea typeface="Calibri (MS)"/>
                  <a:cs typeface="Calibri (MS)"/>
                  <a:sym typeface="Calibri (MS)"/>
                </a:rPr>
                <a:t> </a:t>
              </a:r>
            </a:p>
            <a:p>
              <a:pPr algn="l">
                <a:lnSpc>
                  <a:spcPts val="2280"/>
                </a:lnSpc>
              </a:pPr>
              <a:r>
                <a:rPr lang="en-US" sz="1900" b="true">
                  <a:solidFill>
                    <a:srgbClr val="000000"/>
                  </a:solidFill>
                  <a:latin typeface="Calibri (MS) Bold"/>
                  <a:ea typeface="Calibri (MS) Bold"/>
                  <a:cs typeface="Calibri (MS) Bold"/>
                  <a:sym typeface="Calibri (MS) Bold"/>
                </a:rPr>
                <a:t>STEP 2: Simulate Traffic Inputs</a:t>
              </a:r>
            </a:p>
            <a:p>
              <a:pPr algn="l" marL="410214" indent="-205107" lvl="1">
                <a:lnSpc>
                  <a:spcPts val="2280"/>
                </a:lnSpc>
                <a:buFont typeface="Arial"/>
                <a:buChar char="•"/>
              </a:pPr>
              <a:r>
                <a:rPr lang="en-US" b="true" sz="1900">
                  <a:solidFill>
                    <a:srgbClr val="000000"/>
                  </a:solidFill>
                  <a:latin typeface="Calibri (MS) Bold"/>
                  <a:ea typeface="Calibri (MS) Bold"/>
                  <a:cs typeface="Calibri (MS) Bold"/>
                  <a:sym typeface="Calibri (MS) Bold"/>
                </a:rPr>
                <a:t>Randomly generate vehicles:</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Use random.randint() to decide how many vehicles enter each lane.</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Assign each vehicle a type (e.g., car, bike, bus) and direction.</a:t>
              </a:r>
            </a:p>
            <a:p>
              <a:pPr algn="l" marL="410214" indent="-205107" lvl="1">
                <a:lnSpc>
                  <a:spcPts val="2280"/>
                </a:lnSpc>
                <a:buFont typeface="Arial"/>
                <a:buChar char="•"/>
              </a:pPr>
              <a:r>
                <a:rPr lang="en-US" sz="1900">
                  <a:solidFill>
                    <a:srgbClr val="000000"/>
                  </a:solidFill>
                  <a:latin typeface="Calibri (MS)"/>
                  <a:ea typeface="Calibri (MS)"/>
                  <a:cs typeface="Calibri (MS)"/>
                  <a:sym typeface="Calibri (MS)"/>
                </a:rPr>
                <a:t>Add vehicles to respective lane queues.</a:t>
              </a:r>
            </a:p>
            <a:p>
              <a:pPr algn="l" marL="410214" indent="-205107" lvl="1">
                <a:lnSpc>
                  <a:spcPts val="2280"/>
                </a:lnSpc>
                <a:buFont typeface="Arial"/>
                <a:buChar char="•"/>
              </a:pPr>
              <a:r>
                <a:rPr lang="en-US" b="true" sz="1900">
                  <a:solidFill>
                    <a:srgbClr val="000000"/>
                  </a:solidFill>
                  <a:latin typeface="Calibri (MS) Bold"/>
                  <a:ea typeface="Calibri (MS) Bold"/>
                  <a:cs typeface="Calibri (MS) Bold"/>
                  <a:sym typeface="Calibri (MS) Bold"/>
                </a:rPr>
                <a:t>Spawn new vehicles periodically:</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Set a vehicle entry interval using time.sleep(random.uniform(0.5, 2)).</a:t>
              </a:r>
            </a:p>
            <a:p>
              <a:pPr algn="l">
                <a:lnSpc>
                  <a:spcPts val="2280"/>
                </a:lnSpc>
              </a:pPr>
            </a:p>
          </p:txBody>
        </p:sp>
      </p:grpSp>
      <p:sp>
        <p:nvSpPr>
          <p:cNvPr name="AutoShape 8" id="8"/>
          <p:cNvSpPr/>
          <p:nvPr/>
        </p:nvSpPr>
        <p:spPr>
          <a:xfrm>
            <a:off x="370700" y="1099615"/>
            <a:ext cx="9012199"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20"/>
                </a:lnSpc>
              </a:pPr>
              <a:r>
                <a:rPr lang="en-US" sz="4100" b="true">
                  <a:solidFill>
                    <a:srgbClr val="000000"/>
                  </a:solidFill>
                  <a:latin typeface="Calibri (MS) Bold"/>
                  <a:ea typeface="Calibri (MS) Bold"/>
                  <a:cs typeface="Calibri (MS) Bold"/>
                  <a:sym typeface="Calibri (MS) Bold"/>
                </a:rPr>
                <a:t>Implementation - Algorithm</a:t>
              </a:r>
            </a:p>
          </p:txBody>
        </p:sp>
      </p:grpSp>
      <p:sp>
        <p:nvSpPr>
          <p:cNvPr name="AutoShape 5" id="5"/>
          <p:cNvSpPr/>
          <p:nvPr/>
        </p:nvSpPr>
        <p:spPr>
          <a:xfrm>
            <a:off x="487680" y="1219200"/>
            <a:ext cx="8778240"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487680" y="1348569"/>
            <a:ext cx="8778240" cy="6194599"/>
            <a:chOff x="0" y="0"/>
            <a:chExt cx="11704320" cy="8259466"/>
          </a:xfrm>
        </p:grpSpPr>
        <p:sp>
          <p:nvSpPr>
            <p:cNvPr name="Freeform 7" id="7"/>
            <p:cNvSpPr/>
            <p:nvPr/>
          </p:nvSpPr>
          <p:spPr>
            <a:xfrm flipH="false" flipV="false" rot="0">
              <a:off x="0" y="0"/>
              <a:ext cx="11704320" cy="8259466"/>
            </a:xfrm>
            <a:custGeom>
              <a:avLst/>
              <a:gdLst/>
              <a:ahLst/>
              <a:cxnLst/>
              <a:rect r="r" b="b" t="t" l="l"/>
              <a:pathLst>
                <a:path h="8259466" w="11704320">
                  <a:moveTo>
                    <a:pt x="0" y="0"/>
                  </a:moveTo>
                  <a:lnTo>
                    <a:pt x="11704320" y="0"/>
                  </a:lnTo>
                  <a:lnTo>
                    <a:pt x="11704320" y="8259466"/>
                  </a:lnTo>
                  <a:lnTo>
                    <a:pt x="0" y="8259466"/>
                  </a:lnTo>
                  <a:close/>
                </a:path>
              </a:pathLst>
            </a:custGeom>
            <a:solidFill>
              <a:srgbClr val="000000">
                <a:alpha val="0"/>
              </a:srgbClr>
            </a:solidFill>
          </p:spPr>
        </p:sp>
        <p:sp>
          <p:nvSpPr>
            <p:cNvPr name="TextBox 8" id="8"/>
            <p:cNvSpPr txBox="true"/>
            <p:nvPr/>
          </p:nvSpPr>
          <p:spPr>
            <a:xfrm>
              <a:off x="0" y="-38100"/>
              <a:ext cx="11704320" cy="8297566"/>
            </a:xfrm>
            <a:prstGeom prst="rect">
              <a:avLst/>
            </a:prstGeom>
          </p:spPr>
          <p:txBody>
            <a:bodyPr anchor="t" rtlCol="false" tIns="0" lIns="0" bIns="0" rIns="0"/>
            <a:lstStyle/>
            <a:p>
              <a:pPr algn="l">
                <a:lnSpc>
                  <a:spcPts val="2400"/>
                </a:lnSpc>
              </a:pPr>
              <a:r>
                <a:rPr lang="en-US" sz="2000" b="true">
                  <a:solidFill>
                    <a:srgbClr val="000000"/>
                  </a:solidFill>
                  <a:latin typeface="Calibri (MS) Bold"/>
                  <a:ea typeface="Calibri (MS) Bold"/>
                  <a:cs typeface="Calibri (MS) Bold"/>
                  <a:sym typeface="Calibri (MS) Bold"/>
                </a:rPr>
                <a:t>STEP 3: Launch Threads for Real-Time Behavior</a:t>
              </a:r>
            </a:p>
            <a:p>
              <a:pPr algn="l" marL="431804" indent="-215902" lvl="1">
                <a:lnSpc>
                  <a:spcPts val="2400"/>
                </a:lnSpc>
                <a:buFont typeface="Arial"/>
                <a:buChar char="•"/>
              </a:pPr>
              <a:r>
                <a:rPr lang="en-US" b="true" sz="2000">
                  <a:solidFill>
                    <a:srgbClr val="000000"/>
                  </a:solidFill>
                  <a:latin typeface="Calibri (MS) Bold"/>
                  <a:ea typeface="Calibri (MS) Bold"/>
                  <a:cs typeface="Calibri (MS) Bold"/>
                  <a:sym typeface="Calibri (MS) Bold"/>
                </a:rPr>
                <a:t>Start a thread for each of the following:</a:t>
              </a:r>
            </a:p>
            <a:p>
              <a:pPr algn="l" marL="863608" indent="-287869" lvl="2">
                <a:lnSpc>
                  <a:spcPts val="2400"/>
                </a:lnSpc>
                <a:buFont typeface="Arial"/>
                <a:buChar char="⚬"/>
              </a:pPr>
              <a:r>
                <a:rPr lang="en-US" sz="2000">
                  <a:solidFill>
                    <a:srgbClr val="000000"/>
                  </a:solidFill>
                  <a:latin typeface="Calibri (MS)"/>
                  <a:ea typeface="Calibri (MS)"/>
                  <a:cs typeface="Calibri (MS)"/>
                  <a:sym typeface="Calibri (MS)"/>
                </a:rPr>
                <a:t>Traffic light signal control.</a:t>
              </a:r>
            </a:p>
            <a:p>
              <a:pPr algn="l" marL="863608" indent="-287869" lvl="2">
                <a:lnSpc>
                  <a:spcPts val="2400"/>
                </a:lnSpc>
                <a:buFont typeface="Arial"/>
                <a:buChar char="⚬"/>
              </a:pPr>
              <a:r>
                <a:rPr lang="en-US" sz="2000">
                  <a:solidFill>
                    <a:srgbClr val="000000"/>
                  </a:solidFill>
                  <a:latin typeface="Calibri (MS)"/>
                  <a:ea typeface="Calibri (MS)"/>
                  <a:cs typeface="Calibri (MS)"/>
                  <a:sym typeface="Calibri (MS)"/>
                </a:rPr>
                <a:t>Vehicle movement update.</a:t>
              </a:r>
            </a:p>
            <a:p>
              <a:pPr algn="l" marL="863608" indent="-287869" lvl="2">
                <a:lnSpc>
                  <a:spcPts val="2400"/>
                </a:lnSpc>
                <a:buFont typeface="Arial"/>
                <a:buChar char="⚬"/>
              </a:pPr>
              <a:r>
                <a:rPr lang="en-US" sz="2000">
                  <a:solidFill>
                    <a:srgbClr val="000000"/>
                  </a:solidFill>
                  <a:latin typeface="Calibri (MS)"/>
                  <a:ea typeface="Calibri (MS)"/>
                  <a:cs typeface="Calibri (MS)"/>
                  <a:sym typeface="Calibri (MS)"/>
                </a:rPr>
                <a:t>Pedestrian request handling (optional).</a:t>
              </a:r>
            </a:p>
            <a:p>
              <a:pPr algn="l" marL="431804" indent="-215902" lvl="1">
                <a:lnSpc>
                  <a:spcPts val="2400"/>
                </a:lnSpc>
                <a:buFont typeface="Arial"/>
                <a:buChar char="•"/>
              </a:pPr>
              <a:r>
                <a:rPr lang="en-US" b="true" sz="2000">
                  <a:solidFill>
                    <a:srgbClr val="000000"/>
                  </a:solidFill>
                  <a:latin typeface="Calibri (MS) Bold"/>
                  <a:ea typeface="Calibri (MS) Bold"/>
                  <a:cs typeface="Calibri (MS) Bold"/>
                  <a:sym typeface="Calibri (MS) Bold"/>
                </a:rPr>
                <a:t>Purpose: </a:t>
              </a:r>
              <a:r>
                <a:rPr lang="en-US" sz="2000">
                  <a:solidFill>
                    <a:srgbClr val="000000"/>
                  </a:solidFill>
                  <a:latin typeface="Calibri (MS)"/>
                  <a:ea typeface="Calibri (MS)"/>
                  <a:cs typeface="Calibri (MS)"/>
                  <a:sym typeface="Calibri (MS)"/>
                </a:rPr>
                <a:t>Avoid blocking — each task runs independently.</a:t>
              </a:r>
            </a:p>
            <a:p>
              <a:pPr algn="l">
                <a:lnSpc>
                  <a:spcPts val="2400"/>
                </a:lnSpc>
              </a:pPr>
            </a:p>
            <a:p>
              <a:pPr algn="l">
                <a:lnSpc>
                  <a:spcPts val="2400"/>
                </a:lnSpc>
              </a:pPr>
              <a:r>
                <a:rPr lang="en-US" sz="2000" b="true">
                  <a:solidFill>
                    <a:srgbClr val="000000"/>
                  </a:solidFill>
                  <a:latin typeface="Calibri (MS) Bold"/>
                  <a:ea typeface="Calibri (MS) Bold"/>
                  <a:cs typeface="Calibri (MS) Bold"/>
                  <a:sym typeface="Calibri (MS) Bold"/>
                </a:rPr>
                <a:t>STEP 4: Monitor Vehicle Density</a:t>
              </a:r>
            </a:p>
            <a:p>
              <a:pPr algn="l" marL="431804" indent="-215902" lvl="1">
                <a:lnSpc>
                  <a:spcPts val="2400"/>
                </a:lnSpc>
                <a:buFont typeface="Arial"/>
                <a:buChar char="•"/>
              </a:pPr>
              <a:r>
                <a:rPr lang="en-US" b="true" sz="2000">
                  <a:solidFill>
                    <a:srgbClr val="000000"/>
                  </a:solidFill>
                  <a:latin typeface="Calibri (MS) Bold"/>
                  <a:ea typeface="Calibri (MS) Bold"/>
                  <a:cs typeface="Calibri (MS) Bold"/>
                  <a:sym typeface="Calibri (MS) Bold"/>
                </a:rPr>
                <a:t>For each lane:</a:t>
              </a:r>
            </a:p>
            <a:p>
              <a:pPr algn="l" marL="863608" indent="-287869" lvl="2">
                <a:lnSpc>
                  <a:spcPts val="2400"/>
                </a:lnSpc>
                <a:buFont typeface="Arial"/>
                <a:buChar char="⚬"/>
              </a:pPr>
              <a:r>
                <a:rPr lang="en-US" sz="2000">
                  <a:solidFill>
                    <a:srgbClr val="000000"/>
                  </a:solidFill>
                  <a:latin typeface="Calibri (MS)"/>
                  <a:ea typeface="Calibri (MS)"/>
                  <a:cs typeface="Calibri (MS)"/>
                  <a:sym typeface="Calibri (MS)"/>
                </a:rPr>
                <a:t>Count number of vehicles waiting (len(lane_queue)).</a:t>
              </a:r>
            </a:p>
            <a:p>
              <a:pPr algn="l" marL="863608" indent="-287869" lvl="2">
                <a:lnSpc>
                  <a:spcPts val="2400"/>
                </a:lnSpc>
                <a:buFont typeface="Arial"/>
                <a:buChar char="⚬"/>
              </a:pPr>
              <a:r>
                <a:rPr lang="en-US" sz="2000">
                  <a:solidFill>
                    <a:srgbClr val="000000"/>
                  </a:solidFill>
                  <a:latin typeface="Calibri (MS)"/>
                  <a:ea typeface="Calibri (MS)"/>
                  <a:cs typeface="Calibri (MS)"/>
                  <a:sym typeface="Calibri (MS)"/>
                </a:rPr>
                <a:t>Track how long the first vehicle has been waiting.</a:t>
              </a:r>
            </a:p>
            <a:p>
              <a:pPr algn="l" marL="431804" indent="-215902" lvl="1">
                <a:lnSpc>
                  <a:spcPts val="2400"/>
                </a:lnSpc>
                <a:buFont typeface="Arial"/>
                <a:buChar char="•"/>
              </a:pPr>
              <a:r>
                <a:rPr lang="en-US" sz="2000">
                  <a:solidFill>
                    <a:srgbClr val="000000"/>
                  </a:solidFill>
                  <a:latin typeface="Calibri (MS)"/>
                  <a:ea typeface="Calibri (MS)"/>
                  <a:cs typeface="Calibri (MS)"/>
                  <a:sym typeface="Calibri (MS)"/>
                </a:rPr>
                <a:t>Calculate total density for each direction.</a:t>
              </a:r>
            </a:p>
            <a:p>
              <a:pPr algn="l" marL="431804" indent="-215902" lvl="1">
                <a:lnSpc>
                  <a:spcPts val="2400"/>
                </a:lnSpc>
                <a:buFont typeface="Arial"/>
                <a:buChar char="•"/>
              </a:pPr>
              <a:r>
                <a:rPr lang="en-US" sz="2000">
                  <a:solidFill>
                    <a:srgbClr val="000000"/>
                  </a:solidFill>
                  <a:latin typeface="Calibri (MS)"/>
                  <a:ea typeface="Calibri (MS)"/>
                  <a:cs typeface="Calibri (MS)"/>
                  <a:sym typeface="Calibri (MS)"/>
                </a:rPr>
                <a:t>Store the density data for use in signal control.</a:t>
              </a:r>
            </a:p>
            <a:p>
              <a:pPr algn="l">
                <a:lnSpc>
                  <a:spcPts val="2400"/>
                </a:lnSpc>
              </a:pPr>
            </a:p>
            <a:p>
              <a:pPr algn="l">
                <a:lnSpc>
                  <a:spcPts val="2400"/>
                </a:lnSpc>
              </a:pPr>
              <a:r>
                <a:rPr lang="en-US" sz="2000" b="true">
                  <a:solidFill>
                    <a:srgbClr val="000000"/>
                  </a:solidFill>
                  <a:latin typeface="Calibri (MS) Bold"/>
                  <a:ea typeface="Calibri (MS) Bold"/>
                  <a:cs typeface="Calibri (MS) Bold"/>
                  <a:sym typeface="Calibri (MS) Bold"/>
                </a:rPr>
                <a:t>STEP 5: Adaptive Signal Timing</a:t>
              </a:r>
            </a:p>
            <a:p>
              <a:pPr algn="l" marL="431804" indent="-215902" lvl="1">
                <a:lnSpc>
                  <a:spcPts val="2400"/>
                </a:lnSpc>
                <a:buFont typeface="Arial"/>
                <a:buChar char="•"/>
              </a:pPr>
              <a:r>
                <a:rPr lang="en-US" b="true" sz="2000">
                  <a:solidFill>
                    <a:srgbClr val="000000"/>
                  </a:solidFill>
                  <a:latin typeface="Calibri (MS) Bold"/>
                  <a:ea typeface="Calibri (MS) Bold"/>
                  <a:cs typeface="Calibri (MS) Bold"/>
                  <a:sym typeface="Calibri (MS) Bold"/>
                </a:rPr>
                <a:t>Decide which direction to prioritize:</a:t>
              </a:r>
            </a:p>
            <a:p>
              <a:pPr algn="l" marL="863608" indent="-287869" lvl="2">
                <a:lnSpc>
                  <a:spcPts val="2400"/>
                </a:lnSpc>
                <a:buFont typeface="Arial"/>
                <a:buChar char="⚬"/>
              </a:pPr>
              <a:r>
                <a:rPr lang="en-US" sz="2000">
                  <a:solidFill>
                    <a:srgbClr val="000000"/>
                  </a:solidFill>
                  <a:latin typeface="Calibri (MS)"/>
                  <a:ea typeface="Calibri (MS)"/>
                  <a:cs typeface="Calibri (MS)"/>
                  <a:sym typeface="Calibri (MS)"/>
                </a:rPr>
                <a:t>Compare lane densities.</a:t>
              </a:r>
            </a:p>
            <a:p>
              <a:pPr algn="l" marL="863608" indent="-287869" lvl="2">
                <a:lnSpc>
                  <a:spcPts val="2400"/>
                </a:lnSpc>
                <a:buFont typeface="Arial"/>
                <a:buChar char="⚬"/>
              </a:pPr>
              <a:r>
                <a:rPr lang="en-US" sz="2000">
                  <a:solidFill>
                    <a:srgbClr val="000000"/>
                  </a:solidFill>
                  <a:latin typeface="Calibri (MS)"/>
                  <a:ea typeface="Calibri (MS)"/>
                  <a:cs typeface="Calibri (MS)"/>
                  <a:sym typeface="Calibri (MS)"/>
                </a:rPr>
                <a:t>Assign longer green time to the lane with the most vehicles.</a:t>
              </a:r>
            </a:p>
            <a:p>
              <a:pPr algn="l">
                <a:lnSpc>
                  <a:spcPts val="2400"/>
                </a:lnSpc>
              </a:pPr>
            </a:p>
            <a:p>
              <a:pPr algn="l">
                <a:lnSpc>
                  <a:spcPts val="2400"/>
                </a:lnSpc>
              </a:pPr>
            </a:p>
          </p:txBody>
        </p:sp>
      </p:gr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20"/>
                </a:lnSpc>
              </a:pPr>
              <a:r>
                <a:rPr lang="en-US" sz="4100" b="true">
                  <a:solidFill>
                    <a:srgbClr val="000000"/>
                  </a:solidFill>
                  <a:latin typeface="Calibri (MS) Bold"/>
                  <a:ea typeface="Calibri (MS) Bold"/>
                  <a:cs typeface="Calibri (MS) Bold"/>
                  <a:sym typeface="Calibri (MS) Bold"/>
                </a:rPr>
                <a:t>Implementation - Algorithm</a:t>
              </a:r>
            </a:p>
          </p:txBody>
        </p:sp>
      </p:grpSp>
      <p:grpSp>
        <p:nvGrpSpPr>
          <p:cNvPr name="Group 5" id="5"/>
          <p:cNvGrpSpPr/>
          <p:nvPr/>
        </p:nvGrpSpPr>
        <p:grpSpPr>
          <a:xfrm rot="0">
            <a:off x="570601" y="1219200"/>
            <a:ext cx="8612397" cy="6665920"/>
            <a:chOff x="0" y="0"/>
            <a:chExt cx="11483197" cy="8887893"/>
          </a:xfrm>
        </p:grpSpPr>
        <p:sp>
          <p:nvSpPr>
            <p:cNvPr name="Freeform 6" id="6"/>
            <p:cNvSpPr/>
            <p:nvPr/>
          </p:nvSpPr>
          <p:spPr>
            <a:xfrm flipH="false" flipV="false" rot="0">
              <a:off x="0" y="0"/>
              <a:ext cx="11483196" cy="8887893"/>
            </a:xfrm>
            <a:custGeom>
              <a:avLst/>
              <a:gdLst/>
              <a:ahLst/>
              <a:cxnLst/>
              <a:rect r="r" b="b" t="t" l="l"/>
              <a:pathLst>
                <a:path h="8887893" w="11483196">
                  <a:moveTo>
                    <a:pt x="0" y="0"/>
                  </a:moveTo>
                  <a:lnTo>
                    <a:pt x="11483196" y="0"/>
                  </a:lnTo>
                  <a:lnTo>
                    <a:pt x="11483196" y="8887893"/>
                  </a:lnTo>
                  <a:lnTo>
                    <a:pt x="0" y="8887893"/>
                  </a:lnTo>
                  <a:close/>
                </a:path>
              </a:pathLst>
            </a:custGeom>
            <a:solidFill>
              <a:srgbClr val="000000">
                <a:alpha val="0"/>
              </a:srgbClr>
            </a:solidFill>
          </p:spPr>
        </p:sp>
        <p:sp>
          <p:nvSpPr>
            <p:cNvPr name="TextBox 7" id="7"/>
            <p:cNvSpPr txBox="true"/>
            <p:nvPr/>
          </p:nvSpPr>
          <p:spPr>
            <a:xfrm>
              <a:off x="0" y="-38100"/>
              <a:ext cx="11483197" cy="8925993"/>
            </a:xfrm>
            <a:prstGeom prst="rect">
              <a:avLst/>
            </a:prstGeom>
          </p:spPr>
          <p:txBody>
            <a:bodyPr anchor="t" rtlCol="false" tIns="0" lIns="0" bIns="0" rIns="0"/>
            <a:lstStyle/>
            <a:p>
              <a:pPr algn="l">
                <a:lnSpc>
                  <a:spcPts val="2280"/>
                </a:lnSpc>
              </a:pPr>
              <a:r>
                <a:rPr lang="en-US" sz="1900" b="true">
                  <a:solidFill>
                    <a:srgbClr val="000000"/>
                  </a:solidFill>
                  <a:latin typeface="Calibri (MS) Bold"/>
                  <a:ea typeface="Calibri (MS) Bold"/>
                  <a:cs typeface="Calibri (MS) Bold"/>
                  <a:sym typeface="Calibri (MS) Bold"/>
                </a:rPr>
                <a:t>Signal logic:</a:t>
              </a:r>
            </a:p>
            <a:p>
              <a:pPr algn="l" marL="410214" indent="-205107" lvl="1">
                <a:lnSpc>
                  <a:spcPts val="2280"/>
                </a:lnSpc>
                <a:buFont typeface="Arial"/>
                <a:buChar char="•"/>
              </a:pPr>
              <a:r>
                <a:rPr lang="en-US" b="true" sz="1900">
                  <a:solidFill>
                    <a:srgbClr val="000000"/>
                  </a:solidFill>
                  <a:latin typeface="Calibri (MS) Bold"/>
                  <a:ea typeface="Calibri (MS) Bold"/>
                  <a:cs typeface="Calibri (MS) Bold"/>
                  <a:sym typeface="Calibri (MS) Bold"/>
                </a:rPr>
                <a:t>If density is high:</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green_time = 20 sec</a:t>
              </a:r>
            </a:p>
            <a:p>
              <a:pPr algn="l" marL="410214" indent="-205107" lvl="1">
                <a:lnSpc>
                  <a:spcPts val="2280"/>
                </a:lnSpc>
                <a:buFont typeface="Arial"/>
                <a:buChar char="•"/>
              </a:pPr>
              <a:r>
                <a:rPr lang="en-US" b="true" sz="1900">
                  <a:solidFill>
                    <a:srgbClr val="000000"/>
                  </a:solidFill>
                  <a:latin typeface="Calibri (MS) Bold"/>
                  <a:ea typeface="Calibri (MS) Bold"/>
                  <a:cs typeface="Calibri (MS) Bold"/>
                  <a:sym typeface="Calibri (MS) Bold"/>
                </a:rPr>
                <a:t>If density is moderate:</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green_time = 15 sec</a:t>
              </a:r>
            </a:p>
            <a:p>
              <a:pPr algn="l" marL="410214" indent="-205107" lvl="1">
                <a:lnSpc>
                  <a:spcPts val="2280"/>
                </a:lnSpc>
                <a:buFont typeface="Arial"/>
                <a:buChar char="•"/>
              </a:pPr>
              <a:r>
                <a:rPr lang="en-US" b="true" sz="1900">
                  <a:solidFill>
                    <a:srgbClr val="000000"/>
                  </a:solidFill>
                  <a:latin typeface="Calibri (MS) Bold"/>
                  <a:ea typeface="Calibri (MS) Bold"/>
                  <a:cs typeface="Calibri (MS) Bold"/>
                  <a:sym typeface="Calibri (MS) Bold"/>
                </a:rPr>
                <a:t>If density is low or zero:</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green_time = 10 sec</a:t>
              </a:r>
            </a:p>
            <a:p>
              <a:pPr algn="l">
                <a:lnSpc>
                  <a:spcPts val="2280"/>
                </a:lnSpc>
              </a:pPr>
              <a:r>
                <a:rPr lang="en-US" sz="1900" b="true">
                  <a:solidFill>
                    <a:srgbClr val="000000"/>
                  </a:solidFill>
                  <a:latin typeface="Calibri (MS) Bold"/>
                  <a:ea typeface="Calibri (MS) Bold"/>
                  <a:cs typeface="Calibri (MS) Bold"/>
                  <a:sym typeface="Calibri (MS) Bold"/>
                </a:rPr>
                <a:t>Apply signal changes:</a:t>
              </a:r>
            </a:p>
            <a:p>
              <a:pPr algn="l" marL="410214" indent="-205107" lvl="1">
                <a:lnSpc>
                  <a:spcPts val="2280"/>
                </a:lnSpc>
                <a:buFont typeface="Arial"/>
                <a:buChar char="•"/>
              </a:pPr>
              <a:r>
                <a:rPr lang="en-US" sz="1900">
                  <a:solidFill>
                    <a:srgbClr val="000000"/>
                  </a:solidFill>
                  <a:latin typeface="Calibri (MS)"/>
                  <a:ea typeface="Calibri (MS)"/>
                  <a:cs typeface="Calibri (MS)"/>
                  <a:sym typeface="Calibri (MS)"/>
                </a:rPr>
                <a:t>Turn one direction green, others red.</a:t>
              </a:r>
            </a:p>
            <a:p>
              <a:pPr algn="l" marL="410214" indent="-205107" lvl="1">
                <a:lnSpc>
                  <a:spcPts val="2280"/>
                </a:lnSpc>
                <a:buFont typeface="Arial"/>
                <a:buChar char="•"/>
              </a:pPr>
              <a:r>
                <a:rPr lang="en-US" sz="1900">
                  <a:solidFill>
                    <a:srgbClr val="000000"/>
                  </a:solidFill>
                  <a:latin typeface="Calibri (MS)"/>
                  <a:ea typeface="Calibri (MS)"/>
                  <a:cs typeface="Calibri (MS)"/>
                  <a:sym typeface="Calibri (MS)"/>
                </a:rPr>
                <a:t>After green, switch to yellow, then red.</a:t>
              </a:r>
            </a:p>
            <a:p>
              <a:pPr algn="l" marL="410214" indent="-205107" lvl="1">
                <a:lnSpc>
                  <a:spcPts val="2280"/>
                </a:lnSpc>
                <a:buFont typeface="Arial"/>
                <a:buChar char="•"/>
              </a:pPr>
              <a:r>
                <a:rPr lang="en-US" sz="1900">
                  <a:solidFill>
                    <a:srgbClr val="000000"/>
                  </a:solidFill>
                  <a:latin typeface="Calibri (MS)"/>
                  <a:ea typeface="Calibri (MS)"/>
                  <a:cs typeface="Calibri (MS)"/>
                  <a:sym typeface="Calibri (MS)"/>
                </a:rPr>
                <a:t>Use time.sleep() to maintain timing intervals.</a:t>
              </a:r>
            </a:p>
            <a:p>
              <a:pPr algn="l">
                <a:lnSpc>
                  <a:spcPts val="2280"/>
                </a:lnSpc>
              </a:pPr>
            </a:p>
            <a:p>
              <a:pPr algn="l">
                <a:lnSpc>
                  <a:spcPts val="2280"/>
                </a:lnSpc>
              </a:pPr>
              <a:r>
                <a:rPr lang="en-US" sz="1900" b="true">
                  <a:solidFill>
                    <a:srgbClr val="000000"/>
                  </a:solidFill>
                  <a:latin typeface="Calibri (MS) Bold"/>
                  <a:ea typeface="Calibri (MS) Bold"/>
                  <a:cs typeface="Calibri (MS) Bold"/>
                  <a:sym typeface="Calibri (MS) Bold"/>
                </a:rPr>
                <a:t>STEP 6: Vehicle Movement</a:t>
              </a:r>
            </a:p>
            <a:p>
              <a:pPr algn="l" marL="410214" indent="-205107" lvl="1">
                <a:lnSpc>
                  <a:spcPts val="2280"/>
                </a:lnSpc>
                <a:buFont typeface="Arial"/>
                <a:buChar char="•"/>
              </a:pPr>
              <a:r>
                <a:rPr lang="en-US" b="true" sz="1900">
                  <a:solidFill>
                    <a:srgbClr val="000000"/>
                  </a:solidFill>
                  <a:latin typeface="Calibri (MS) Bold"/>
                  <a:ea typeface="Calibri (MS) Bold"/>
                  <a:cs typeface="Calibri (MS) Bold"/>
                  <a:sym typeface="Calibri (MS) Bold"/>
                </a:rPr>
                <a:t>In the vehicle thread:</a:t>
              </a:r>
            </a:p>
            <a:p>
              <a:pPr algn="l" marL="820429" indent="-273476" lvl="2">
                <a:lnSpc>
                  <a:spcPts val="2280"/>
                </a:lnSpc>
                <a:buFont typeface="Arial"/>
                <a:buChar char="⚬"/>
              </a:pPr>
              <a:r>
                <a:rPr lang="en-US" b="true" sz="1900">
                  <a:solidFill>
                    <a:srgbClr val="000000"/>
                  </a:solidFill>
                  <a:latin typeface="Calibri (MS) Bold"/>
                  <a:ea typeface="Calibri (MS) Bold"/>
                  <a:cs typeface="Calibri (MS) Bold"/>
                  <a:sym typeface="Calibri (MS) Bold"/>
                </a:rPr>
                <a:t>If signal is green:</a:t>
              </a:r>
            </a:p>
            <a:p>
              <a:pPr algn="l" marL="1230643" indent="-307661" lvl="3">
                <a:lnSpc>
                  <a:spcPts val="2280"/>
                </a:lnSpc>
                <a:buFont typeface="Arial"/>
                <a:buChar char="￭"/>
              </a:pPr>
              <a:r>
                <a:rPr lang="en-US" sz="1900">
                  <a:solidFill>
                    <a:srgbClr val="000000"/>
                  </a:solidFill>
                  <a:latin typeface="Calibri (MS)"/>
                  <a:ea typeface="Calibri (MS)"/>
                  <a:cs typeface="Calibri (MS)"/>
                  <a:sym typeface="Calibri (MS)"/>
                </a:rPr>
                <a:t>Move vehicle forward pixel-by-pixel in the correct direction.</a:t>
              </a:r>
            </a:p>
            <a:p>
              <a:pPr algn="l" marL="820429" indent="-273476" lvl="2">
                <a:lnSpc>
                  <a:spcPts val="2280"/>
                </a:lnSpc>
                <a:buFont typeface="Arial"/>
                <a:buChar char="⚬"/>
              </a:pPr>
              <a:r>
                <a:rPr lang="en-US" b="true" sz="1900">
                  <a:solidFill>
                    <a:srgbClr val="000000"/>
                  </a:solidFill>
                  <a:latin typeface="Calibri (MS) Bold"/>
                  <a:ea typeface="Calibri (MS) Bold"/>
                  <a:cs typeface="Calibri (MS) Bold"/>
                  <a:sym typeface="Calibri (MS) Bold"/>
                </a:rPr>
                <a:t>If red or yellow:</a:t>
              </a:r>
            </a:p>
            <a:p>
              <a:pPr algn="l" marL="1230643" indent="-307661" lvl="3">
                <a:lnSpc>
                  <a:spcPts val="2280"/>
                </a:lnSpc>
                <a:buFont typeface="Arial"/>
                <a:buChar char="￭"/>
              </a:pPr>
              <a:r>
                <a:rPr lang="en-US" sz="1900">
                  <a:solidFill>
                    <a:srgbClr val="000000"/>
                  </a:solidFill>
                  <a:latin typeface="Calibri (MS)"/>
                  <a:ea typeface="Calibri (MS)"/>
                  <a:cs typeface="Calibri (MS)"/>
                  <a:sym typeface="Calibri (MS)"/>
                </a:rPr>
                <a:t>Stop vehicle before the stop line.</a:t>
              </a:r>
            </a:p>
            <a:p>
              <a:pPr algn="l" marL="820429" indent="-273476" lvl="2">
                <a:lnSpc>
                  <a:spcPts val="2280"/>
                </a:lnSpc>
                <a:buFont typeface="Arial"/>
                <a:buChar char="⚬"/>
              </a:pPr>
              <a:r>
                <a:rPr lang="en-US" sz="1900">
                  <a:solidFill>
                    <a:srgbClr val="000000"/>
                  </a:solidFill>
                  <a:latin typeface="Calibri (MS)"/>
                  <a:ea typeface="Calibri (MS)"/>
                  <a:cs typeface="Calibri (MS)"/>
                  <a:sym typeface="Calibri (MS)"/>
                </a:rPr>
                <a:t>Remove vehicle once it exits the screen (i.e., reaches the end of the road).</a:t>
              </a:r>
            </a:p>
            <a:p>
              <a:pPr algn="l" marL="410214" indent="-205107" lvl="1">
                <a:lnSpc>
                  <a:spcPts val="2280"/>
                </a:lnSpc>
                <a:buFont typeface="Arial"/>
                <a:buChar char="•"/>
              </a:pPr>
              <a:r>
                <a:rPr lang="en-US" sz="1900">
                  <a:solidFill>
                    <a:srgbClr val="000000"/>
                  </a:solidFill>
                  <a:latin typeface="Calibri (MS)"/>
                  <a:ea typeface="Calibri (MS)"/>
                  <a:cs typeface="Calibri (MS)"/>
                  <a:sym typeface="Calibri (MS)"/>
                </a:rPr>
                <a:t>Use pygame.Rect to detect collisions or spacing between vehicles.</a:t>
              </a:r>
            </a:p>
            <a:p>
              <a:pPr algn="l">
                <a:lnSpc>
                  <a:spcPts val="2280"/>
                </a:lnSpc>
              </a:pPr>
            </a:p>
            <a:p>
              <a:pPr algn="l">
                <a:lnSpc>
                  <a:spcPts val="2280"/>
                </a:lnSpc>
              </a:pPr>
            </a:p>
            <a:p>
              <a:pPr algn="l">
                <a:lnSpc>
                  <a:spcPts val="2280"/>
                </a:lnSpc>
              </a:pPr>
            </a:p>
          </p:txBody>
        </p:sp>
      </p:grpSp>
      <p:sp>
        <p:nvSpPr>
          <p:cNvPr name="AutoShape 8" id="8"/>
          <p:cNvSpPr/>
          <p:nvPr/>
        </p:nvSpPr>
        <p:spPr>
          <a:xfrm>
            <a:off x="487680" y="1019175"/>
            <a:ext cx="877824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20"/>
                </a:lnSpc>
              </a:pPr>
              <a:r>
                <a:rPr lang="en-US" sz="4100" b="true">
                  <a:solidFill>
                    <a:srgbClr val="000000"/>
                  </a:solidFill>
                  <a:latin typeface="Calibri (MS) Bold"/>
                  <a:ea typeface="Calibri (MS) Bold"/>
                  <a:cs typeface="Calibri (MS) Bold"/>
                  <a:sym typeface="Calibri (MS) Bold"/>
                </a:rPr>
                <a:t>Implementation - Algorithm</a:t>
              </a:r>
            </a:p>
          </p:txBody>
        </p:sp>
      </p:grpSp>
      <p:sp>
        <p:nvSpPr>
          <p:cNvPr name="AutoShape 5" id="5"/>
          <p:cNvSpPr/>
          <p:nvPr/>
        </p:nvSpPr>
        <p:spPr>
          <a:xfrm>
            <a:off x="487680" y="959359"/>
            <a:ext cx="8778240"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570601" y="1118071"/>
            <a:ext cx="8612397" cy="7556340"/>
            <a:chOff x="0" y="0"/>
            <a:chExt cx="11483197" cy="10075120"/>
          </a:xfrm>
        </p:grpSpPr>
        <p:sp>
          <p:nvSpPr>
            <p:cNvPr name="Freeform 7" id="7"/>
            <p:cNvSpPr/>
            <p:nvPr/>
          </p:nvSpPr>
          <p:spPr>
            <a:xfrm flipH="false" flipV="false" rot="0">
              <a:off x="0" y="0"/>
              <a:ext cx="11483196" cy="10075120"/>
            </a:xfrm>
            <a:custGeom>
              <a:avLst/>
              <a:gdLst/>
              <a:ahLst/>
              <a:cxnLst/>
              <a:rect r="r" b="b" t="t" l="l"/>
              <a:pathLst>
                <a:path h="10075120" w="11483196">
                  <a:moveTo>
                    <a:pt x="0" y="0"/>
                  </a:moveTo>
                  <a:lnTo>
                    <a:pt x="11483196" y="0"/>
                  </a:lnTo>
                  <a:lnTo>
                    <a:pt x="11483196" y="10075120"/>
                  </a:lnTo>
                  <a:lnTo>
                    <a:pt x="0" y="10075120"/>
                  </a:lnTo>
                  <a:close/>
                </a:path>
              </a:pathLst>
            </a:custGeom>
            <a:solidFill>
              <a:srgbClr val="000000">
                <a:alpha val="0"/>
              </a:srgbClr>
            </a:solidFill>
          </p:spPr>
        </p:sp>
        <p:sp>
          <p:nvSpPr>
            <p:cNvPr name="TextBox 8" id="8"/>
            <p:cNvSpPr txBox="true"/>
            <p:nvPr/>
          </p:nvSpPr>
          <p:spPr>
            <a:xfrm>
              <a:off x="0" y="-38100"/>
              <a:ext cx="11483197" cy="10113220"/>
            </a:xfrm>
            <a:prstGeom prst="rect">
              <a:avLst/>
            </a:prstGeom>
          </p:spPr>
          <p:txBody>
            <a:bodyPr anchor="t" rtlCol="false" tIns="0" lIns="0" bIns="0" rIns="0"/>
            <a:lstStyle/>
            <a:p>
              <a:pPr algn="l">
                <a:lnSpc>
                  <a:spcPts val="2160"/>
                </a:lnSpc>
              </a:pPr>
              <a:r>
                <a:rPr lang="en-US" sz="1800" b="true">
                  <a:solidFill>
                    <a:srgbClr val="000000"/>
                  </a:solidFill>
                  <a:latin typeface="Calibri (MS) Bold"/>
                  <a:ea typeface="Calibri (MS) Bold"/>
                  <a:cs typeface="Calibri (MS) Bold"/>
                  <a:sym typeface="Calibri (MS) Bold"/>
                </a:rPr>
                <a:t>STEP 7: Update Simulation Display</a:t>
              </a:r>
            </a:p>
            <a:p>
              <a:pPr algn="l" marL="388625" indent="-194312" lvl="1">
                <a:lnSpc>
                  <a:spcPts val="2160"/>
                </a:lnSpc>
                <a:buFont typeface="Arial"/>
                <a:buChar char="•"/>
              </a:pPr>
              <a:r>
                <a:rPr lang="en-US" b="true" sz="1800">
                  <a:solidFill>
                    <a:srgbClr val="000000"/>
                  </a:solidFill>
                  <a:latin typeface="Calibri (MS) Bold"/>
                  <a:ea typeface="Calibri (MS) Bold"/>
                  <a:cs typeface="Calibri (MS) Bold"/>
                  <a:sym typeface="Calibri (MS) Bold"/>
                </a:rPr>
                <a:t>Continuously clear and redraw:</a:t>
              </a:r>
            </a:p>
            <a:p>
              <a:pPr algn="l" marL="777250" indent="-259083" lvl="2">
                <a:lnSpc>
                  <a:spcPts val="2160"/>
                </a:lnSpc>
                <a:buFont typeface="Arial"/>
                <a:buChar char="⚬"/>
              </a:pPr>
              <a:r>
                <a:rPr lang="en-US" sz="1800">
                  <a:solidFill>
                    <a:srgbClr val="000000"/>
                  </a:solidFill>
                  <a:latin typeface="Calibri (MS)"/>
                  <a:ea typeface="Calibri (MS)"/>
                  <a:cs typeface="Calibri (MS)"/>
                  <a:sym typeface="Calibri (MS)"/>
                </a:rPr>
                <a:t>Road layout</a:t>
              </a:r>
            </a:p>
            <a:p>
              <a:pPr algn="l" marL="777250" indent="-259083" lvl="2">
                <a:lnSpc>
                  <a:spcPts val="2160"/>
                </a:lnSpc>
                <a:buFont typeface="Arial"/>
                <a:buChar char="⚬"/>
              </a:pPr>
              <a:r>
                <a:rPr lang="en-US" sz="1800">
                  <a:solidFill>
                    <a:srgbClr val="000000"/>
                  </a:solidFill>
                  <a:latin typeface="Calibri (MS)"/>
                  <a:ea typeface="Calibri (MS)"/>
                  <a:cs typeface="Calibri (MS)"/>
                  <a:sym typeface="Calibri (MS)"/>
                </a:rPr>
                <a:t>Traffic lights (with updated colors)</a:t>
              </a:r>
            </a:p>
            <a:p>
              <a:pPr algn="l" marL="777250" indent="-259083" lvl="2">
                <a:lnSpc>
                  <a:spcPts val="2160"/>
                </a:lnSpc>
                <a:buFont typeface="Arial"/>
                <a:buChar char="⚬"/>
              </a:pPr>
              <a:r>
                <a:rPr lang="en-US" sz="1800">
                  <a:solidFill>
                    <a:srgbClr val="000000"/>
                  </a:solidFill>
                  <a:latin typeface="Calibri (MS)"/>
                  <a:ea typeface="Calibri (MS)"/>
                  <a:cs typeface="Calibri (MS)"/>
                  <a:sym typeface="Calibri (MS)"/>
                </a:rPr>
                <a:t>Moving vehicles</a:t>
              </a:r>
            </a:p>
            <a:p>
              <a:pPr algn="l" marL="777250" indent="-259083" lvl="2">
                <a:lnSpc>
                  <a:spcPts val="2160"/>
                </a:lnSpc>
                <a:buFont typeface="Arial"/>
                <a:buChar char="⚬"/>
              </a:pPr>
              <a:r>
                <a:rPr lang="en-US" sz="1800">
                  <a:solidFill>
                    <a:srgbClr val="000000"/>
                  </a:solidFill>
                  <a:latin typeface="Calibri (MS)"/>
                  <a:ea typeface="Calibri (MS)"/>
                  <a:cs typeface="Calibri (MS)"/>
                  <a:sym typeface="Calibri (MS)"/>
                </a:rPr>
                <a:t>Pedestrians (if any)</a:t>
              </a:r>
            </a:p>
            <a:p>
              <a:pPr algn="l" marL="388625" indent="-194312" lvl="1">
                <a:lnSpc>
                  <a:spcPts val="2160"/>
                </a:lnSpc>
                <a:buFont typeface="Arial"/>
                <a:buChar char="•"/>
              </a:pPr>
              <a:r>
                <a:rPr lang="en-US" sz="1800">
                  <a:solidFill>
                    <a:srgbClr val="000000"/>
                  </a:solidFill>
                  <a:latin typeface="Calibri (MS)"/>
                  <a:ea typeface="Calibri (MS)"/>
                  <a:cs typeface="Calibri (MS)"/>
                  <a:sym typeface="Calibri (MS)"/>
                </a:rPr>
                <a:t>Use pygame.display.update() after every frame render.</a:t>
              </a:r>
            </a:p>
            <a:p>
              <a:pPr algn="l" marL="388625" indent="-194312" lvl="1">
                <a:lnSpc>
                  <a:spcPts val="2160"/>
                </a:lnSpc>
                <a:buFont typeface="Arial"/>
                <a:buChar char="•"/>
              </a:pPr>
              <a:r>
                <a:rPr lang="en-US" sz="1800">
                  <a:solidFill>
                    <a:srgbClr val="000000"/>
                  </a:solidFill>
                  <a:latin typeface="Calibri (MS)"/>
                  <a:ea typeface="Calibri (MS)"/>
                  <a:cs typeface="Calibri (MS)"/>
                  <a:sym typeface="Calibri (MS)"/>
                </a:rPr>
                <a:t>Maintain a fixed FPS using pygame.time.Clock().tick(60).</a:t>
              </a:r>
            </a:p>
            <a:p>
              <a:pPr algn="l">
                <a:lnSpc>
                  <a:spcPts val="2160"/>
                </a:lnSpc>
              </a:pPr>
            </a:p>
            <a:p>
              <a:pPr algn="l">
                <a:lnSpc>
                  <a:spcPts val="2160"/>
                </a:lnSpc>
              </a:pPr>
              <a:r>
                <a:rPr lang="en-US" sz="1800" b="true">
                  <a:solidFill>
                    <a:srgbClr val="000000"/>
                  </a:solidFill>
                  <a:latin typeface="Calibri (MS) Bold"/>
                  <a:ea typeface="Calibri (MS) Bold"/>
                  <a:cs typeface="Calibri (MS) Bold"/>
                  <a:sym typeface="Calibri (MS) Bold"/>
                </a:rPr>
                <a:t>STEP 8: Handle Pedestrian Crossing (Optional Enhancement)</a:t>
              </a:r>
            </a:p>
            <a:p>
              <a:pPr algn="l" marL="388625" indent="-194312" lvl="1">
                <a:lnSpc>
                  <a:spcPts val="2160"/>
                </a:lnSpc>
                <a:buFont typeface="Arial"/>
                <a:buChar char="•"/>
              </a:pPr>
              <a:r>
                <a:rPr lang="en-US" sz="1800">
                  <a:solidFill>
                    <a:srgbClr val="000000"/>
                  </a:solidFill>
                  <a:latin typeface="Calibri (MS)"/>
                  <a:ea typeface="Calibri (MS)"/>
                  <a:cs typeface="Calibri (MS)"/>
                  <a:sym typeface="Calibri (MS)"/>
                </a:rPr>
                <a:t>Allow pedestrian to press a simulated button.</a:t>
              </a:r>
            </a:p>
            <a:p>
              <a:pPr algn="l" marL="388625" indent="-194312" lvl="1">
                <a:lnSpc>
                  <a:spcPts val="2160"/>
                </a:lnSpc>
                <a:buFont typeface="Arial"/>
                <a:buChar char="•"/>
              </a:pPr>
              <a:r>
                <a:rPr lang="en-US" sz="1800">
                  <a:solidFill>
                    <a:srgbClr val="000000"/>
                  </a:solidFill>
                  <a:latin typeface="Calibri (MS)"/>
                  <a:ea typeface="Calibri (MS)"/>
                  <a:cs typeface="Calibri (MS)"/>
                  <a:sym typeface="Calibri (MS)"/>
                </a:rPr>
                <a:t>Add a short “pedestrian walk” phase after a green signal.</a:t>
              </a:r>
            </a:p>
            <a:p>
              <a:pPr algn="l" marL="388625" indent="-194312" lvl="1">
                <a:lnSpc>
                  <a:spcPts val="2160"/>
                </a:lnSpc>
                <a:buFont typeface="Arial"/>
                <a:buChar char="•"/>
              </a:pPr>
              <a:r>
                <a:rPr lang="en-US" sz="1800">
                  <a:solidFill>
                    <a:srgbClr val="000000"/>
                  </a:solidFill>
                  <a:latin typeface="Calibri (MS)"/>
                  <a:ea typeface="Calibri (MS)"/>
                  <a:cs typeface="Calibri (MS)"/>
                  <a:sym typeface="Calibri (MS)"/>
                </a:rPr>
                <a:t>Stop all vehicles during this period.</a:t>
              </a:r>
            </a:p>
            <a:p>
              <a:pPr algn="l">
                <a:lnSpc>
                  <a:spcPts val="2160"/>
                </a:lnSpc>
              </a:pPr>
            </a:p>
            <a:p>
              <a:pPr algn="l">
                <a:lnSpc>
                  <a:spcPts val="2160"/>
                </a:lnSpc>
              </a:pPr>
              <a:r>
                <a:rPr lang="en-US" sz="1800" b="true">
                  <a:solidFill>
                    <a:srgbClr val="000000"/>
                  </a:solidFill>
                  <a:latin typeface="Calibri (MS) Bold"/>
                  <a:ea typeface="Calibri (MS) Bold"/>
                  <a:cs typeface="Calibri (MS) Bold"/>
                  <a:sym typeface="Calibri (MS) Bold"/>
                </a:rPr>
                <a:t>STEP 9: Repeat Simulation Loop</a:t>
              </a:r>
            </a:p>
            <a:p>
              <a:pPr algn="l" marL="388625" indent="-194312" lvl="1">
                <a:lnSpc>
                  <a:spcPts val="2160"/>
                </a:lnSpc>
                <a:buFont typeface="Arial"/>
                <a:buChar char="•"/>
              </a:pPr>
              <a:r>
                <a:rPr lang="en-US" sz="1800">
                  <a:solidFill>
                    <a:srgbClr val="000000"/>
                  </a:solidFill>
                  <a:latin typeface="Calibri (MS)"/>
                  <a:ea typeface="Calibri (MS)"/>
                  <a:cs typeface="Calibri (MS)"/>
                  <a:sym typeface="Calibri (MS)"/>
                </a:rPr>
                <a:t>Loop steps 2 to 8 continuously while simulation is running.</a:t>
              </a:r>
            </a:p>
            <a:p>
              <a:pPr algn="l" marL="388625" indent="-194312" lvl="1">
                <a:lnSpc>
                  <a:spcPts val="2160"/>
                </a:lnSpc>
                <a:buFont typeface="Arial"/>
                <a:buChar char="•"/>
              </a:pPr>
              <a:r>
                <a:rPr lang="en-US" sz="1800">
                  <a:solidFill>
                    <a:srgbClr val="000000"/>
                  </a:solidFill>
                  <a:latin typeface="Calibri (MS)"/>
                  <a:ea typeface="Calibri (MS)"/>
                  <a:cs typeface="Calibri (MS)"/>
                  <a:sym typeface="Calibri (MS)"/>
                </a:rPr>
                <a:t>Update signal priorities in each cycle.</a:t>
              </a:r>
            </a:p>
            <a:p>
              <a:pPr algn="l" marL="388625" indent="-194312" lvl="1">
                <a:lnSpc>
                  <a:spcPts val="2160"/>
                </a:lnSpc>
                <a:buFont typeface="Arial"/>
                <a:buChar char="•"/>
              </a:pPr>
              <a:r>
                <a:rPr lang="en-US" sz="1800">
                  <a:solidFill>
                    <a:srgbClr val="000000"/>
                  </a:solidFill>
                  <a:latin typeface="Calibri (MS)"/>
                  <a:ea typeface="Calibri (MS)"/>
                  <a:cs typeface="Calibri (MS)"/>
                  <a:sym typeface="Calibri (MS)"/>
                </a:rPr>
                <a:t>Continue simulating real-time behavior and traffic dynamics.</a:t>
              </a:r>
            </a:p>
            <a:p>
              <a:pPr algn="l">
                <a:lnSpc>
                  <a:spcPts val="2160"/>
                </a:lnSpc>
              </a:pPr>
            </a:p>
            <a:p>
              <a:pPr algn="l">
                <a:lnSpc>
                  <a:spcPts val="2160"/>
                </a:lnSpc>
              </a:pPr>
              <a:r>
                <a:rPr lang="en-US" sz="1800" b="true">
                  <a:solidFill>
                    <a:srgbClr val="000000"/>
                  </a:solidFill>
                  <a:latin typeface="Calibri (MS) Bold"/>
                  <a:ea typeface="Calibri (MS) Bold"/>
                  <a:cs typeface="Calibri (MS) Bold"/>
                  <a:sym typeface="Calibri (MS) Bold"/>
                </a:rPr>
                <a:t>STEP 10: Exit Condition</a:t>
              </a:r>
            </a:p>
            <a:p>
              <a:pPr algn="l" marL="388625" indent="-194312" lvl="1">
                <a:lnSpc>
                  <a:spcPts val="2160"/>
                </a:lnSpc>
                <a:buFont typeface="Arial"/>
                <a:buChar char="•"/>
              </a:pPr>
              <a:r>
                <a:rPr lang="en-US" sz="1800">
                  <a:solidFill>
                    <a:srgbClr val="000000"/>
                  </a:solidFill>
                  <a:latin typeface="Calibri (MS)"/>
                  <a:ea typeface="Calibri (MS)"/>
                  <a:cs typeface="Calibri (MS)"/>
                  <a:sym typeface="Calibri (MS)"/>
                </a:rPr>
                <a:t>Allow user to close the simulation using pygame.QUIT.</a:t>
              </a:r>
            </a:p>
            <a:p>
              <a:pPr algn="l" marL="388625" indent="-194312" lvl="1">
                <a:lnSpc>
                  <a:spcPts val="2160"/>
                </a:lnSpc>
                <a:buFont typeface="Arial"/>
                <a:buChar char="•"/>
              </a:pPr>
              <a:r>
                <a:rPr lang="en-US" sz="1800">
                  <a:solidFill>
                    <a:srgbClr val="000000"/>
                  </a:solidFill>
                  <a:latin typeface="Calibri (MS)"/>
                  <a:ea typeface="Calibri (MS)"/>
                  <a:cs typeface="Calibri (MS)"/>
                  <a:sym typeface="Calibri (MS)"/>
                </a:rPr>
                <a:t>Clean up resources and exit all threads.</a:t>
              </a:r>
            </a:p>
            <a:p>
              <a:pPr algn="l">
                <a:lnSpc>
                  <a:spcPts val="2160"/>
                </a:lnSpc>
              </a:pPr>
            </a:p>
            <a:p>
              <a:pPr algn="l">
                <a:lnSpc>
                  <a:spcPts val="2160"/>
                </a:lnSpc>
              </a:pPr>
            </a:p>
            <a:p>
              <a:pPr algn="l">
                <a:lnSpc>
                  <a:spcPts val="2160"/>
                </a:lnSpc>
              </a:pPr>
            </a:p>
            <a:p>
              <a:pPr algn="l">
                <a:lnSpc>
                  <a:spcPts val="2160"/>
                </a:lnSpc>
              </a:pPr>
            </a:p>
            <a:p>
              <a:pPr algn="l">
                <a:lnSpc>
                  <a:spcPts val="2160"/>
                </a:lnSpc>
              </a:pPr>
            </a:p>
            <a:p>
              <a:pPr algn="l">
                <a:lnSpc>
                  <a:spcPts val="2160"/>
                </a:lnSpc>
              </a:pPr>
            </a:p>
          </p:txBody>
        </p:sp>
      </p:gr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79867"/>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76200"/>
              <a:ext cx="11704320" cy="1701800"/>
            </a:xfrm>
            <a:prstGeom prst="rect">
              <a:avLst/>
            </a:prstGeom>
          </p:spPr>
          <p:txBody>
            <a:bodyPr anchor="ctr" rtlCol="false" tIns="0" lIns="0" bIns="0" rIns="0"/>
            <a:lstStyle/>
            <a:p>
              <a:pPr algn="ctr">
                <a:lnSpc>
                  <a:spcPts val="4800"/>
                </a:lnSpc>
              </a:pPr>
              <a:r>
                <a:rPr lang="en-US" sz="4000" b="true">
                  <a:solidFill>
                    <a:srgbClr val="000000"/>
                  </a:solidFill>
                  <a:latin typeface="Calibri (MS) Bold"/>
                  <a:ea typeface="Calibri (MS) Bold"/>
                  <a:cs typeface="Calibri (MS) Bold"/>
                  <a:sym typeface="Calibri (MS) Bold"/>
                </a:rPr>
                <a:t>Implementation - Pseudocode</a:t>
              </a:r>
            </a:p>
          </p:txBody>
        </p:sp>
      </p:grpSp>
      <p:grpSp>
        <p:nvGrpSpPr>
          <p:cNvPr name="Group 5" id="5"/>
          <p:cNvGrpSpPr/>
          <p:nvPr/>
        </p:nvGrpSpPr>
        <p:grpSpPr>
          <a:xfrm rot="0">
            <a:off x="603107" y="1219200"/>
            <a:ext cx="9265920" cy="5956139"/>
            <a:chOff x="0" y="0"/>
            <a:chExt cx="12354560" cy="7941518"/>
          </a:xfrm>
        </p:grpSpPr>
        <p:sp>
          <p:nvSpPr>
            <p:cNvPr name="Freeform 6" id="6"/>
            <p:cNvSpPr/>
            <p:nvPr/>
          </p:nvSpPr>
          <p:spPr>
            <a:xfrm flipH="false" flipV="false" rot="0">
              <a:off x="0" y="0"/>
              <a:ext cx="12354560" cy="7941518"/>
            </a:xfrm>
            <a:custGeom>
              <a:avLst/>
              <a:gdLst/>
              <a:ahLst/>
              <a:cxnLst/>
              <a:rect r="r" b="b" t="t" l="l"/>
              <a:pathLst>
                <a:path h="7941518" w="12354560">
                  <a:moveTo>
                    <a:pt x="0" y="0"/>
                  </a:moveTo>
                  <a:lnTo>
                    <a:pt x="12354560" y="0"/>
                  </a:lnTo>
                  <a:lnTo>
                    <a:pt x="12354560" y="7941518"/>
                  </a:lnTo>
                  <a:lnTo>
                    <a:pt x="0" y="7941518"/>
                  </a:lnTo>
                  <a:close/>
                </a:path>
              </a:pathLst>
            </a:custGeom>
            <a:solidFill>
              <a:srgbClr val="000000">
                <a:alpha val="0"/>
              </a:srgbClr>
            </a:solidFill>
          </p:spPr>
        </p:sp>
        <p:sp>
          <p:nvSpPr>
            <p:cNvPr name="TextBox 7" id="7"/>
            <p:cNvSpPr txBox="true"/>
            <p:nvPr/>
          </p:nvSpPr>
          <p:spPr>
            <a:xfrm>
              <a:off x="0" y="-38100"/>
              <a:ext cx="12354560" cy="7979618"/>
            </a:xfrm>
            <a:prstGeom prst="rect">
              <a:avLst/>
            </a:prstGeom>
          </p:spPr>
          <p:txBody>
            <a:bodyPr anchor="t" rtlCol="false" tIns="0" lIns="0" bIns="0" rIns="0"/>
            <a:lstStyle/>
            <a:p>
              <a:pPr algn="l">
                <a:lnSpc>
                  <a:spcPts val="2160"/>
                </a:lnSpc>
              </a:pPr>
              <a:r>
                <a:rPr lang="en-US" sz="1800">
                  <a:solidFill>
                    <a:srgbClr val="000000"/>
                  </a:solidFill>
                  <a:latin typeface="Calibri (MS)"/>
                  <a:ea typeface="Calibri (MS)"/>
                  <a:cs typeface="Calibri (MS)"/>
                  <a:sym typeface="Calibri (MS)"/>
                </a:rPr>
                <a:t>BEGIN</a:t>
              </a:r>
            </a:p>
            <a:p>
              <a:pPr algn="l">
                <a:lnSpc>
                  <a:spcPts val="2160"/>
                </a:lnSpc>
              </a:pPr>
            </a:p>
            <a:p>
              <a:pPr algn="l">
                <a:lnSpc>
                  <a:spcPts val="2160"/>
                </a:lnSpc>
              </a:pPr>
              <a:r>
                <a:rPr lang="en-US" sz="1800">
                  <a:solidFill>
                    <a:srgbClr val="000000"/>
                  </a:solidFill>
                  <a:latin typeface="Calibri (MS)"/>
                  <a:ea typeface="Calibri (MS)"/>
                  <a:cs typeface="Calibri (MS)"/>
                  <a:sym typeface="Calibri (MS)"/>
                </a:rPr>
                <a:t>IMPORT necessary modules:</a:t>
              </a:r>
            </a:p>
            <a:p>
              <a:pPr algn="l">
                <a:lnSpc>
                  <a:spcPts val="2160"/>
                </a:lnSpc>
              </a:pPr>
              <a:r>
                <a:rPr lang="en-US" sz="1800">
                  <a:solidFill>
                    <a:srgbClr val="000000"/>
                  </a:solidFill>
                  <a:latin typeface="Calibri (MS)"/>
                  <a:ea typeface="Calibri (MS)"/>
                  <a:cs typeface="Calibri (MS)"/>
                  <a:sym typeface="Calibri (MS)"/>
                </a:rPr>
                <a:t>    pygame, time, threading, random, os</a:t>
              </a:r>
            </a:p>
            <a:p>
              <a:pPr algn="l">
                <a:lnSpc>
                  <a:spcPts val="2160"/>
                </a:lnSpc>
              </a:pPr>
            </a:p>
            <a:p>
              <a:pPr algn="l">
                <a:lnSpc>
                  <a:spcPts val="2160"/>
                </a:lnSpc>
              </a:pPr>
              <a:r>
                <a:rPr lang="en-US" sz="1800">
                  <a:solidFill>
                    <a:srgbClr val="000000"/>
                  </a:solidFill>
                  <a:latin typeface="Calibri (MS)"/>
                  <a:ea typeface="Calibri (MS)"/>
                  <a:cs typeface="Calibri (MS)"/>
                  <a:sym typeface="Calibri (MS)"/>
                </a:rPr>
                <a:t>INITIALIZE simulation window using pygame</a:t>
              </a:r>
            </a:p>
            <a:p>
              <a:pPr algn="l">
                <a:lnSpc>
                  <a:spcPts val="2160"/>
                </a:lnSpc>
              </a:pPr>
              <a:r>
                <a:rPr lang="en-US" sz="1800">
                  <a:solidFill>
                    <a:srgbClr val="000000"/>
                  </a:solidFill>
                  <a:latin typeface="Calibri (MS)"/>
                  <a:ea typeface="Calibri (MS)"/>
                  <a:cs typeface="Calibri (MS)"/>
                  <a:sym typeface="Calibri (MS)"/>
                </a:rPr>
                <a:t>INITIALIZE traffic signals with default timings (Green, Yellow, Red)</a:t>
              </a:r>
            </a:p>
            <a:p>
              <a:pPr algn="l">
                <a:lnSpc>
                  <a:spcPts val="2160"/>
                </a:lnSpc>
              </a:pPr>
              <a:r>
                <a:rPr lang="en-US" sz="1800">
                  <a:solidFill>
                    <a:srgbClr val="000000"/>
                  </a:solidFill>
                  <a:latin typeface="Calibri (MS)"/>
                  <a:ea typeface="Calibri (MS)"/>
                  <a:cs typeface="Calibri (MS)"/>
                  <a:sym typeface="Calibri (MS)"/>
                </a:rPr>
                <a:t>INITIALIZE vehicle lanes, queues, and movement paths</a:t>
              </a:r>
            </a:p>
            <a:p>
              <a:pPr algn="l">
                <a:lnSpc>
                  <a:spcPts val="2160"/>
                </a:lnSpc>
              </a:pPr>
            </a:p>
            <a:p>
              <a:pPr algn="l">
                <a:lnSpc>
                  <a:spcPts val="2160"/>
                </a:lnSpc>
              </a:pPr>
              <a:r>
                <a:rPr lang="en-US" sz="1800">
                  <a:solidFill>
                    <a:srgbClr val="000000"/>
                  </a:solidFill>
                  <a:latin typeface="Calibri (MS)"/>
                  <a:ea typeface="Calibri (MS)"/>
                  <a:cs typeface="Calibri (MS)"/>
                  <a:sym typeface="Calibri (MS)"/>
                </a:rPr>
                <a:t>DEFINE function generate_vehicles():</a:t>
              </a:r>
            </a:p>
            <a:p>
              <a:pPr algn="l">
                <a:lnSpc>
                  <a:spcPts val="2160"/>
                </a:lnSpc>
              </a:pPr>
              <a:r>
                <a:rPr lang="en-US" sz="1800">
                  <a:solidFill>
                    <a:srgbClr val="000000"/>
                  </a:solidFill>
                  <a:latin typeface="Calibri (MS)"/>
                  <a:ea typeface="Calibri (MS)"/>
                  <a:cs typeface="Calibri (MS)"/>
                  <a:sym typeface="Calibri (MS)"/>
                </a:rPr>
                <a:t>    WHILE simulation is running:</a:t>
              </a:r>
            </a:p>
            <a:p>
              <a:pPr algn="l">
                <a:lnSpc>
                  <a:spcPts val="2160"/>
                </a:lnSpc>
              </a:pPr>
              <a:r>
                <a:rPr lang="en-US" sz="1800">
                  <a:solidFill>
                    <a:srgbClr val="000000"/>
                  </a:solidFill>
                  <a:latin typeface="Calibri (MS)"/>
                  <a:ea typeface="Calibri (MS)"/>
                  <a:cs typeface="Calibri (MS)"/>
                  <a:sym typeface="Calibri (MS)"/>
                </a:rPr>
                <a:t>        FOR each lane:</a:t>
              </a:r>
            </a:p>
            <a:p>
              <a:pPr algn="l">
                <a:lnSpc>
                  <a:spcPts val="2160"/>
                </a:lnSpc>
              </a:pPr>
              <a:r>
                <a:rPr lang="en-US" sz="1800">
                  <a:solidFill>
                    <a:srgbClr val="000000"/>
                  </a:solidFill>
                  <a:latin typeface="Calibri (MS)"/>
                  <a:ea typeface="Calibri (MS)"/>
                  <a:cs typeface="Calibri (MS)"/>
                  <a:sym typeface="Calibri (MS)"/>
                </a:rPr>
                <a:t>            IF random condition is met:</a:t>
              </a:r>
            </a:p>
            <a:p>
              <a:pPr algn="l">
                <a:lnSpc>
                  <a:spcPts val="2160"/>
                </a:lnSpc>
              </a:pPr>
              <a:r>
                <a:rPr lang="en-US" sz="1800">
                  <a:solidFill>
                    <a:srgbClr val="000000"/>
                  </a:solidFill>
                  <a:latin typeface="Calibri (MS)"/>
                  <a:ea typeface="Calibri (MS)"/>
                  <a:cs typeface="Calibri (MS)"/>
                  <a:sym typeface="Calibri (MS)"/>
                </a:rPr>
                <a:t>                CREATE new vehicle object</a:t>
              </a:r>
            </a:p>
            <a:p>
              <a:pPr algn="l">
                <a:lnSpc>
                  <a:spcPts val="2160"/>
                </a:lnSpc>
              </a:pPr>
              <a:r>
                <a:rPr lang="en-US" sz="1800">
                  <a:solidFill>
                    <a:srgbClr val="000000"/>
                  </a:solidFill>
                  <a:latin typeface="Calibri (MS)"/>
                  <a:ea typeface="Calibri (MS)"/>
                  <a:cs typeface="Calibri (MS)"/>
                  <a:sym typeface="Calibri (MS)"/>
                </a:rPr>
                <a:t>                ASSIGN to appropriate lane</a:t>
              </a:r>
            </a:p>
            <a:p>
              <a:pPr algn="l">
                <a:lnSpc>
                  <a:spcPts val="2160"/>
                </a:lnSpc>
              </a:pPr>
              <a:r>
                <a:rPr lang="en-US" sz="1800">
                  <a:solidFill>
                    <a:srgbClr val="000000"/>
                  </a:solidFill>
                  <a:latin typeface="Calibri (MS)"/>
                  <a:ea typeface="Calibri (MS)"/>
                  <a:cs typeface="Calibri (MS)"/>
                  <a:sym typeface="Calibri (MS)"/>
                </a:rPr>
                <a:t>        WAIT for random interval before next vehicle spawn</a:t>
              </a:r>
            </a:p>
            <a:p>
              <a:pPr algn="l">
                <a:lnSpc>
                  <a:spcPts val="2160"/>
                </a:lnSpc>
              </a:pPr>
            </a:p>
            <a:p>
              <a:pPr algn="l">
                <a:lnSpc>
                  <a:spcPts val="2160"/>
                </a:lnSpc>
              </a:pPr>
              <a:r>
                <a:rPr lang="en-US" sz="1800">
                  <a:solidFill>
                    <a:srgbClr val="000000"/>
                  </a:solidFill>
                  <a:latin typeface="Calibri (MS)"/>
                  <a:ea typeface="Calibri (MS)"/>
                  <a:cs typeface="Calibri (MS)"/>
                  <a:sym typeface="Calibri (MS)"/>
                </a:rPr>
                <a:t>DEFINE function detect_traffic_density():</a:t>
              </a:r>
            </a:p>
            <a:p>
              <a:pPr algn="l">
                <a:lnSpc>
                  <a:spcPts val="2160"/>
                </a:lnSpc>
              </a:pPr>
              <a:r>
                <a:rPr lang="en-US" sz="1800">
                  <a:solidFill>
                    <a:srgbClr val="000000"/>
                  </a:solidFill>
                  <a:latin typeface="Calibri (MS)"/>
                  <a:ea typeface="Calibri (MS)"/>
                  <a:cs typeface="Calibri (MS)"/>
                  <a:sym typeface="Calibri (MS)"/>
                </a:rPr>
                <a:t>    FOR each direction:</a:t>
              </a:r>
            </a:p>
            <a:p>
              <a:pPr algn="l">
                <a:lnSpc>
                  <a:spcPts val="2160"/>
                </a:lnSpc>
              </a:pPr>
              <a:r>
                <a:rPr lang="en-US" sz="1800">
                  <a:solidFill>
                    <a:srgbClr val="000000"/>
                  </a:solidFill>
                  <a:latin typeface="Calibri (MS)"/>
                  <a:ea typeface="Calibri (MS)"/>
                  <a:cs typeface="Calibri (MS)"/>
                  <a:sym typeface="Calibri (MS)"/>
                </a:rPr>
                <a:t>        COUNT number of vehicles in lane</a:t>
              </a:r>
            </a:p>
            <a:p>
              <a:pPr algn="l">
                <a:lnSpc>
                  <a:spcPts val="2160"/>
                </a:lnSpc>
              </a:pPr>
              <a:r>
                <a:rPr lang="en-US" sz="1800">
                  <a:solidFill>
                    <a:srgbClr val="000000"/>
                  </a:solidFill>
                  <a:latin typeface="Calibri (MS)"/>
                  <a:ea typeface="Calibri (MS)"/>
                  <a:cs typeface="Calibri (MS)"/>
                  <a:sym typeface="Calibri (MS)"/>
                </a:rPr>
                <a:t>    RETURN density data</a:t>
              </a:r>
            </a:p>
            <a:p>
              <a:pPr algn="l">
                <a:lnSpc>
                  <a:spcPts val="2160"/>
                </a:lnSpc>
              </a:pPr>
            </a:p>
          </p:txBody>
        </p:sp>
      </p:grpSp>
      <p:sp>
        <p:nvSpPr>
          <p:cNvPr name="AutoShape 8" id="8"/>
          <p:cNvSpPr/>
          <p:nvPr/>
        </p:nvSpPr>
        <p:spPr>
          <a:xfrm flipV="true">
            <a:off x="487680" y="898429"/>
            <a:ext cx="877824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430496" y="885611"/>
            <a:ext cx="8892608" cy="0"/>
          </a:xfrm>
          <a:prstGeom prst="line">
            <a:avLst/>
          </a:prstGeom>
          <a:ln cap="flat" w="38100">
            <a:solidFill>
              <a:srgbClr val="000000"/>
            </a:solidFill>
            <a:prstDash val="solid"/>
            <a:headEnd type="none" len="sm" w="sm"/>
            <a:tailEnd type="none" len="sm" w="sm"/>
          </a:ln>
        </p:spPr>
      </p:sp>
      <p:grpSp>
        <p:nvGrpSpPr>
          <p:cNvPr name="Group 3" id="3"/>
          <p:cNvGrpSpPr/>
          <p:nvPr/>
        </p:nvGrpSpPr>
        <p:grpSpPr>
          <a:xfrm rot="0">
            <a:off x="565211" y="78813"/>
            <a:ext cx="8778240" cy="806798"/>
            <a:chOff x="0" y="0"/>
            <a:chExt cx="11704320" cy="1075730"/>
          </a:xfrm>
        </p:grpSpPr>
        <p:sp>
          <p:nvSpPr>
            <p:cNvPr name="Freeform 4" id="4"/>
            <p:cNvSpPr/>
            <p:nvPr/>
          </p:nvSpPr>
          <p:spPr>
            <a:xfrm flipH="false" flipV="false" rot="0">
              <a:off x="0" y="0"/>
              <a:ext cx="11704320" cy="1075730"/>
            </a:xfrm>
            <a:custGeom>
              <a:avLst/>
              <a:gdLst/>
              <a:ahLst/>
              <a:cxnLst/>
              <a:rect r="r" b="b" t="t" l="l"/>
              <a:pathLst>
                <a:path h="1075730" w="11704320">
                  <a:moveTo>
                    <a:pt x="0" y="0"/>
                  </a:moveTo>
                  <a:lnTo>
                    <a:pt x="11704320" y="0"/>
                  </a:lnTo>
                  <a:lnTo>
                    <a:pt x="11704320" y="1075730"/>
                  </a:lnTo>
                  <a:lnTo>
                    <a:pt x="0" y="1075730"/>
                  </a:lnTo>
                  <a:close/>
                </a:path>
              </a:pathLst>
            </a:custGeom>
            <a:solidFill>
              <a:srgbClr val="000000">
                <a:alpha val="0"/>
              </a:srgbClr>
            </a:solidFill>
          </p:spPr>
        </p:sp>
        <p:sp>
          <p:nvSpPr>
            <p:cNvPr name="TextBox 5" id="5"/>
            <p:cNvSpPr txBox="true"/>
            <p:nvPr/>
          </p:nvSpPr>
          <p:spPr>
            <a:xfrm>
              <a:off x="0" y="-76200"/>
              <a:ext cx="11704320" cy="1151930"/>
            </a:xfrm>
            <a:prstGeom prst="rect">
              <a:avLst/>
            </a:prstGeom>
          </p:spPr>
          <p:txBody>
            <a:bodyPr anchor="ctr" rtlCol="false" tIns="0" lIns="0" bIns="0" rIns="0"/>
            <a:lstStyle/>
            <a:p>
              <a:pPr algn="ctr">
                <a:lnSpc>
                  <a:spcPts val="4800"/>
                </a:lnSpc>
              </a:pPr>
              <a:r>
                <a:rPr lang="en-US" sz="4000" b="true">
                  <a:solidFill>
                    <a:srgbClr val="000000"/>
                  </a:solidFill>
                  <a:latin typeface="Calibri (MS) Bold"/>
                  <a:ea typeface="Calibri (MS) Bold"/>
                  <a:cs typeface="Calibri (MS) Bold"/>
                  <a:sym typeface="Calibri (MS) Bold"/>
                </a:rPr>
                <a:t>Implementation - Pseudocode</a:t>
              </a:r>
            </a:p>
          </p:txBody>
        </p:sp>
      </p:grpSp>
      <p:grpSp>
        <p:nvGrpSpPr>
          <p:cNvPr name="Group 6" id="6"/>
          <p:cNvGrpSpPr/>
          <p:nvPr/>
        </p:nvGrpSpPr>
        <p:grpSpPr>
          <a:xfrm rot="0">
            <a:off x="487680" y="976803"/>
            <a:ext cx="9265920" cy="7022938"/>
            <a:chOff x="0" y="0"/>
            <a:chExt cx="12354560" cy="9363918"/>
          </a:xfrm>
        </p:grpSpPr>
        <p:sp>
          <p:nvSpPr>
            <p:cNvPr name="Freeform 7" id="7"/>
            <p:cNvSpPr/>
            <p:nvPr/>
          </p:nvSpPr>
          <p:spPr>
            <a:xfrm flipH="false" flipV="false" rot="0">
              <a:off x="0" y="0"/>
              <a:ext cx="12354560" cy="9363918"/>
            </a:xfrm>
            <a:custGeom>
              <a:avLst/>
              <a:gdLst/>
              <a:ahLst/>
              <a:cxnLst/>
              <a:rect r="r" b="b" t="t" l="l"/>
              <a:pathLst>
                <a:path h="9363918" w="12354560">
                  <a:moveTo>
                    <a:pt x="0" y="0"/>
                  </a:moveTo>
                  <a:lnTo>
                    <a:pt x="12354560" y="0"/>
                  </a:lnTo>
                  <a:lnTo>
                    <a:pt x="12354560" y="9363918"/>
                  </a:lnTo>
                  <a:lnTo>
                    <a:pt x="0" y="9363918"/>
                  </a:lnTo>
                  <a:close/>
                </a:path>
              </a:pathLst>
            </a:custGeom>
            <a:solidFill>
              <a:srgbClr val="000000">
                <a:alpha val="0"/>
              </a:srgbClr>
            </a:solidFill>
          </p:spPr>
        </p:sp>
        <p:sp>
          <p:nvSpPr>
            <p:cNvPr name="TextBox 8" id="8"/>
            <p:cNvSpPr txBox="true"/>
            <p:nvPr/>
          </p:nvSpPr>
          <p:spPr>
            <a:xfrm>
              <a:off x="0" y="-38100"/>
              <a:ext cx="12354560" cy="9402018"/>
            </a:xfrm>
            <a:prstGeom prst="rect">
              <a:avLst/>
            </a:prstGeom>
          </p:spPr>
          <p:txBody>
            <a:bodyPr anchor="t" rtlCol="false" tIns="0" lIns="0" bIns="0" rIns="0"/>
            <a:lstStyle/>
            <a:p>
              <a:pPr algn="l">
                <a:lnSpc>
                  <a:spcPts val="2159"/>
                </a:lnSpc>
              </a:pPr>
              <a:r>
                <a:rPr lang="en-US" sz="1799">
                  <a:solidFill>
                    <a:srgbClr val="000000"/>
                  </a:solidFill>
                  <a:latin typeface="Calibri (MS)"/>
                  <a:ea typeface="Calibri (MS)"/>
                  <a:cs typeface="Calibri (MS)"/>
                  <a:sym typeface="Calibri (MS)"/>
                </a:rPr>
                <a:t>DEFINE function adjust_signal_timings(density_data):</a:t>
              </a:r>
            </a:p>
            <a:p>
              <a:pPr algn="l">
                <a:lnSpc>
                  <a:spcPts val="2159"/>
                </a:lnSpc>
              </a:pPr>
              <a:r>
                <a:rPr lang="en-US" sz="1799">
                  <a:solidFill>
                    <a:srgbClr val="000000"/>
                  </a:solidFill>
                  <a:latin typeface="Calibri (MS)"/>
                  <a:ea typeface="Calibri (MS)"/>
                  <a:cs typeface="Calibri (MS)"/>
                  <a:sym typeface="Calibri (MS)"/>
                </a:rPr>
                <a:t>    IF density is HIGH:</a:t>
              </a:r>
            </a:p>
            <a:p>
              <a:pPr algn="l">
                <a:lnSpc>
                  <a:spcPts val="2159"/>
                </a:lnSpc>
              </a:pPr>
              <a:r>
                <a:rPr lang="en-US" sz="1799">
                  <a:solidFill>
                    <a:srgbClr val="000000"/>
                  </a:solidFill>
                  <a:latin typeface="Calibri (MS)"/>
                  <a:ea typeface="Calibri (MS)"/>
                  <a:cs typeface="Calibri (MS)"/>
                  <a:sym typeface="Calibri (MS)"/>
                </a:rPr>
                <a:t>        SET green_time = longer</a:t>
              </a:r>
            </a:p>
            <a:p>
              <a:pPr algn="l">
                <a:lnSpc>
                  <a:spcPts val="2159"/>
                </a:lnSpc>
              </a:pPr>
              <a:r>
                <a:rPr lang="en-US" sz="1799">
                  <a:solidFill>
                    <a:srgbClr val="000000"/>
                  </a:solidFill>
                  <a:latin typeface="Calibri (MS)"/>
                  <a:ea typeface="Calibri (MS)"/>
                  <a:cs typeface="Calibri (MS)"/>
                  <a:sym typeface="Calibri (MS)"/>
                </a:rPr>
                <a:t>    ELSE IF density is MODERATE:</a:t>
              </a:r>
            </a:p>
            <a:p>
              <a:pPr algn="l">
                <a:lnSpc>
                  <a:spcPts val="2159"/>
                </a:lnSpc>
              </a:pPr>
              <a:r>
                <a:rPr lang="en-US" sz="1799">
                  <a:solidFill>
                    <a:srgbClr val="000000"/>
                  </a:solidFill>
                  <a:latin typeface="Calibri (MS)"/>
                  <a:ea typeface="Calibri (MS)"/>
                  <a:cs typeface="Calibri (MS)"/>
                  <a:sym typeface="Calibri (MS)"/>
                </a:rPr>
                <a:t>        SET green_time = default</a:t>
              </a:r>
            </a:p>
            <a:p>
              <a:pPr algn="l">
                <a:lnSpc>
                  <a:spcPts val="2159"/>
                </a:lnSpc>
              </a:pPr>
              <a:r>
                <a:rPr lang="en-US" sz="1799">
                  <a:solidFill>
                    <a:srgbClr val="000000"/>
                  </a:solidFill>
                  <a:latin typeface="Calibri (MS)"/>
                  <a:ea typeface="Calibri (MS)"/>
                  <a:cs typeface="Calibri (MS)"/>
                  <a:sym typeface="Calibri (MS)"/>
                </a:rPr>
                <a:t>    ELSE:</a:t>
              </a:r>
            </a:p>
            <a:p>
              <a:pPr algn="l">
                <a:lnSpc>
                  <a:spcPts val="2159"/>
                </a:lnSpc>
              </a:pPr>
              <a:r>
                <a:rPr lang="en-US" sz="1799">
                  <a:solidFill>
                    <a:srgbClr val="000000"/>
                  </a:solidFill>
                  <a:latin typeface="Calibri (MS)"/>
                  <a:ea typeface="Calibri (MS)"/>
                  <a:cs typeface="Calibri (MS)"/>
                  <a:sym typeface="Calibri (MS)"/>
                </a:rPr>
                <a:t>        SET green_time = shorter</a:t>
              </a:r>
            </a:p>
            <a:p>
              <a:pPr algn="l">
                <a:lnSpc>
                  <a:spcPts val="2159"/>
                </a:lnSpc>
              </a:pPr>
              <a:r>
                <a:rPr lang="en-US" sz="1799">
                  <a:solidFill>
                    <a:srgbClr val="000000"/>
                  </a:solidFill>
                  <a:latin typeface="Calibri (MS)"/>
                  <a:ea typeface="Calibri (MS)"/>
                  <a:cs typeface="Calibri (MS)"/>
                  <a:sym typeface="Calibri (MS)"/>
                </a:rPr>
                <a:t>    UPDATE signal timers based on density</a:t>
              </a:r>
            </a:p>
            <a:p>
              <a:pPr algn="l">
                <a:lnSpc>
                  <a:spcPts val="2159"/>
                </a:lnSpc>
              </a:pPr>
              <a:r>
                <a:rPr lang="en-US" sz="1799">
                  <a:solidFill>
                    <a:srgbClr val="000000"/>
                  </a:solidFill>
                  <a:latin typeface="Calibri (MS)"/>
                  <a:ea typeface="Calibri (MS)"/>
                  <a:cs typeface="Calibri (MS)"/>
                  <a:sym typeface="Calibri (MS)"/>
                </a:rPr>
                <a:t>DEFINE function control_traffic_signals():</a:t>
              </a:r>
            </a:p>
            <a:p>
              <a:pPr algn="l">
                <a:lnSpc>
                  <a:spcPts val="2159"/>
                </a:lnSpc>
              </a:pPr>
              <a:r>
                <a:rPr lang="en-US" sz="1799">
                  <a:solidFill>
                    <a:srgbClr val="000000"/>
                  </a:solidFill>
                  <a:latin typeface="Calibri (MS)"/>
                  <a:ea typeface="Calibri (MS)"/>
                  <a:cs typeface="Calibri (MS)"/>
                  <a:sym typeface="Calibri (MS)"/>
                </a:rPr>
                <a:t>    LOOP through directions in rotation:</a:t>
              </a:r>
            </a:p>
            <a:p>
              <a:pPr algn="l">
                <a:lnSpc>
                  <a:spcPts val="2159"/>
                </a:lnSpc>
              </a:pPr>
              <a:r>
                <a:rPr lang="en-US" sz="1799">
                  <a:solidFill>
                    <a:srgbClr val="000000"/>
                  </a:solidFill>
                  <a:latin typeface="Calibri (MS)"/>
                  <a:ea typeface="Calibri (MS)"/>
                  <a:cs typeface="Calibri (MS)"/>
                  <a:sym typeface="Calibri (MS)"/>
                </a:rPr>
                <a:t>        SET current direction light to GREEN</a:t>
              </a:r>
            </a:p>
            <a:p>
              <a:pPr algn="l">
                <a:lnSpc>
                  <a:spcPts val="2159"/>
                </a:lnSpc>
              </a:pPr>
              <a:r>
                <a:rPr lang="en-US" sz="1799">
                  <a:solidFill>
                    <a:srgbClr val="000000"/>
                  </a:solidFill>
                  <a:latin typeface="Calibri (MS)"/>
                  <a:ea typeface="Calibri (MS)"/>
                  <a:cs typeface="Calibri (MS)"/>
                  <a:sym typeface="Calibri (MS)"/>
                </a:rPr>
                <a:t>        WAIT for green_time</a:t>
              </a:r>
            </a:p>
            <a:p>
              <a:pPr algn="l">
                <a:lnSpc>
                  <a:spcPts val="2159"/>
                </a:lnSpc>
              </a:pPr>
              <a:r>
                <a:rPr lang="en-US" sz="1799">
                  <a:solidFill>
                    <a:srgbClr val="000000"/>
                  </a:solidFill>
                  <a:latin typeface="Calibri (MS)"/>
                  <a:ea typeface="Calibri (MS)"/>
                  <a:cs typeface="Calibri (MS)"/>
                  <a:sym typeface="Calibri (MS)"/>
                </a:rPr>
                <a:t>        SET current direction light to YELLOW</a:t>
              </a:r>
            </a:p>
            <a:p>
              <a:pPr algn="l">
                <a:lnSpc>
                  <a:spcPts val="2159"/>
                </a:lnSpc>
              </a:pPr>
              <a:r>
                <a:rPr lang="en-US" sz="1799">
                  <a:solidFill>
                    <a:srgbClr val="000000"/>
                  </a:solidFill>
                  <a:latin typeface="Calibri (MS)"/>
                  <a:ea typeface="Calibri (MS)"/>
                  <a:cs typeface="Calibri (MS)"/>
                  <a:sym typeface="Calibri (MS)"/>
                </a:rPr>
                <a:t>        WAIT for yellow_time</a:t>
              </a:r>
            </a:p>
            <a:p>
              <a:pPr algn="l">
                <a:lnSpc>
                  <a:spcPts val="2159"/>
                </a:lnSpc>
              </a:pPr>
              <a:r>
                <a:rPr lang="en-US" sz="1799">
                  <a:solidFill>
                    <a:srgbClr val="000000"/>
                  </a:solidFill>
                  <a:latin typeface="Calibri (MS)"/>
                  <a:ea typeface="Calibri (MS)"/>
                  <a:cs typeface="Calibri (MS)"/>
                  <a:sym typeface="Calibri (MS)"/>
                </a:rPr>
                <a:t>        SET current direction light to RED</a:t>
              </a:r>
            </a:p>
            <a:p>
              <a:pPr algn="l">
                <a:lnSpc>
                  <a:spcPts val="2159"/>
                </a:lnSpc>
              </a:pPr>
              <a:r>
                <a:rPr lang="en-US" sz="1799">
                  <a:solidFill>
                    <a:srgbClr val="000000"/>
                  </a:solidFill>
                  <a:latin typeface="Calibri (MS)"/>
                  <a:ea typeface="Calibri (MS)"/>
                  <a:cs typeface="Calibri (MS)"/>
                  <a:sym typeface="Calibri (MS)"/>
                </a:rPr>
                <a:t>DEFINE function move_vehicles():</a:t>
              </a:r>
            </a:p>
            <a:p>
              <a:pPr algn="l">
                <a:lnSpc>
                  <a:spcPts val="2159"/>
                </a:lnSpc>
              </a:pPr>
              <a:r>
                <a:rPr lang="en-US" sz="1799">
                  <a:solidFill>
                    <a:srgbClr val="000000"/>
                  </a:solidFill>
                  <a:latin typeface="Calibri (MS)"/>
                  <a:ea typeface="Calibri (MS)"/>
                  <a:cs typeface="Calibri (MS)"/>
                  <a:sym typeface="Calibri (MS)"/>
                </a:rPr>
                <a:t> WHILE simulation is running:</a:t>
              </a:r>
            </a:p>
            <a:p>
              <a:pPr algn="l">
                <a:lnSpc>
                  <a:spcPts val="2159"/>
                </a:lnSpc>
              </a:pPr>
              <a:r>
                <a:rPr lang="en-US" sz="1799">
                  <a:solidFill>
                    <a:srgbClr val="000000"/>
                  </a:solidFill>
                  <a:latin typeface="Calibri (MS)"/>
                  <a:ea typeface="Calibri (MS)"/>
                  <a:cs typeface="Calibri (MS)"/>
                  <a:sym typeface="Calibri (MS)"/>
                </a:rPr>
                <a:t> FOR each vehicle:</a:t>
              </a:r>
            </a:p>
            <a:p>
              <a:pPr algn="l">
                <a:lnSpc>
                  <a:spcPts val="2159"/>
                </a:lnSpc>
              </a:pPr>
              <a:r>
                <a:rPr lang="en-US" sz="1799">
                  <a:solidFill>
                    <a:srgbClr val="000000"/>
                  </a:solidFill>
                  <a:latin typeface="Calibri (MS)"/>
                  <a:ea typeface="Calibri (MS)"/>
                  <a:cs typeface="Calibri (MS)"/>
                  <a:sym typeface="Calibri (MS)"/>
                </a:rPr>
                <a:t> IF signal is GREEN and path is clear:</a:t>
              </a:r>
            </a:p>
            <a:p>
              <a:pPr algn="l">
                <a:lnSpc>
                  <a:spcPts val="2159"/>
                </a:lnSpc>
              </a:pPr>
              <a:r>
                <a:rPr lang="en-US" sz="1799">
                  <a:solidFill>
                    <a:srgbClr val="000000"/>
                  </a:solidFill>
                  <a:latin typeface="Calibri (MS)"/>
                  <a:ea typeface="Calibri (MS)"/>
                  <a:cs typeface="Calibri (MS)"/>
                  <a:sym typeface="Calibri (MS)"/>
                </a:rPr>
                <a:t> MOVE vehicle forward</a:t>
              </a:r>
            </a:p>
            <a:p>
              <a:pPr algn="l">
                <a:lnSpc>
                  <a:spcPts val="2159"/>
                </a:lnSpc>
              </a:pPr>
              <a:r>
                <a:rPr lang="en-US" sz="1799">
                  <a:solidFill>
                    <a:srgbClr val="000000"/>
                  </a:solidFill>
                  <a:latin typeface="Calibri (MS)"/>
                  <a:ea typeface="Calibri (MS)"/>
                  <a:cs typeface="Calibri (MS)"/>
                  <a:sym typeface="Calibri (MS)"/>
                </a:rPr>
                <a:t> ELSE:</a:t>
              </a:r>
            </a:p>
            <a:p>
              <a:pPr algn="l">
                <a:lnSpc>
                  <a:spcPts val="2159"/>
                </a:lnSpc>
              </a:pPr>
              <a:r>
                <a:rPr lang="en-US" sz="1799">
                  <a:solidFill>
                    <a:srgbClr val="000000"/>
                  </a:solidFill>
                  <a:latin typeface="Calibri (MS)"/>
                  <a:ea typeface="Calibri (MS)"/>
                  <a:cs typeface="Calibri (MS)"/>
                  <a:sym typeface="Calibri (MS)"/>
                </a:rPr>
                <a:t> KEEP vehicle stopped</a:t>
              </a:r>
            </a:p>
            <a:p>
              <a:pPr algn="l">
                <a:lnSpc>
                  <a:spcPts val="2159"/>
                </a:lnSpc>
              </a:pPr>
              <a:r>
                <a:rPr lang="en-US" sz="1799">
                  <a:solidFill>
                    <a:srgbClr val="000000"/>
                  </a:solidFill>
                  <a:latin typeface="Calibri (MS)"/>
                  <a:ea typeface="Calibri (MS)"/>
                  <a:cs typeface="Calibri (MS)"/>
                  <a:sym typeface="Calibri (MS)"/>
                </a:rPr>
                <a:t> REMOVE vehicles that exit screen</a:t>
              </a:r>
            </a:p>
            <a:p>
              <a:pPr algn="l">
                <a:lnSpc>
                  <a:spcPts val="2159"/>
                </a:lnSpc>
              </a:pPr>
            </a:p>
            <a:p>
              <a:pPr algn="l">
                <a:lnSpc>
                  <a:spcPts val="2159"/>
                </a:lnSpc>
              </a:pPr>
            </a:p>
            <a:p>
              <a:pPr algn="l">
                <a:lnSpc>
                  <a:spcPts val="2159"/>
                </a:lnSpc>
              </a:pPr>
            </a:p>
          </p:txBody>
        </p:sp>
      </p:gr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125132"/>
            <a:ext cx="8778240" cy="806798"/>
            <a:chOff x="0" y="0"/>
            <a:chExt cx="11704320" cy="1075730"/>
          </a:xfrm>
        </p:grpSpPr>
        <p:sp>
          <p:nvSpPr>
            <p:cNvPr name="Freeform 3" id="3"/>
            <p:cNvSpPr/>
            <p:nvPr/>
          </p:nvSpPr>
          <p:spPr>
            <a:xfrm flipH="false" flipV="false" rot="0">
              <a:off x="0" y="0"/>
              <a:ext cx="11704320" cy="1075730"/>
            </a:xfrm>
            <a:custGeom>
              <a:avLst/>
              <a:gdLst/>
              <a:ahLst/>
              <a:cxnLst/>
              <a:rect r="r" b="b" t="t" l="l"/>
              <a:pathLst>
                <a:path h="1075730" w="11704320">
                  <a:moveTo>
                    <a:pt x="0" y="0"/>
                  </a:moveTo>
                  <a:lnTo>
                    <a:pt x="11704320" y="0"/>
                  </a:lnTo>
                  <a:lnTo>
                    <a:pt x="11704320" y="1075730"/>
                  </a:lnTo>
                  <a:lnTo>
                    <a:pt x="0" y="1075730"/>
                  </a:lnTo>
                  <a:close/>
                </a:path>
              </a:pathLst>
            </a:custGeom>
            <a:solidFill>
              <a:srgbClr val="000000">
                <a:alpha val="0"/>
              </a:srgbClr>
            </a:solidFill>
          </p:spPr>
        </p:sp>
        <p:sp>
          <p:nvSpPr>
            <p:cNvPr name="TextBox 4" id="4"/>
            <p:cNvSpPr txBox="true"/>
            <p:nvPr/>
          </p:nvSpPr>
          <p:spPr>
            <a:xfrm>
              <a:off x="0" y="-76200"/>
              <a:ext cx="11704320" cy="1151930"/>
            </a:xfrm>
            <a:prstGeom prst="rect">
              <a:avLst/>
            </a:prstGeom>
          </p:spPr>
          <p:txBody>
            <a:bodyPr anchor="ctr" rtlCol="false" tIns="0" lIns="0" bIns="0" rIns="0"/>
            <a:lstStyle/>
            <a:p>
              <a:pPr algn="ctr">
                <a:lnSpc>
                  <a:spcPts val="4800"/>
                </a:lnSpc>
              </a:pPr>
              <a:r>
                <a:rPr lang="en-US" sz="4000" b="true">
                  <a:solidFill>
                    <a:srgbClr val="000000"/>
                  </a:solidFill>
                  <a:latin typeface="Calibri (MS) Bold"/>
                  <a:ea typeface="Calibri (MS) Bold"/>
                  <a:cs typeface="Calibri (MS) Bold"/>
                  <a:sym typeface="Calibri (MS) Bold"/>
                </a:rPr>
                <a:t>Implementation - Pseudocode</a:t>
              </a:r>
            </a:p>
          </p:txBody>
        </p:sp>
      </p:grpSp>
      <p:sp>
        <p:nvSpPr>
          <p:cNvPr name="AutoShape 5" id="5"/>
          <p:cNvSpPr/>
          <p:nvPr/>
        </p:nvSpPr>
        <p:spPr>
          <a:xfrm flipV="true">
            <a:off x="487680" y="931929"/>
            <a:ext cx="8778240"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487680" y="1057061"/>
            <a:ext cx="9265920" cy="6489539"/>
            <a:chOff x="0" y="0"/>
            <a:chExt cx="12354560" cy="8652718"/>
          </a:xfrm>
        </p:grpSpPr>
        <p:sp>
          <p:nvSpPr>
            <p:cNvPr name="Freeform 7" id="7"/>
            <p:cNvSpPr/>
            <p:nvPr/>
          </p:nvSpPr>
          <p:spPr>
            <a:xfrm flipH="false" flipV="false" rot="0">
              <a:off x="0" y="0"/>
              <a:ext cx="12354560" cy="8652718"/>
            </a:xfrm>
            <a:custGeom>
              <a:avLst/>
              <a:gdLst/>
              <a:ahLst/>
              <a:cxnLst/>
              <a:rect r="r" b="b" t="t" l="l"/>
              <a:pathLst>
                <a:path h="8652718" w="12354560">
                  <a:moveTo>
                    <a:pt x="0" y="0"/>
                  </a:moveTo>
                  <a:lnTo>
                    <a:pt x="12354560" y="0"/>
                  </a:lnTo>
                  <a:lnTo>
                    <a:pt x="12354560" y="8652718"/>
                  </a:lnTo>
                  <a:lnTo>
                    <a:pt x="0" y="8652718"/>
                  </a:lnTo>
                  <a:close/>
                </a:path>
              </a:pathLst>
            </a:custGeom>
            <a:solidFill>
              <a:srgbClr val="000000">
                <a:alpha val="0"/>
              </a:srgbClr>
            </a:solidFill>
          </p:spPr>
        </p:sp>
        <p:sp>
          <p:nvSpPr>
            <p:cNvPr name="TextBox 8" id="8"/>
            <p:cNvSpPr txBox="true"/>
            <p:nvPr/>
          </p:nvSpPr>
          <p:spPr>
            <a:xfrm>
              <a:off x="0" y="-38100"/>
              <a:ext cx="12354560" cy="8690818"/>
            </a:xfrm>
            <a:prstGeom prst="rect">
              <a:avLst/>
            </a:prstGeom>
          </p:spPr>
          <p:txBody>
            <a:bodyPr anchor="t" rtlCol="false" tIns="0" lIns="0" bIns="0" rIns="0"/>
            <a:lstStyle/>
            <a:p>
              <a:pPr algn="l">
                <a:lnSpc>
                  <a:spcPts val="2160"/>
                </a:lnSpc>
              </a:pPr>
              <a:r>
                <a:rPr lang="en-US" sz="1800">
                  <a:solidFill>
                    <a:srgbClr val="000000"/>
                  </a:solidFill>
                  <a:latin typeface="Calibri (MS)"/>
                  <a:ea typeface="Calibri (MS)"/>
                  <a:cs typeface="Calibri (MS)"/>
                  <a:sym typeface="Calibri (MS)"/>
                </a:rPr>
                <a:t>DEFINE function update_display():</a:t>
              </a:r>
            </a:p>
            <a:p>
              <a:pPr algn="l">
                <a:lnSpc>
                  <a:spcPts val="2160"/>
                </a:lnSpc>
              </a:pPr>
              <a:r>
                <a:rPr lang="en-US" sz="1800">
                  <a:solidFill>
                    <a:srgbClr val="000000"/>
                  </a:solidFill>
                  <a:latin typeface="Calibri (MS)"/>
                  <a:ea typeface="Calibri (MS)"/>
                  <a:cs typeface="Calibri (MS)"/>
                  <a:sym typeface="Calibri (MS)"/>
                </a:rPr>
                <a:t>    WHILE simulation is running:</a:t>
              </a:r>
            </a:p>
            <a:p>
              <a:pPr algn="l">
                <a:lnSpc>
                  <a:spcPts val="2160"/>
                </a:lnSpc>
              </a:pPr>
              <a:r>
                <a:rPr lang="en-US" sz="1800">
                  <a:solidFill>
                    <a:srgbClr val="000000"/>
                  </a:solidFill>
                  <a:latin typeface="Calibri (MS)"/>
                  <a:ea typeface="Calibri (MS)"/>
                  <a:cs typeface="Calibri (MS)"/>
                  <a:sym typeface="Calibri (MS)"/>
                </a:rPr>
                <a:t>        CLEAR screen</a:t>
              </a:r>
            </a:p>
            <a:p>
              <a:pPr algn="l">
                <a:lnSpc>
                  <a:spcPts val="2160"/>
                </a:lnSpc>
              </a:pPr>
              <a:r>
                <a:rPr lang="en-US" sz="1800">
                  <a:solidFill>
                    <a:srgbClr val="000000"/>
                  </a:solidFill>
                  <a:latin typeface="Calibri (MS)"/>
                  <a:ea typeface="Calibri (MS)"/>
                  <a:cs typeface="Calibri (MS)"/>
                  <a:sym typeface="Calibri (MS)"/>
                </a:rPr>
                <a:t>        DRAW road layout, signals, vehicles</a:t>
              </a:r>
            </a:p>
            <a:p>
              <a:pPr algn="l">
                <a:lnSpc>
                  <a:spcPts val="2160"/>
                </a:lnSpc>
              </a:pPr>
              <a:r>
                <a:rPr lang="en-US" sz="1800">
                  <a:solidFill>
                    <a:srgbClr val="000000"/>
                  </a:solidFill>
                  <a:latin typeface="Calibri (MS)"/>
                  <a:ea typeface="Calibri (MS)"/>
                  <a:cs typeface="Calibri (MS)"/>
                  <a:sym typeface="Calibri (MS)"/>
                </a:rPr>
                <a:t>        UPDATE pygame display</a:t>
              </a:r>
            </a:p>
            <a:p>
              <a:pPr algn="l">
                <a:lnSpc>
                  <a:spcPts val="2160"/>
                </a:lnSpc>
              </a:pPr>
              <a:r>
                <a:rPr lang="en-US" sz="1800">
                  <a:solidFill>
                    <a:srgbClr val="000000"/>
                  </a:solidFill>
                  <a:latin typeface="Calibri (MS)"/>
                  <a:ea typeface="Calibri (MS)"/>
                  <a:cs typeface="Calibri (MS)"/>
                  <a:sym typeface="Calibri (MS)"/>
                </a:rPr>
                <a:t>        LIMIT frame rate</a:t>
              </a:r>
            </a:p>
            <a:p>
              <a:pPr algn="l">
                <a:lnSpc>
                  <a:spcPts val="2160"/>
                </a:lnSpc>
              </a:pPr>
            </a:p>
            <a:p>
              <a:pPr algn="l">
                <a:lnSpc>
                  <a:spcPts val="2160"/>
                </a:lnSpc>
              </a:pPr>
              <a:r>
                <a:rPr lang="en-US" sz="1800">
                  <a:solidFill>
                    <a:srgbClr val="000000"/>
                  </a:solidFill>
                  <a:latin typeface="Calibri (MS)"/>
                  <a:ea typeface="Calibri (MS)"/>
                  <a:cs typeface="Calibri (MS)"/>
                  <a:sym typeface="Calibri (MS)"/>
                </a:rPr>
                <a:t>START threads:</a:t>
              </a:r>
            </a:p>
            <a:p>
              <a:pPr algn="l">
                <a:lnSpc>
                  <a:spcPts val="2160"/>
                </a:lnSpc>
              </a:pPr>
              <a:r>
                <a:rPr lang="en-US" sz="1800">
                  <a:solidFill>
                    <a:srgbClr val="000000"/>
                  </a:solidFill>
                  <a:latin typeface="Calibri (MS)"/>
                  <a:ea typeface="Calibri (MS)"/>
                  <a:cs typeface="Calibri (MS)"/>
                  <a:sym typeface="Calibri (MS)"/>
                </a:rPr>
                <a:t>    Thread 1 -&gt; generate_vehicles()</a:t>
              </a:r>
            </a:p>
            <a:p>
              <a:pPr algn="l">
                <a:lnSpc>
                  <a:spcPts val="2160"/>
                </a:lnSpc>
              </a:pPr>
              <a:r>
                <a:rPr lang="en-US" sz="1800">
                  <a:solidFill>
                    <a:srgbClr val="000000"/>
                  </a:solidFill>
                  <a:latin typeface="Calibri (MS)"/>
                  <a:ea typeface="Calibri (MS)"/>
                  <a:cs typeface="Calibri (MS)"/>
                  <a:sym typeface="Calibri (MS)"/>
                </a:rPr>
                <a:t>    Thread 2 -&gt; control_traffic_signals()</a:t>
              </a:r>
            </a:p>
            <a:p>
              <a:pPr algn="l">
                <a:lnSpc>
                  <a:spcPts val="2160"/>
                </a:lnSpc>
              </a:pPr>
              <a:r>
                <a:rPr lang="en-US" sz="1800">
                  <a:solidFill>
                    <a:srgbClr val="000000"/>
                  </a:solidFill>
                  <a:latin typeface="Calibri (MS)"/>
                  <a:ea typeface="Calibri (MS)"/>
                  <a:cs typeface="Calibri (MS)"/>
                  <a:sym typeface="Calibri (MS)"/>
                </a:rPr>
                <a:t>    Thread 3 -&gt; move_vehicles()</a:t>
              </a:r>
            </a:p>
            <a:p>
              <a:pPr algn="l">
                <a:lnSpc>
                  <a:spcPts val="2160"/>
                </a:lnSpc>
              </a:pPr>
              <a:r>
                <a:rPr lang="en-US" sz="1800">
                  <a:solidFill>
                    <a:srgbClr val="000000"/>
                  </a:solidFill>
                  <a:latin typeface="Calibri (MS)"/>
                  <a:ea typeface="Calibri (MS)"/>
                  <a:cs typeface="Calibri (MS)"/>
                  <a:sym typeface="Calibri (MS)"/>
                </a:rPr>
                <a:t>    Thread 4 -&gt; update_display()</a:t>
              </a:r>
            </a:p>
            <a:p>
              <a:pPr algn="l">
                <a:lnSpc>
                  <a:spcPts val="2160"/>
                </a:lnSpc>
              </a:pPr>
            </a:p>
            <a:p>
              <a:pPr algn="l">
                <a:lnSpc>
                  <a:spcPts val="2160"/>
                </a:lnSpc>
              </a:pPr>
              <a:r>
                <a:rPr lang="en-US" sz="1800">
                  <a:solidFill>
                    <a:srgbClr val="000000"/>
                  </a:solidFill>
                  <a:latin typeface="Calibri (MS)"/>
                  <a:ea typeface="Calibri (MS)"/>
                  <a:cs typeface="Calibri (MS)"/>
                  <a:sym typeface="Calibri (MS)"/>
                </a:rPr>
                <a:t>MAIN LOOP:</a:t>
              </a:r>
            </a:p>
            <a:p>
              <a:pPr algn="l">
                <a:lnSpc>
                  <a:spcPts val="2160"/>
                </a:lnSpc>
              </a:pPr>
              <a:r>
                <a:rPr lang="en-US" sz="1800">
                  <a:solidFill>
                    <a:srgbClr val="000000"/>
                  </a:solidFill>
                  <a:latin typeface="Calibri (MS)"/>
                  <a:ea typeface="Calibri (MS)"/>
                  <a:cs typeface="Calibri (MS)"/>
                  <a:sym typeface="Calibri (MS)"/>
                </a:rPr>
                <a:t> WHILE simulation is running:</a:t>
              </a:r>
            </a:p>
            <a:p>
              <a:pPr algn="l">
                <a:lnSpc>
                  <a:spcPts val="2160"/>
                </a:lnSpc>
              </a:pPr>
              <a:r>
                <a:rPr lang="en-US" sz="1800">
                  <a:solidFill>
                    <a:srgbClr val="000000"/>
                  </a:solidFill>
                  <a:latin typeface="Calibri (MS)"/>
                  <a:ea typeface="Calibri (MS)"/>
                  <a:cs typeface="Calibri (MS)"/>
                  <a:sym typeface="Calibri (MS)"/>
                </a:rPr>
                <a:t> density_data = detect_traffic_density()</a:t>
              </a:r>
            </a:p>
            <a:p>
              <a:pPr algn="l">
                <a:lnSpc>
                  <a:spcPts val="2160"/>
                </a:lnSpc>
              </a:pPr>
              <a:r>
                <a:rPr lang="en-US" sz="1800">
                  <a:solidFill>
                    <a:srgbClr val="000000"/>
                  </a:solidFill>
                  <a:latin typeface="Calibri (MS)"/>
                  <a:ea typeface="Calibri (MS)"/>
                  <a:cs typeface="Calibri (MS)"/>
                  <a:sym typeface="Calibri (MS)"/>
                </a:rPr>
                <a:t> adjust_signal_timings(density_data)</a:t>
              </a:r>
            </a:p>
            <a:p>
              <a:pPr algn="l">
                <a:lnSpc>
                  <a:spcPts val="2160"/>
                </a:lnSpc>
              </a:pPr>
              <a:r>
                <a:rPr lang="en-US" sz="1800">
                  <a:solidFill>
                    <a:srgbClr val="000000"/>
                  </a:solidFill>
                  <a:latin typeface="Calibri (MS)"/>
                  <a:ea typeface="Calibri (MS)"/>
                  <a:cs typeface="Calibri (MS)"/>
                  <a:sym typeface="Calibri (MS)"/>
                </a:rPr>
                <a:t> LISTEN for quit event</a:t>
              </a:r>
            </a:p>
            <a:p>
              <a:pPr algn="l">
                <a:lnSpc>
                  <a:spcPts val="2160"/>
                </a:lnSpc>
              </a:pPr>
              <a:r>
                <a:rPr lang="en-US" sz="1800">
                  <a:solidFill>
                    <a:srgbClr val="000000"/>
                  </a:solidFill>
                  <a:latin typeface="Calibri (MS)"/>
                  <a:ea typeface="Calibri (MS)"/>
                  <a:cs typeface="Calibri (MS)"/>
                  <a:sym typeface="Calibri (MS)"/>
                </a:rPr>
                <a:t> IF quit event is triggered:</a:t>
              </a:r>
            </a:p>
            <a:p>
              <a:pPr algn="l">
                <a:lnSpc>
                  <a:spcPts val="2160"/>
                </a:lnSpc>
              </a:pPr>
              <a:r>
                <a:rPr lang="en-US" sz="1800">
                  <a:solidFill>
                    <a:srgbClr val="000000"/>
                  </a:solidFill>
                  <a:latin typeface="Calibri (MS)"/>
                  <a:ea typeface="Calibri (MS)"/>
                  <a:cs typeface="Calibri (MS)"/>
                  <a:sym typeface="Calibri (MS)"/>
                </a:rPr>
                <a:t> EXIT simulation</a:t>
              </a:r>
            </a:p>
            <a:p>
              <a:pPr algn="l">
                <a:lnSpc>
                  <a:spcPts val="2160"/>
                </a:lnSpc>
              </a:pPr>
            </a:p>
            <a:p>
              <a:pPr algn="l">
                <a:lnSpc>
                  <a:spcPts val="2160"/>
                </a:lnSpc>
              </a:pPr>
              <a:r>
                <a:rPr lang="en-US" sz="1800">
                  <a:solidFill>
                    <a:srgbClr val="000000"/>
                  </a:solidFill>
                  <a:latin typeface="Calibri (MS)"/>
                  <a:ea typeface="Calibri (MS)"/>
                  <a:cs typeface="Calibri (MS)"/>
                  <a:sym typeface="Calibri (MS)"/>
                </a:rPr>
                <a:t>END</a:t>
              </a:r>
            </a:p>
            <a:p>
              <a:pPr algn="l">
                <a:lnSpc>
                  <a:spcPts val="2160"/>
                </a:lnSpc>
              </a:pPr>
            </a:p>
            <a:p>
              <a:pPr algn="l">
                <a:lnSpc>
                  <a:spcPts val="2160"/>
                </a:lnSpc>
              </a:pPr>
            </a:p>
          </p:txBody>
        </p:sp>
      </p:gr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134088"/>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4912"/>
                </a:lnSpc>
              </a:pPr>
              <a:r>
                <a:rPr lang="en-US" sz="4093" b="true">
                  <a:solidFill>
                    <a:srgbClr val="000000"/>
                  </a:solidFill>
                  <a:latin typeface="Calibri (MS) Bold"/>
                  <a:ea typeface="Calibri (MS) Bold"/>
                  <a:cs typeface="Calibri (MS) Bold"/>
                  <a:sym typeface="Calibri (MS) Bold"/>
                </a:rPr>
                <a:t>Testing</a:t>
              </a:r>
            </a:p>
          </p:txBody>
        </p:sp>
      </p:grpSp>
      <p:grpSp>
        <p:nvGrpSpPr>
          <p:cNvPr name="Group 5" id="5"/>
          <p:cNvGrpSpPr/>
          <p:nvPr/>
        </p:nvGrpSpPr>
        <p:grpSpPr>
          <a:xfrm rot="0">
            <a:off x="731520" y="869854"/>
            <a:ext cx="8290560" cy="1350011"/>
            <a:chOff x="0" y="0"/>
            <a:chExt cx="11054080" cy="1800015"/>
          </a:xfrm>
        </p:grpSpPr>
        <p:sp>
          <p:nvSpPr>
            <p:cNvPr name="Freeform 6" id="6"/>
            <p:cNvSpPr/>
            <p:nvPr/>
          </p:nvSpPr>
          <p:spPr>
            <a:xfrm flipH="false" flipV="false" rot="0">
              <a:off x="0" y="0"/>
              <a:ext cx="11054080" cy="1800015"/>
            </a:xfrm>
            <a:custGeom>
              <a:avLst/>
              <a:gdLst/>
              <a:ahLst/>
              <a:cxnLst/>
              <a:rect r="r" b="b" t="t" l="l"/>
              <a:pathLst>
                <a:path h="1800015" w="11054080">
                  <a:moveTo>
                    <a:pt x="0" y="0"/>
                  </a:moveTo>
                  <a:lnTo>
                    <a:pt x="11054080" y="0"/>
                  </a:lnTo>
                  <a:lnTo>
                    <a:pt x="11054080" y="1800015"/>
                  </a:lnTo>
                  <a:lnTo>
                    <a:pt x="0" y="1800015"/>
                  </a:lnTo>
                  <a:close/>
                </a:path>
              </a:pathLst>
            </a:custGeom>
            <a:solidFill>
              <a:srgbClr val="000000">
                <a:alpha val="0"/>
              </a:srgbClr>
            </a:solidFill>
          </p:spPr>
        </p:sp>
        <p:sp>
          <p:nvSpPr>
            <p:cNvPr name="TextBox 7" id="7"/>
            <p:cNvSpPr txBox="true"/>
            <p:nvPr/>
          </p:nvSpPr>
          <p:spPr>
            <a:xfrm>
              <a:off x="0" y="-28575"/>
              <a:ext cx="11054080" cy="1828590"/>
            </a:xfrm>
            <a:prstGeom prst="rect">
              <a:avLst/>
            </a:prstGeom>
          </p:spPr>
          <p:txBody>
            <a:bodyPr anchor="t" rtlCol="false" tIns="0" lIns="0" bIns="0" rIns="0"/>
            <a:lstStyle/>
            <a:p>
              <a:pPr algn="just">
                <a:lnSpc>
                  <a:spcPts val="2352"/>
                </a:lnSpc>
              </a:pPr>
              <a:r>
                <a:rPr lang="en-US" b="true" sz="2100" spc="-81">
                  <a:solidFill>
                    <a:srgbClr val="000000"/>
                  </a:solidFill>
                  <a:latin typeface="Calibri (MS) Bold"/>
                  <a:ea typeface="Calibri (MS) Bold"/>
                  <a:cs typeface="Calibri (MS) Bold"/>
                  <a:sym typeface="Calibri (MS) Bold"/>
                </a:rPr>
                <a:t>1. Unit Testing :</a:t>
              </a:r>
            </a:p>
            <a:p>
              <a:pPr algn="just">
                <a:lnSpc>
                  <a:spcPts val="2240"/>
                </a:lnSpc>
              </a:pPr>
              <a:r>
                <a:rPr lang="en-US" sz="2000" spc="-78">
                  <a:solidFill>
                    <a:srgbClr val="000000"/>
                  </a:solidFill>
                  <a:latin typeface="Calibri (MS)"/>
                  <a:ea typeface="Calibri (MS)"/>
                  <a:cs typeface="Calibri (MS)"/>
                  <a:sym typeface="Calibri (MS)"/>
                </a:rPr>
                <a:t>              </a:t>
              </a:r>
              <a:r>
                <a:rPr lang="en-US" sz="2000" spc="-78">
                  <a:solidFill>
                    <a:srgbClr val="000000"/>
                  </a:solidFill>
                  <a:latin typeface="Calibri (MS)"/>
                  <a:ea typeface="Calibri (MS)"/>
                  <a:cs typeface="Calibri (MS)"/>
                  <a:sym typeface="Calibri (MS)"/>
                </a:rPr>
                <a:t>Test individual components and functions in isolation to ensure they work as expected.</a:t>
              </a:r>
            </a:p>
            <a:p>
              <a:pPr algn="just">
                <a:lnSpc>
                  <a:spcPts val="2240"/>
                </a:lnSpc>
              </a:pPr>
            </a:p>
          </p:txBody>
        </p:sp>
      </p:grpSp>
      <p:sp>
        <p:nvSpPr>
          <p:cNvPr name="AutoShape 8" id="8"/>
          <p:cNvSpPr/>
          <p:nvPr/>
        </p:nvSpPr>
        <p:spPr>
          <a:xfrm>
            <a:off x="487680" y="731520"/>
            <a:ext cx="8778240" cy="0"/>
          </a:xfrm>
          <a:prstGeom prst="line">
            <a:avLst/>
          </a:prstGeom>
          <a:ln cap="flat" w="38100">
            <a:solidFill>
              <a:srgbClr val="000000"/>
            </a:solidFill>
            <a:prstDash val="solid"/>
            <a:headEnd type="none" len="sm" w="sm"/>
            <a:tailEnd type="none" len="sm" w="sm"/>
          </a:ln>
        </p:spPr>
      </p:sp>
      <p:graphicFrame>
        <p:nvGraphicFramePr>
          <p:cNvPr name="Table 9" id="9"/>
          <p:cNvGraphicFramePr>
            <a:graphicFrameLocks noGrp="true"/>
          </p:cNvGraphicFramePr>
          <p:nvPr/>
        </p:nvGraphicFramePr>
        <p:xfrm>
          <a:off x="731520" y="1810473"/>
          <a:ext cx="8290560" cy="5305425"/>
        </p:xfrm>
        <a:graphic>
          <a:graphicData uri="http://schemas.openxmlformats.org/drawingml/2006/table">
            <a:tbl>
              <a:tblPr/>
              <a:tblGrid>
                <a:gridCol w="1983610"/>
                <a:gridCol w="2989305"/>
                <a:gridCol w="3317645"/>
              </a:tblGrid>
              <a:tr h="669153">
                <a:tc>
                  <a:txBody>
                    <a:bodyPr anchor="t" rtlCol="false"/>
                    <a:lstStyle/>
                    <a:p>
                      <a:pPr algn="l">
                        <a:lnSpc>
                          <a:spcPts val="2659"/>
                        </a:lnSpc>
                        <a:defRPr/>
                      </a:pPr>
                      <a:r>
                        <a:rPr lang="en-US" sz="1899" b="true">
                          <a:solidFill>
                            <a:srgbClr val="000000"/>
                          </a:solidFill>
                          <a:latin typeface="Calibri (MS) Bold"/>
                          <a:ea typeface="Calibri (MS) Bold"/>
                          <a:cs typeface="Calibri (MS) Bold"/>
                          <a:sym typeface="Calibri (MS) Bold"/>
                        </a:rPr>
                        <a:t>Components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CE1E6"/>
                    </a:solidFill>
                  </a:tcPr>
                </a:tc>
                <a:tc>
                  <a:txBody>
                    <a:bodyPr anchor="t" rtlCol="false"/>
                    <a:lstStyle/>
                    <a:p>
                      <a:pPr algn="l">
                        <a:lnSpc>
                          <a:spcPts val="2380"/>
                        </a:lnSpc>
                        <a:defRPr/>
                      </a:pPr>
                      <a:r>
                        <a:rPr lang="en-US" sz="1700" b="true">
                          <a:solidFill>
                            <a:srgbClr val="000000"/>
                          </a:solidFill>
                          <a:latin typeface="Arimo Bold"/>
                          <a:ea typeface="Arimo Bold"/>
                          <a:cs typeface="Arimo Bold"/>
                          <a:sym typeface="Arimo Bold"/>
                        </a:rPr>
                        <a:t>Test Case Description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CE1E6"/>
                    </a:solidFill>
                  </a:tcPr>
                </a:tc>
                <a:tc>
                  <a:txBody>
                    <a:bodyPr anchor="t" rtlCol="false"/>
                    <a:lstStyle/>
                    <a:p>
                      <a:pPr algn="l">
                        <a:lnSpc>
                          <a:spcPts val="2380"/>
                        </a:lnSpc>
                        <a:defRPr/>
                      </a:pPr>
                      <a:r>
                        <a:rPr lang="en-US" sz="1700" b="true">
                          <a:solidFill>
                            <a:srgbClr val="000000"/>
                          </a:solidFill>
                          <a:latin typeface="Arimo Bold"/>
                          <a:ea typeface="Arimo Bold"/>
                          <a:cs typeface="Arimo Bold"/>
                          <a:sym typeface="Arimo Bold"/>
                        </a:rPr>
                        <a:t>Expected Result</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CE1E6"/>
                    </a:solidFill>
                  </a:tcPr>
                </a:tc>
              </a:tr>
              <a:tr h="927254">
                <a:tc>
                  <a:txBody>
                    <a:bodyPr anchor="t" rtlCol="false"/>
                    <a:lstStyle/>
                    <a:p>
                      <a:pPr algn="l">
                        <a:lnSpc>
                          <a:spcPts val="2380"/>
                        </a:lnSpc>
                        <a:defRPr/>
                      </a:pPr>
                      <a:r>
                        <a:rPr lang="en-US" sz="1700">
                          <a:solidFill>
                            <a:srgbClr val="000000"/>
                          </a:solidFill>
                          <a:latin typeface="Calibri (MS)"/>
                          <a:ea typeface="Calibri (MS)"/>
                          <a:cs typeface="Calibri (MS)"/>
                          <a:sym typeface="Calibri (MS)"/>
                        </a:rPr>
                        <a:t>Vehicle Object Creation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Create a car with direction and lane info</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Vehicle spawns correctly in the right lane</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27254">
                <a:tc>
                  <a:txBody>
                    <a:bodyPr anchor="t" rtlCol="false"/>
                    <a:lstStyle/>
                    <a:p>
                      <a:pPr algn="l">
                        <a:lnSpc>
                          <a:spcPts val="2380"/>
                        </a:lnSpc>
                        <a:defRPr/>
                      </a:pPr>
                      <a:r>
                        <a:rPr lang="en-US" sz="1700">
                          <a:solidFill>
                            <a:srgbClr val="000000"/>
                          </a:solidFill>
                          <a:latin typeface="Calibri (MS)"/>
                          <a:ea typeface="Calibri (MS)"/>
                          <a:cs typeface="Calibri (MS)"/>
                          <a:sym typeface="Calibri (MS)"/>
                        </a:rPr>
                        <a:t>Traffic Light Logic</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Test signal color changes over time</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Lights change from green → yellow → red</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27254">
                <a:tc>
                  <a:txBody>
                    <a:bodyPr anchor="t" rtlCol="false"/>
                    <a:lstStyle/>
                    <a:p>
                      <a:pPr algn="l">
                        <a:lnSpc>
                          <a:spcPts val="2380"/>
                        </a:lnSpc>
                        <a:defRPr/>
                      </a:pPr>
                      <a:r>
                        <a:rPr lang="en-US" sz="1700">
                          <a:solidFill>
                            <a:srgbClr val="000000"/>
                          </a:solidFill>
                          <a:latin typeface="Calibri (MS)"/>
                          <a:ea typeface="Calibri (MS)"/>
                          <a:cs typeface="Calibri (MS)"/>
                          <a:sym typeface="Calibri (MS)"/>
                        </a:rPr>
                        <a:t>Timer Function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Validate that delays match configured durations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Timing intervals are accurate (±1 sec)</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27254">
                <a:tc>
                  <a:txBody>
                    <a:bodyPr anchor="t" rtlCol="false"/>
                    <a:lstStyle/>
                    <a:p>
                      <a:pPr algn="l">
                        <a:lnSpc>
                          <a:spcPts val="2380"/>
                        </a:lnSpc>
                        <a:defRPr/>
                      </a:pPr>
                      <a:r>
                        <a:rPr lang="en-US" sz="1700">
                          <a:solidFill>
                            <a:srgbClr val="000000"/>
                          </a:solidFill>
                          <a:latin typeface="Calibri (MS)"/>
                          <a:ea typeface="Calibri (MS)"/>
                          <a:cs typeface="Calibri (MS)"/>
                          <a:sym typeface="Calibri (MS)"/>
                        </a:rPr>
                        <a:t>Vehicle Movement Logic</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Ensure vehicles stop on red and move on green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Movement controlled by signal state</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27254">
                <a:tc>
                  <a:txBody>
                    <a:bodyPr anchor="t" rtlCol="false"/>
                    <a:lstStyle/>
                    <a:p>
                      <a:pPr algn="l">
                        <a:lnSpc>
                          <a:spcPts val="2380"/>
                        </a:lnSpc>
                        <a:defRPr/>
                      </a:pPr>
                      <a:r>
                        <a:rPr lang="en-US" sz="1700">
                          <a:solidFill>
                            <a:srgbClr val="000000"/>
                          </a:solidFill>
                          <a:latin typeface="Calibri (MS)"/>
                          <a:ea typeface="Calibri (MS)"/>
                          <a:cs typeface="Calibri (MS)"/>
                          <a:sym typeface="Calibri (MS)"/>
                        </a:rPr>
                        <a:t>Density Detection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Count vehicles in a lane and return density</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Accurate count based on lane queues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25382"/>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5032"/>
                </a:lnSpc>
              </a:pPr>
              <a:r>
                <a:rPr lang="en-US" sz="4193" b="true">
                  <a:solidFill>
                    <a:srgbClr val="000000"/>
                  </a:solidFill>
                  <a:latin typeface="Calibri (MS) Bold"/>
                  <a:ea typeface="Calibri (MS) Bold"/>
                  <a:cs typeface="Calibri (MS) Bold"/>
                  <a:sym typeface="Calibri (MS) Bold"/>
                </a:rPr>
                <a:t>Testing</a:t>
              </a:r>
            </a:p>
          </p:txBody>
        </p:sp>
      </p:grpSp>
      <p:sp>
        <p:nvSpPr>
          <p:cNvPr name="AutoShape 5" id="5"/>
          <p:cNvSpPr/>
          <p:nvPr/>
        </p:nvSpPr>
        <p:spPr>
          <a:xfrm flipV="true">
            <a:off x="487680" y="977558"/>
            <a:ext cx="8778240"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685862" y="1244582"/>
            <a:ext cx="8519182" cy="1350011"/>
            <a:chOff x="0" y="0"/>
            <a:chExt cx="11358909" cy="1800015"/>
          </a:xfrm>
        </p:grpSpPr>
        <p:sp>
          <p:nvSpPr>
            <p:cNvPr name="Freeform 7" id="7"/>
            <p:cNvSpPr/>
            <p:nvPr/>
          </p:nvSpPr>
          <p:spPr>
            <a:xfrm flipH="false" flipV="false" rot="0">
              <a:off x="0" y="0"/>
              <a:ext cx="11358908" cy="1800015"/>
            </a:xfrm>
            <a:custGeom>
              <a:avLst/>
              <a:gdLst/>
              <a:ahLst/>
              <a:cxnLst/>
              <a:rect r="r" b="b" t="t" l="l"/>
              <a:pathLst>
                <a:path h="1800015" w="11358908">
                  <a:moveTo>
                    <a:pt x="0" y="0"/>
                  </a:moveTo>
                  <a:lnTo>
                    <a:pt x="11358908" y="0"/>
                  </a:lnTo>
                  <a:lnTo>
                    <a:pt x="11358908" y="1800015"/>
                  </a:lnTo>
                  <a:lnTo>
                    <a:pt x="0" y="1800015"/>
                  </a:lnTo>
                  <a:close/>
                </a:path>
              </a:pathLst>
            </a:custGeom>
            <a:solidFill>
              <a:srgbClr val="000000">
                <a:alpha val="0"/>
              </a:srgbClr>
            </a:solidFill>
          </p:spPr>
        </p:sp>
        <p:sp>
          <p:nvSpPr>
            <p:cNvPr name="TextBox 8" id="8"/>
            <p:cNvSpPr txBox="true"/>
            <p:nvPr/>
          </p:nvSpPr>
          <p:spPr>
            <a:xfrm>
              <a:off x="0" y="-28575"/>
              <a:ext cx="11358909" cy="1828590"/>
            </a:xfrm>
            <a:prstGeom prst="rect">
              <a:avLst/>
            </a:prstGeom>
          </p:spPr>
          <p:txBody>
            <a:bodyPr anchor="t" rtlCol="false" tIns="0" lIns="0" bIns="0" rIns="0"/>
            <a:lstStyle/>
            <a:p>
              <a:pPr algn="just">
                <a:lnSpc>
                  <a:spcPts val="2352"/>
                </a:lnSpc>
              </a:pPr>
              <a:r>
                <a:rPr lang="en-US" b="true" sz="2100" spc="-81">
                  <a:solidFill>
                    <a:srgbClr val="000000"/>
                  </a:solidFill>
                  <a:latin typeface="Calibri (MS) Bold"/>
                  <a:ea typeface="Calibri (MS) Bold"/>
                  <a:cs typeface="Calibri (MS) Bold"/>
                  <a:sym typeface="Calibri (MS) Bold"/>
                </a:rPr>
                <a:t>2. Integration Testing :</a:t>
              </a:r>
            </a:p>
            <a:p>
              <a:pPr algn="just">
                <a:lnSpc>
                  <a:spcPts val="2240"/>
                </a:lnSpc>
              </a:pPr>
              <a:r>
                <a:rPr lang="en-US" sz="2000" spc="-78">
                  <a:solidFill>
                    <a:srgbClr val="000000"/>
                  </a:solidFill>
                  <a:latin typeface="Calibri (MS)"/>
                  <a:ea typeface="Calibri (MS)"/>
                  <a:cs typeface="Calibri (MS)"/>
                  <a:sym typeface="Calibri (MS)"/>
                </a:rPr>
                <a:t>                     </a:t>
              </a:r>
              <a:r>
                <a:rPr lang="en-US" sz="2000" spc="-78">
                  <a:solidFill>
                    <a:srgbClr val="000000"/>
                  </a:solidFill>
                  <a:latin typeface="Calibri (MS)"/>
                  <a:ea typeface="Calibri (MS)"/>
                  <a:cs typeface="Calibri (MS)"/>
                  <a:sym typeface="Calibri (MS)"/>
                </a:rPr>
                <a:t>Ensure that combined modules (vehicle movement, signal control, and display) work together smoothly.</a:t>
              </a:r>
            </a:p>
            <a:p>
              <a:pPr algn="just">
                <a:lnSpc>
                  <a:spcPts val="2240"/>
                </a:lnSpc>
              </a:pPr>
            </a:p>
          </p:txBody>
        </p:sp>
      </p:grpSp>
      <p:graphicFrame>
        <p:nvGraphicFramePr>
          <p:cNvPr name="Table 9" id="9"/>
          <p:cNvGraphicFramePr>
            <a:graphicFrameLocks noGrp="true"/>
          </p:cNvGraphicFramePr>
          <p:nvPr/>
        </p:nvGraphicFramePr>
        <p:xfrm>
          <a:off x="685862" y="2188103"/>
          <a:ext cx="8681486" cy="4870046"/>
        </p:xfrm>
        <a:graphic>
          <a:graphicData uri="http://schemas.openxmlformats.org/drawingml/2006/table">
            <a:tbl>
              <a:tblPr/>
              <a:tblGrid>
                <a:gridCol w="2348184"/>
                <a:gridCol w="2889659"/>
                <a:gridCol w="3443644"/>
              </a:tblGrid>
              <a:tr h="650244">
                <a:tc>
                  <a:txBody>
                    <a:bodyPr anchor="t" rtlCol="false"/>
                    <a:lstStyle/>
                    <a:p>
                      <a:pPr algn="ctr">
                        <a:lnSpc>
                          <a:spcPts val="2520"/>
                        </a:lnSpc>
                        <a:defRPr/>
                      </a:pPr>
                      <a:r>
                        <a:rPr lang="en-US" sz="1800" b="true">
                          <a:solidFill>
                            <a:srgbClr val="000000"/>
                          </a:solidFill>
                          <a:latin typeface="Calibri (MS) Bold"/>
                          <a:ea typeface="Calibri (MS) Bold"/>
                          <a:cs typeface="Calibri (MS) Bold"/>
                          <a:sym typeface="Calibri (MS) Bold"/>
                        </a:rPr>
                        <a:t>Integration Area</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CE1E6"/>
                    </a:solidFill>
                  </a:tcPr>
                </a:tc>
                <a:tc>
                  <a:txBody>
                    <a:bodyPr anchor="t" rtlCol="false"/>
                    <a:lstStyle/>
                    <a:p>
                      <a:pPr algn="ctr">
                        <a:lnSpc>
                          <a:spcPts val="2520"/>
                        </a:lnSpc>
                        <a:defRPr/>
                      </a:pPr>
                      <a:r>
                        <a:rPr lang="en-US" sz="1800" b="true">
                          <a:solidFill>
                            <a:srgbClr val="000000"/>
                          </a:solidFill>
                          <a:latin typeface="Calibri (MS) Bold"/>
                          <a:ea typeface="Calibri (MS) Bold"/>
                          <a:cs typeface="Calibri (MS) Bold"/>
                          <a:sym typeface="Calibri (MS) Bold"/>
                        </a:rPr>
                        <a:t>Scenario</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CE1E6"/>
                    </a:solidFill>
                  </a:tcPr>
                </a:tc>
                <a:tc>
                  <a:txBody>
                    <a:bodyPr anchor="t" rtlCol="false"/>
                    <a:lstStyle/>
                    <a:p>
                      <a:pPr algn="ctr">
                        <a:lnSpc>
                          <a:spcPts val="2520"/>
                        </a:lnSpc>
                        <a:defRPr/>
                      </a:pPr>
                      <a:r>
                        <a:rPr lang="en-US" sz="1800" b="true">
                          <a:solidFill>
                            <a:srgbClr val="000000"/>
                          </a:solidFill>
                          <a:latin typeface="Calibri (MS) Bold"/>
                          <a:ea typeface="Calibri (MS) Bold"/>
                          <a:cs typeface="Calibri (MS) Bold"/>
                          <a:sym typeface="Calibri (MS) Bold"/>
                        </a:rPr>
                        <a:t>Expected Result</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CE1E6"/>
                    </a:solidFill>
                  </a:tcPr>
                </a:tc>
              </a:tr>
              <a:tr h="927553">
                <a:tc>
                  <a:txBody>
                    <a:bodyPr anchor="t" rtlCol="false"/>
                    <a:lstStyle/>
                    <a:p>
                      <a:pPr algn="ctr">
                        <a:lnSpc>
                          <a:spcPts val="2380"/>
                        </a:lnSpc>
                        <a:defRPr/>
                      </a:pPr>
                      <a:r>
                        <a:rPr lang="en-US" sz="1700">
                          <a:solidFill>
                            <a:srgbClr val="000000"/>
                          </a:solidFill>
                          <a:latin typeface="Calibri (MS)"/>
                          <a:ea typeface="Calibri (MS)"/>
                          <a:cs typeface="Calibri (MS)"/>
                          <a:sym typeface="Calibri (MS)"/>
                        </a:rPr>
                        <a:t>Signal + Vehicle Sync</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Calibri (MS)"/>
                          <a:ea typeface="Calibri (MS)"/>
                          <a:cs typeface="Calibri (MS)"/>
                          <a:sym typeface="Calibri (MS)"/>
                        </a:rPr>
                        <a:t>Vehicles move only when signals are green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Calibri (MS)"/>
                          <a:ea typeface="Calibri (MS)"/>
                          <a:cs typeface="Calibri (MS)"/>
                          <a:sym typeface="Calibri (MS)"/>
                        </a:rPr>
                        <a:t>No vehicles pass during red signals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97416">
                <a:tc>
                  <a:txBody>
                    <a:bodyPr anchor="t" rtlCol="false"/>
                    <a:lstStyle/>
                    <a:p>
                      <a:pPr algn="ctr">
                        <a:lnSpc>
                          <a:spcPts val="2380"/>
                        </a:lnSpc>
                        <a:defRPr/>
                      </a:pPr>
                      <a:r>
                        <a:rPr lang="en-US" sz="1700">
                          <a:solidFill>
                            <a:srgbClr val="000000"/>
                          </a:solidFill>
                          <a:latin typeface="Calibri (MS)"/>
                          <a:ea typeface="Calibri (MS)"/>
                          <a:cs typeface="Calibri (MS)"/>
                          <a:sym typeface="Calibri (MS)"/>
                        </a:rPr>
                        <a:t>Display + Movement</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Calibri (MS)"/>
                          <a:ea typeface="Calibri (MS)"/>
                          <a:cs typeface="Calibri (MS)"/>
                          <a:sym typeface="Calibri (MS)"/>
                        </a:rPr>
                        <a:t>Vehicle positions update correctly on screen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Calibri (MS)"/>
                          <a:ea typeface="Calibri (MS)"/>
                          <a:cs typeface="Calibri (MS)"/>
                          <a:sym typeface="Calibri (MS)"/>
                        </a:rPr>
                        <a:t>Smooth animation, no overlap or glitches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97416">
                <a:tc>
                  <a:txBody>
                    <a:bodyPr anchor="t" rtlCol="false"/>
                    <a:lstStyle/>
                    <a:p>
                      <a:pPr algn="ctr">
                        <a:lnSpc>
                          <a:spcPts val="2380"/>
                        </a:lnSpc>
                        <a:defRPr/>
                      </a:pPr>
                      <a:r>
                        <a:rPr lang="en-US" sz="1700">
                          <a:solidFill>
                            <a:srgbClr val="000000"/>
                          </a:solidFill>
                          <a:latin typeface="Calibri (MS)"/>
                          <a:ea typeface="Calibri (MS)"/>
                          <a:cs typeface="Calibri (MS)"/>
                          <a:sym typeface="Calibri (MS)"/>
                        </a:rPr>
                        <a:t>Signal Timing + Density</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Calibri (MS)"/>
                          <a:ea typeface="Calibri (MS)"/>
                          <a:cs typeface="Calibri (MS)"/>
                          <a:sym typeface="Calibri (MS)"/>
                        </a:rPr>
                        <a:t>Adjust green time based on number of waiting vehicles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Calibri (MS)"/>
                          <a:ea typeface="Calibri (MS)"/>
                          <a:cs typeface="Calibri (MS)"/>
                          <a:sym typeface="Calibri (MS)"/>
                        </a:rPr>
                        <a:t>More green time for high-density lanes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97416">
                <a:tc>
                  <a:txBody>
                    <a:bodyPr anchor="t" rtlCol="false"/>
                    <a:lstStyle/>
                    <a:p>
                      <a:pPr algn="ctr">
                        <a:lnSpc>
                          <a:spcPts val="2380"/>
                        </a:lnSpc>
                        <a:defRPr/>
                      </a:pPr>
                      <a:r>
                        <a:rPr lang="en-US" sz="1700">
                          <a:solidFill>
                            <a:srgbClr val="000000"/>
                          </a:solidFill>
                          <a:latin typeface="Calibri (MS)"/>
                          <a:ea typeface="Calibri (MS)"/>
                          <a:cs typeface="Calibri (MS)"/>
                          <a:sym typeface="Calibri (MS)"/>
                        </a:rPr>
                        <a:t>Thread Synchronization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Calibri (MS)"/>
                          <a:ea typeface="Calibri (MS)"/>
                          <a:cs typeface="Calibri (MS)"/>
                          <a:sym typeface="Calibri (MS)"/>
                        </a:rPr>
                        <a:t>Multiple threads run without crashing or freezing</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Calibri (MS)"/>
                          <a:ea typeface="Calibri (MS)"/>
                          <a:cs typeface="Calibri (MS)"/>
                          <a:sym typeface="Calibri (MS)"/>
                        </a:rPr>
                        <a:t>Simulation runs smoothly without lag</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5032"/>
                </a:lnSpc>
              </a:pPr>
              <a:r>
                <a:rPr lang="en-US" sz="4193" b="true">
                  <a:solidFill>
                    <a:srgbClr val="000000"/>
                  </a:solidFill>
                  <a:latin typeface="Calibri (MS) Bold"/>
                  <a:ea typeface="Calibri (MS) Bold"/>
                  <a:cs typeface="Calibri (MS) Bold"/>
                  <a:sym typeface="Calibri (MS) Bold"/>
                </a:rPr>
                <a:t>Testing</a:t>
              </a:r>
            </a:p>
          </p:txBody>
        </p:sp>
      </p:grpSp>
      <p:sp>
        <p:nvSpPr>
          <p:cNvPr name="AutoShape 5" id="5"/>
          <p:cNvSpPr/>
          <p:nvPr/>
        </p:nvSpPr>
        <p:spPr>
          <a:xfrm flipV="true">
            <a:off x="487680" y="966073"/>
            <a:ext cx="8778240"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838262" y="1411881"/>
            <a:ext cx="8183818" cy="1335113"/>
            <a:chOff x="0" y="0"/>
            <a:chExt cx="10911758" cy="1780150"/>
          </a:xfrm>
        </p:grpSpPr>
        <p:sp>
          <p:nvSpPr>
            <p:cNvPr name="Freeform 7" id="7"/>
            <p:cNvSpPr/>
            <p:nvPr/>
          </p:nvSpPr>
          <p:spPr>
            <a:xfrm flipH="false" flipV="false" rot="0">
              <a:off x="0" y="0"/>
              <a:ext cx="10911757" cy="1780150"/>
            </a:xfrm>
            <a:custGeom>
              <a:avLst/>
              <a:gdLst/>
              <a:ahLst/>
              <a:cxnLst/>
              <a:rect r="r" b="b" t="t" l="l"/>
              <a:pathLst>
                <a:path h="1780150" w="10911757">
                  <a:moveTo>
                    <a:pt x="0" y="0"/>
                  </a:moveTo>
                  <a:lnTo>
                    <a:pt x="10911757" y="0"/>
                  </a:lnTo>
                  <a:lnTo>
                    <a:pt x="10911757" y="1780150"/>
                  </a:lnTo>
                  <a:lnTo>
                    <a:pt x="0" y="1780150"/>
                  </a:lnTo>
                  <a:close/>
                </a:path>
              </a:pathLst>
            </a:custGeom>
            <a:solidFill>
              <a:srgbClr val="000000">
                <a:alpha val="0"/>
              </a:srgbClr>
            </a:solidFill>
          </p:spPr>
        </p:sp>
        <p:sp>
          <p:nvSpPr>
            <p:cNvPr name="TextBox 8" id="8"/>
            <p:cNvSpPr txBox="true"/>
            <p:nvPr/>
          </p:nvSpPr>
          <p:spPr>
            <a:xfrm>
              <a:off x="0" y="-28575"/>
              <a:ext cx="10911758" cy="1808725"/>
            </a:xfrm>
            <a:prstGeom prst="rect">
              <a:avLst/>
            </a:prstGeom>
          </p:spPr>
          <p:txBody>
            <a:bodyPr anchor="t" rtlCol="false" tIns="0" lIns="0" bIns="0" rIns="0"/>
            <a:lstStyle/>
            <a:p>
              <a:pPr algn="just">
                <a:lnSpc>
                  <a:spcPts val="2352"/>
                </a:lnSpc>
              </a:pPr>
              <a:r>
                <a:rPr lang="en-US" b="true" sz="2100" spc="-81">
                  <a:solidFill>
                    <a:srgbClr val="000000"/>
                  </a:solidFill>
                  <a:latin typeface="Calibri (MS) Bold"/>
                  <a:ea typeface="Calibri (MS) Bold"/>
                  <a:cs typeface="Calibri (MS) Bold"/>
                  <a:sym typeface="Calibri (MS) Bold"/>
                </a:rPr>
                <a:t>3. System Testing :</a:t>
              </a:r>
            </a:p>
            <a:p>
              <a:pPr algn="just">
                <a:lnSpc>
                  <a:spcPts val="2240"/>
                </a:lnSpc>
              </a:pPr>
              <a:r>
                <a:rPr lang="en-US" sz="2000" spc="-78">
                  <a:solidFill>
                    <a:srgbClr val="000000"/>
                  </a:solidFill>
                  <a:latin typeface="Calibri (MS)"/>
                  <a:ea typeface="Calibri (MS)"/>
                  <a:cs typeface="Calibri (MS)"/>
                  <a:sym typeface="Calibri (MS)"/>
                </a:rPr>
                <a:t>             </a:t>
              </a:r>
              <a:r>
                <a:rPr lang="en-US" sz="2000" spc="-78">
                  <a:solidFill>
                    <a:srgbClr val="000000"/>
                  </a:solidFill>
                  <a:latin typeface="Calibri (MS)"/>
                  <a:ea typeface="Calibri (MS)"/>
                  <a:cs typeface="Calibri (MS)"/>
                  <a:sym typeface="Calibri (MS)"/>
                </a:rPr>
                <a:t>Test the full simulation to ensure it behaves correctly under different traffic scenarios.</a:t>
              </a:r>
            </a:p>
            <a:p>
              <a:pPr algn="just">
                <a:lnSpc>
                  <a:spcPts val="2240"/>
                </a:lnSpc>
              </a:pPr>
            </a:p>
          </p:txBody>
        </p:sp>
      </p:grpSp>
      <p:graphicFrame>
        <p:nvGraphicFramePr>
          <p:cNvPr name="Table 9" id="9"/>
          <p:cNvGraphicFramePr>
            <a:graphicFrameLocks noGrp="true"/>
          </p:cNvGraphicFramePr>
          <p:nvPr/>
        </p:nvGraphicFramePr>
        <p:xfrm>
          <a:off x="864646" y="2366939"/>
          <a:ext cx="8157434" cy="4362450"/>
        </p:xfrm>
        <a:graphic>
          <a:graphicData uri="http://schemas.openxmlformats.org/drawingml/2006/table">
            <a:tbl>
              <a:tblPr/>
              <a:tblGrid>
                <a:gridCol w="1940737"/>
                <a:gridCol w="2440615"/>
                <a:gridCol w="3776083"/>
              </a:tblGrid>
              <a:tr h="650541">
                <a:tc>
                  <a:txBody>
                    <a:bodyPr anchor="t" rtlCol="false"/>
                    <a:lstStyle/>
                    <a:p>
                      <a:pPr algn="l">
                        <a:lnSpc>
                          <a:spcPts val="2520"/>
                        </a:lnSpc>
                        <a:defRPr/>
                      </a:pPr>
                      <a:r>
                        <a:rPr lang="en-US" sz="1800" b="true">
                          <a:solidFill>
                            <a:srgbClr val="000000"/>
                          </a:solidFill>
                          <a:latin typeface="Calibri (MS) Bold"/>
                          <a:ea typeface="Calibri (MS) Bold"/>
                          <a:cs typeface="Calibri (MS) Bold"/>
                          <a:sym typeface="Calibri (MS) Bold"/>
                        </a:rPr>
                        <a:t>Scenario</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CE1E6"/>
                    </a:solidFill>
                  </a:tcPr>
                </a:tc>
                <a:tc>
                  <a:txBody>
                    <a:bodyPr anchor="t" rtlCol="false"/>
                    <a:lstStyle/>
                    <a:p>
                      <a:pPr algn="l">
                        <a:lnSpc>
                          <a:spcPts val="2520"/>
                        </a:lnSpc>
                        <a:defRPr/>
                      </a:pPr>
                      <a:r>
                        <a:rPr lang="en-US" sz="1800" b="true">
                          <a:solidFill>
                            <a:srgbClr val="000000"/>
                          </a:solidFill>
                          <a:latin typeface="Calibri (MS) Bold"/>
                          <a:ea typeface="Calibri (MS) Bold"/>
                          <a:cs typeface="Calibri (MS) Bold"/>
                          <a:sym typeface="Calibri (MS) Bold"/>
                        </a:rPr>
                        <a:t>Description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CE1E6"/>
                    </a:solidFill>
                  </a:tcPr>
                </a:tc>
                <a:tc>
                  <a:txBody>
                    <a:bodyPr anchor="t" rtlCol="false"/>
                    <a:lstStyle/>
                    <a:p>
                      <a:pPr algn="l">
                        <a:lnSpc>
                          <a:spcPts val="2520"/>
                        </a:lnSpc>
                        <a:defRPr/>
                      </a:pPr>
                      <a:r>
                        <a:rPr lang="en-US" sz="1800" b="true">
                          <a:solidFill>
                            <a:srgbClr val="000000"/>
                          </a:solidFill>
                          <a:latin typeface="Calibri (MS) Bold"/>
                          <a:ea typeface="Calibri (MS) Bold"/>
                          <a:cs typeface="Calibri (MS) Bold"/>
                          <a:sym typeface="Calibri (MS) Bold"/>
                        </a:rPr>
                        <a:t>Expected Result</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CE1E6"/>
                    </a:solidFill>
                  </a:tcPr>
                </a:tc>
              </a:tr>
              <a:tr h="927977">
                <a:tc>
                  <a:txBody>
                    <a:bodyPr anchor="t" rtlCol="false"/>
                    <a:lstStyle/>
                    <a:p>
                      <a:pPr algn="l">
                        <a:lnSpc>
                          <a:spcPts val="2380"/>
                        </a:lnSpc>
                        <a:defRPr/>
                      </a:pPr>
                      <a:r>
                        <a:rPr lang="en-US" sz="1700">
                          <a:solidFill>
                            <a:srgbClr val="000000"/>
                          </a:solidFill>
                          <a:latin typeface="Calibri (MS)"/>
                          <a:ea typeface="Calibri (MS)"/>
                          <a:cs typeface="Calibri (MS)"/>
                          <a:sym typeface="Calibri (MS)"/>
                        </a:rPr>
                        <a:t>Low Traffic Volume</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Few vehicles in each lane</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Short green lights, low wait times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27977">
                <a:tc>
                  <a:txBody>
                    <a:bodyPr anchor="t" rtlCol="false"/>
                    <a:lstStyle/>
                    <a:p>
                      <a:pPr algn="l">
                        <a:lnSpc>
                          <a:spcPts val="2380"/>
                        </a:lnSpc>
                        <a:defRPr/>
                      </a:pPr>
                      <a:r>
                        <a:rPr lang="en-US" sz="1700">
                          <a:solidFill>
                            <a:srgbClr val="000000"/>
                          </a:solidFill>
                          <a:latin typeface="Calibri (MS)"/>
                          <a:ea typeface="Calibri (MS)"/>
                          <a:cs typeface="Calibri (MS)"/>
                          <a:sym typeface="Calibri (MS)"/>
                        </a:rPr>
                        <a:t>High Traffic Volume</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Many vehicles in one or more lanes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Long green lights, reduced congestion</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27977">
                <a:tc>
                  <a:txBody>
                    <a:bodyPr anchor="t" rtlCol="false"/>
                    <a:lstStyle/>
                    <a:p>
                      <a:pPr algn="l">
                        <a:lnSpc>
                          <a:spcPts val="2380"/>
                        </a:lnSpc>
                        <a:defRPr/>
                      </a:pPr>
                      <a:r>
                        <a:rPr lang="en-US" sz="1700">
                          <a:solidFill>
                            <a:srgbClr val="000000"/>
                          </a:solidFill>
                          <a:latin typeface="Calibri (MS)"/>
                          <a:ea typeface="Calibri (MS)"/>
                          <a:cs typeface="Calibri (MS)"/>
                          <a:sym typeface="Calibri (MS)"/>
                        </a:rPr>
                        <a:t>No Vehicles in Lane</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Empty lane with signal control</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System prioritizes lanes with traffic</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927977">
                <a:tc>
                  <a:txBody>
                    <a:bodyPr anchor="t" rtlCol="false"/>
                    <a:lstStyle/>
                    <a:p>
                      <a:pPr algn="l">
                        <a:lnSpc>
                          <a:spcPts val="2380"/>
                        </a:lnSpc>
                        <a:defRPr/>
                      </a:pPr>
                      <a:r>
                        <a:rPr lang="en-US" sz="1700">
                          <a:solidFill>
                            <a:srgbClr val="000000"/>
                          </a:solidFill>
                          <a:latin typeface="Calibri (MS)"/>
                          <a:ea typeface="Calibri (MS)"/>
                          <a:cs typeface="Calibri (MS)"/>
                          <a:sym typeface="Calibri (MS)"/>
                        </a:rPr>
                        <a:t>Pedestrian Mode (Optional)</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Simulate pedestrian crossing request</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380"/>
                        </a:lnSpc>
                        <a:defRPr/>
                      </a:pPr>
                      <a:r>
                        <a:rPr lang="en-US" sz="1700">
                          <a:solidFill>
                            <a:srgbClr val="000000"/>
                          </a:solidFill>
                          <a:latin typeface="Calibri (MS)"/>
                          <a:ea typeface="Calibri (MS)"/>
                          <a:cs typeface="Calibri (MS)"/>
                          <a:sym typeface="Calibri (MS)"/>
                        </a:rPr>
                        <a:t>Vehicles stop, pedestrian phase activates</a:t>
                      </a:r>
                      <a:endParaRPr lang="en-US" sz="1100"/>
                    </a:p>
                  </a:txBody>
                  <a:tcPr marL="133350" marR="133350" marT="133350" marB="1333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104775"/>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5032"/>
                </a:lnSpc>
              </a:pPr>
              <a:r>
                <a:rPr lang="en-US" sz="4193" b="true">
                  <a:solidFill>
                    <a:srgbClr val="000000"/>
                  </a:solidFill>
                  <a:latin typeface="Calibri (MS) Bold"/>
                  <a:ea typeface="Calibri (MS) Bold"/>
                  <a:cs typeface="Calibri (MS) Bold"/>
                  <a:sym typeface="Calibri (MS) Bold"/>
                </a:rPr>
                <a:t>Testing</a:t>
              </a:r>
            </a:p>
          </p:txBody>
        </p:sp>
      </p:grpSp>
      <p:sp>
        <p:nvSpPr>
          <p:cNvPr name="AutoShape 5" id="5"/>
          <p:cNvSpPr/>
          <p:nvPr/>
        </p:nvSpPr>
        <p:spPr>
          <a:xfrm>
            <a:off x="487680" y="967850"/>
            <a:ext cx="8778240"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731520" y="1072625"/>
            <a:ext cx="8519182" cy="1350011"/>
            <a:chOff x="0" y="0"/>
            <a:chExt cx="11358909" cy="1800015"/>
          </a:xfrm>
        </p:grpSpPr>
        <p:sp>
          <p:nvSpPr>
            <p:cNvPr name="Freeform 7" id="7"/>
            <p:cNvSpPr/>
            <p:nvPr/>
          </p:nvSpPr>
          <p:spPr>
            <a:xfrm flipH="false" flipV="false" rot="0">
              <a:off x="0" y="0"/>
              <a:ext cx="11358908" cy="1800015"/>
            </a:xfrm>
            <a:custGeom>
              <a:avLst/>
              <a:gdLst/>
              <a:ahLst/>
              <a:cxnLst/>
              <a:rect r="r" b="b" t="t" l="l"/>
              <a:pathLst>
                <a:path h="1800015" w="11358908">
                  <a:moveTo>
                    <a:pt x="0" y="0"/>
                  </a:moveTo>
                  <a:lnTo>
                    <a:pt x="11358908" y="0"/>
                  </a:lnTo>
                  <a:lnTo>
                    <a:pt x="11358908" y="1800015"/>
                  </a:lnTo>
                  <a:lnTo>
                    <a:pt x="0" y="1800015"/>
                  </a:lnTo>
                  <a:close/>
                </a:path>
              </a:pathLst>
            </a:custGeom>
            <a:solidFill>
              <a:srgbClr val="000000">
                <a:alpha val="0"/>
              </a:srgbClr>
            </a:solidFill>
          </p:spPr>
        </p:sp>
        <p:sp>
          <p:nvSpPr>
            <p:cNvPr name="TextBox 8" id="8"/>
            <p:cNvSpPr txBox="true"/>
            <p:nvPr/>
          </p:nvSpPr>
          <p:spPr>
            <a:xfrm>
              <a:off x="0" y="-28575"/>
              <a:ext cx="11358909" cy="1828590"/>
            </a:xfrm>
            <a:prstGeom prst="rect">
              <a:avLst/>
            </a:prstGeom>
          </p:spPr>
          <p:txBody>
            <a:bodyPr anchor="t" rtlCol="false" tIns="0" lIns="0" bIns="0" rIns="0"/>
            <a:lstStyle/>
            <a:p>
              <a:pPr algn="just">
                <a:lnSpc>
                  <a:spcPts val="2352"/>
                </a:lnSpc>
              </a:pPr>
              <a:r>
                <a:rPr lang="en-US" b="true" sz="2100" spc="-81">
                  <a:solidFill>
                    <a:srgbClr val="000000"/>
                  </a:solidFill>
                  <a:latin typeface="Calibri (MS) Bold"/>
                  <a:ea typeface="Calibri (MS) Bold"/>
                  <a:cs typeface="Calibri (MS) Bold"/>
                  <a:sym typeface="Calibri (MS) Bold"/>
                </a:rPr>
                <a:t>4. Performance Testing :</a:t>
              </a:r>
            </a:p>
            <a:p>
              <a:pPr algn="just">
                <a:lnSpc>
                  <a:spcPts val="2240"/>
                </a:lnSpc>
              </a:pPr>
              <a:r>
                <a:rPr lang="en-US" sz="2000" spc="-78">
                  <a:solidFill>
                    <a:srgbClr val="000000"/>
                  </a:solidFill>
                  <a:latin typeface="Calibri (MS)"/>
                  <a:ea typeface="Calibri (MS)"/>
                  <a:cs typeface="Calibri (MS)"/>
                  <a:sym typeface="Calibri (MS)"/>
                </a:rPr>
                <a:t>                      </a:t>
              </a:r>
              <a:r>
                <a:rPr lang="en-US" sz="2000" spc="-78">
                  <a:solidFill>
                    <a:srgbClr val="000000"/>
                  </a:solidFill>
                  <a:latin typeface="Calibri (MS)"/>
                  <a:ea typeface="Calibri (MS)"/>
                  <a:cs typeface="Calibri (MS)"/>
                  <a:sym typeface="Calibri (MS)"/>
                </a:rPr>
                <a:t>Ensure the simulation can handle load and maintain real-time performance.</a:t>
              </a:r>
            </a:p>
            <a:p>
              <a:pPr algn="just">
                <a:lnSpc>
                  <a:spcPts val="2240"/>
                </a:lnSpc>
              </a:pPr>
            </a:p>
          </p:txBody>
        </p:sp>
      </p:grpSp>
      <p:graphicFrame>
        <p:nvGraphicFramePr>
          <p:cNvPr name="Table 9" id="9"/>
          <p:cNvGraphicFramePr>
            <a:graphicFrameLocks noGrp="true"/>
          </p:cNvGraphicFramePr>
          <p:nvPr/>
        </p:nvGraphicFramePr>
        <p:xfrm>
          <a:off x="731520" y="1994186"/>
          <a:ext cx="8353474" cy="4117658"/>
        </p:xfrm>
        <a:graphic>
          <a:graphicData uri="http://schemas.openxmlformats.org/drawingml/2006/table">
            <a:tbl>
              <a:tblPr/>
              <a:tblGrid>
                <a:gridCol w="2202440"/>
                <a:gridCol w="2244486"/>
                <a:gridCol w="3906548"/>
              </a:tblGrid>
              <a:tr h="730135">
                <a:tc>
                  <a:txBody>
                    <a:bodyPr anchor="t" rtlCol="false"/>
                    <a:lstStyle/>
                    <a:p>
                      <a:pPr algn="ctr">
                        <a:lnSpc>
                          <a:spcPts val="2659"/>
                        </a:lnSpc>
                        <a:defRPr/>
                      </a:pPr>
                      <a:r>
                        <a:rPr lang="en-US" sz="1899" b="true">
                          <a:solidFill>
                            <a:srgbClr val="000000"/>
                          </a:solidFill>
                          <a:latin typeface="Calibri (MS) Bold"/>
                          <a:ea typeface="Calibri (MS) Bold"/>
                          <a:cs typeface="Calibri (MS) Bold"/>
                          <a:sym typeface="Calibri (MS) Bold"/>
                        </a:rPr>
                        <a:t>Metric</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CE1E6"/>
                    </a:solidFill>
                  </a:tcPr>
                </a:tc>
                <a:tc>
                  <a:txBody>
                    <a:bodyPr anchor="t" rtlCol="false"/>
                    <a:lstStyle/>
                    <a:p>
                      <a:pPr algn="ctr">
                        <a:lnSpc>
                          <a:spcPts val="2659"/>
                        </a:lnSpc>
                        <a:defRPr/>
                      </a:pPr>
                      <a:r>
                        <a:rPr lang="en-US" sz="1899" b="true">
                          <a:solidFill>
                            <a:srgbClr val="000000"/>
                          </a:solidFill>
                          <a:latin typeface="Calibri (MS) Bold"/>
                          <a:ea typeface="Calibri (MS) Bold"/>
                          <a:cs typeface="Calibri (MS) Bold"/>
                          <a:sym typeface="Calibri (MS) Bold"/>
                        </a:rPr>
                        <a:t>Test Case</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CE1E6"/>
                    </a:solidFill>
                  </a:tcPr>
                </a:tc>
                <a:tc>
                  <a:txBody>
                    <a:bodyPr anchor="t" rtlCol="false"/>
                    <a:lstStyle/>
                    <a:p>
                      <a:pPr algn="ctr">
                        <a:lnSpc>
                          <a:spcPts val="2659"/>
                        </a:lnSpc>
                        <a:defRPr/>
                      </a:pPr>
                      <a:r>
                        <a:rPr lang="en-US" sz="1899" b="true">
                          <a:solidFill>
                            <a:srgbClr val="000000"/>
                          </a:solidFill>
                          <a:latin typeface="Calibri (MS) Bold"/>
                          <a:ea typeface="Calibri (MS) Bold"/>
                          <a:cs typeface="Calibri (MS) Bold"/>
                          <a:sym typeface="Calibri (MS) Bold"/>
                        </a:rPr>
                        <a:t>Success Criteria</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5CE1E6"/>
                    </a:solidFill>
                  </a:tcPr>
                </a:tc>
              </a:tr>
              <a:tr h="1023912">
                <a:tc>
                  <a:txBody>
                    <a:bodyPr anchor="t" rtlCol="false"/>
                    <a:lstStyle/>
                    <a:p>
                      <a:pPr algn="ctr">
                        <a:lnSpc>
                          <a:spcPts val="2520"/>
                        </a:lnSpc>
                        <a:defRPr/>
                      </a:pPr>
                      <a:r>
                        <a:rPr lang="en-US" sz="1800">
                          <a:solidFill>
                            <a:srgbClr val="000000"/>
                          </a:solidFill>
                          <a:latin typeface="Calibri (MS)"/>
                          <a:ea typeface="Calibri (MS)"/>
                          <a:cs typeface="Calibri (MS)"/>
                          <a:sym typeface="Calibri (MS)"/>
                        </a:rPr>
                        <a:t>Frame Rate Stability</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libri (MS)"/>
                          <a:ea typeface="Calibri (MS)"/>
                          <a:cs typeface="Calibri (MS)"/>
                          <a:sym typeface="Calibri (MS)"/>
                        </a:rPr>
                        <a:t>Run simulation for 10+ minutes</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libri (MS)"/>
                          <a:ea typeface="Calibri (MS)"/>
                          <a:cs typeface="Calibri (MS)"/>
                          <a:sym typeface="Calibri (MS)"/>
                        </a:rPr>
                        <a:t>Frame rate remains consistent (e.g., 60 FPS)</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23912">
                <a:tc>
                  <a:txBody>
                    <a:bodyPr anchor="t" rtlCol="false"/>
                    <a:lstStyle/>
                    <a:p>
                      <a:pPr algn="ctr">
                        <a:lnSpc>
                          <a:spcPts val="2520"/>
                        </a:lnSpc>
                        <a:defRPr/>
                      </a:pPr>
                      <a:r>
                        <a:rPr lang="en-US" sz="1800">
                          <a:solidFill>
                            <a:srgbClr val="000000"/>
                          </a:solidFill>
                          <a:latin typeface="Calibri (MS)"/>
                          <a:ea typeface="Calibri (MS)"/>
                          <a:cs typeface="Calibri (MS)"/>
                          <a:sym typeface="Calibri (MS)"/>
                        </a:rPr>
                        <a:t>Memory Usage</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libri (MS)"/>
                          <a:ea typeface="Calibri (MS)"/>
                          <a:cs typeface="Calibri (MS)"/>
                          <a:sym typeface="Calibri (MS)"/>
                        </a:rPr>
                        <a:t>Monitor usage during simulation</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libri (MS)"/>
                          <a:ea typeface="Calibri (MS)"/>
                          <a:cs typeface="Calibri (MS)"/>
                          <a:sym typeface="Calibri (MS)"/>
                        </a:rPr>
                        <a:t>Memory stays within acceptable range</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339698">
                <a:tc>
                  <a:txBody>
                    <a:bodyPr anchor="t" rtlCol="false"/>
                    <a:lstStyle/>
                    <a:p>
                      <a:pPr algn="ctr">
                        <a:lnSpc>
                          <a:spcPts val="2520"/>
                        </a:lnSpc>
                        <a:defRPr/>
                      </a:pPr>
                      <a:r>
                        <a:rPr lang="en-US" sz="1800">
                          <a:solidFill>
                            <a:srgbClr val="000000"/>
                          </a:solidFill>
                          <a:latin typeface="Calibri (MS)"/>
                          <a:ea typeface="Calibri (MS)"/>
                          <a:cs typeface="Calibri (MS)"/>
                          <a:sym typeface="Calibri (MS)"/>
                        </a:rPr>
                        <a:t>Thread Efficiency</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libri (MS)"/>
                          <a:ea typeface="Calibri (MS)"/>
                          <a:cs typeface="Calibri (MS)"/>
                          <a:sym typeface="Calibri (MS)"/>
                        </a:rPr>
                        <a:t>Monitor thread switching and responsiveness</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libri (MS)"/>
                          <a:ea typeface="Calibri (MS)"/>
                          <a:cs typeface="Calibri (MS)"/>
                          <a:sym typeface="Calibri (MS)"/>
                        </a:rPr>
                        <a:t>No thread deadlocks or significant delays</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116364"/>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5032"/>
                </a:lnSpc>
              </a:pPr>
              <a:r>
                <a:rPr lang="en-US" sz="4193" b="true">
                  <a:solidFill>
                    <a:srgbClr val="000000"/>
                  </a:solidFill>
                  <a:latin typeface="Calibri (MS) Bold"/>
                  <a:ea typeface="Calibri (MS) Bold"/>
                  <a:cs typeface="Calibri (MS) Bold"/>
                  <a:sym typeface="Calibri (MS) Bold"/>
                </a:rPr>
                <a:t>Testing</a:t>
              </a:r>
            </a:p>
          </p:txBody>
        </p:sp>
      </p:grpSp>
      <p:sp>
        <p:nvSpPr>
          <p:cNvPr name="AutoShape 5" id="5"/>
          <p:cNvSpPr/>
          <p:nvPr/>
        </p:nvSpPr>
        <p:spPr>
          <a:xfrm>
            <a:off x="487680" y="1102836"/>
            <a:ext cx="8778240"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890264" y="1344214"/>
            <a:ext cx="8519182" cy="1350011"/>
            <a:chOff x="0" y="0"/>
            <a:chExt cx="11358909" cy="1800015"/>
          </a:xfrm>
        </p:grpSpPr>
        <p:sp>
          <p:nvSpPr>
            <p:cNvPr name="Freeform 7" id="7"/>
            <p:cNvSpPr/>
            <p:nvPr/>
          </p:nvSpPr>
          <p:spPr>
            <a:xfrm flipH="false" flipV="false" rot="0">
              <a:off x="0" y="0"/>
              <a:ext cx="11358908" cy="1800015"/>
            </a:xfrm>
            <a:custGeom>
              <a:avLst/>
              <a:gdLst/>
              <a:ahLst/>
              <a:cxnLst/>
              <a:rect r="r" b="b" t="t" l="l"/>
              <a:pathLst>
                <a:path h="1800015" w="11358908">
                  <a:moveTo>
                    <a:pt x="0" y="0"/>
                  </a:moveTo>
                  <a:lnTo>
                    <a:pt x="11358908" y="0"/>
                  </a:lnTo>
                  <a:lnTo>
                    <a:pt x="11358908" y="1800015"/>
                  </a:lnTo>
                  <a:lnTo>
                    <a:pt x="0" y="1800015"/>
                  </a:lnTo>
                  <a:close/>
                </a:path>
              </a:pathLst>
            </a:custGeom>
            <a:solidFill>
              <a:srgbClr val="000000">
                <a:alpha val="0"/>
              </a:srgbClr>
            </a:solidFill>
          </p:spPr>
        </p:sp>
        <p:sp>
          <p:nvSpPr>
            <p:cNvPr name="TextBox 8" id="8"/>
            <p:cNvSpPr txBox="true"/>
            <p:nvPr/>
          </p:nvSpPr>
          <p:spPr>
            <a:xfrm>
              <a:off x="0" y="-28575"/>
              <a:ext cx="11358909" cy="1828590"/>
            </a:xfrm>
            <a:prstGeom prst="rect">
              <a:avLst/>
            </a:prstGeom>
          </p:spPr>
          <p:txBody>
            <a:bodyPr anchor="t" rtlCol="false" tIns="0" lIns="0" bIns="0" rIns="0"/>
            <a:lstStyle/>
            <a:p>
              <a:pPr algn="just">
                <a:lnSpc>
                  <a:spcPts val="2352"/>
                </a:lnSpc>
              </a:pPr>
              <a:r>
                <a:rPr lang="en-US" b="true" sz="2100" spc="-81">
                  <a:solidFill>
                    <a:srgbClr val="000000"/>
                  </a:solidFill>
                  <a:latin typeface="Calibri (MS) Bold"/>
                  <a:ea typeface="Calibri (MS) Bold"/>
                  <a:cs typeface="Calibri (MS) Bold"/>
                  <a:sym typeface="Calibri (MS) Bold"/>
                </a:rPr>
                <a:t>5. Usability Testing  :</a:t>
              </a:r>
            </a:p>
            <a:p>
              <a:pPr algn="just">
                <a:lnSpc>
                  <a:spcPts val="2240"/>
                </a:lnSpc>
              </a:pPr>
              <a:r>
                <a:rPr lang="en-US" sz="2000" spc="-78">
                  <a:solidFill>
                    <a:srgbClr val="000000"/>
                  </a:solidFill>
                  <a:latin typeface="Calibri (MS)"/>
                  <a:ea typeface="Calibri (MS)"/>
                  <a:cs typeface="Calibri (MS)"/>
                  <a:sym typeface="Calibri (MS)"/>
                </a:rPr>
                <a:t>                         </a:t>
              </a:r>
              <a:r>
                <a:rPr lang="en-US" sz="2000" spc="-78">
                  <a:solidFill>
                    <a:srgbClr val="000000"/>
                  </a:solidFill>
                  <a:latin typeface="Calibri (MS)"/>
                  <a:ea typeface="Calibri (MS)"/>
                  <a:cs typeface="Calibri (MS)"/>
                  <a:sym typeface="Calibri (MS)"/>
                </a:rPr>
                <a:t>Optional — observe how a user interacts with the simulation UI.</a:t>
              </a:r>
            </a:p>
            <a:p>
              <a:pPr algn="just">
                <a:lnSpc>
                  <a:spcPts val="2240"/>
                </a:lnSpc>
              </a:pPr>
            </a:p>
          </p:txBody>
        </p:sp>
      </p:grpSp>
      <p:graphicFrame>
        <p:nvGraphicFramePr>
          <p:cNvPr name="Table 9" id="9"/>
          <p:cNvGraphicFramePr>
            <a:graphicFrameLocks noGrp="true"/>
          </p:cNvGraphicFramePr>
          <p:nvPr/>
        </p:nvGraphicFramePr>
        <p:xfrm>
          <a:off x="890264" y="2262164"/>
          <a:ext cx="7973072" cy="3487431"/>
        </p:xfrm>
        <a:graphic>
          <a:graphicData uri="http://schemas.openxmlformats.org/drawingml/2006/table">
            <a:tbl>
              <a:tblPr/>
              <a:tblGrid>
                <a:gridCol w="1775508"/>
                <a:gridCol w="2786868"/>
                <a:gridCol w="3410697"/>
              </a:tblGrid>
              <a:tr h="980868">
                <a:tc>
                  <a:txBody>
                    <a:bodyPr anchor="t" rtlCol="false"/>
                    <a:lstStyle/>
                    <a:p>
                      <a:pPr algn="ctr">
                        <a:lnSpc>
                          <a:spcPts val="2659"/>
                        </a:lnSpc>
                        <a:defRPr/>
                      </a:pPr>
                      <a:r>
                        <a:rPr lang="en-US" sz="1899" b="true">
                          <a:solidFill>
                            <a:srgbClr val="000000"/>
                          </a:solidFill>
                          <a:latin typeface="Calibri (MS) Bold"/>
                          <a:ea typeface="Calibri (MS) Bold"/>
                          <a:cs typeface="Calibri (MS) Bold"/>
                          <a:sym typeface="Calibri (MS) Bold"/>
                        </a:rPr>
                        <a:t>Aspect</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5CE1E6"/>
                    </a:solidFill>
                  </a:tcPr>
                </a:tc>
                <a:tc>
                  <a:txBody>
                    <a:bodyPr anchor="t" rtlCol="false"/>
                    <a:lstStyle/>
                    <a:p>
                      <a:pPr algn="ctr">
                        <a:lnSpc>
                          <a:spcPts val="2659"/>
                        </a:lnSpc>
                        <a:defRPr/>
                      </a:pPr>
                      <a:r>
                        <a:rPr lang="en-US" sz="1899" b="true">
                          <a:solidFill>
                            <a:srgbClr val="000000"/>
                          </a:solidFill>
                          <a:latin typeface="Calibri (MS) Bold"/>
                          <a:ea typeface="Calibri (MS) Bold"/>
                          <a:cs typeface="Calibri (MS) Bold"/>
                          <a:sym typeface="Calibri (MS) Bold"/>
                        </a:rPr>
                        <a:t>Goal</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5CE1E6"/>
                    </a:solidFill>
                  </a:tcPr>
                </a:tc>
                <a:tc>
                  <a:txBody>
                    <a:bodyPr anchor="t" rtlCol="false"/>
                    <a:lstStyle/>
                    <a:p>
                      <a:pPr algn="ctr">
                        <a:lnSpc>
                          <a:spcPts val="2659"/>
                        </a:lnSpc>
                        <a:defRPr/>
                      </a:pPr>
                      <a:r>
                        <a:rPr lang="en-US" sz="1899" b="true">
                          <a:solidFill>
                            <a:srgbClr val="000000"/>
                          </a:solidFill>
                          <a:latin typeface="Calibri (MS) Bold"/>
                          <a:ea typeface="Calibri (MS) Bold"/>
                          <a:cs typeface="Calibri (MS) Bold"/>
                          <a:sym typeface="Calibri (MS) Bold"/>
                        </a:rPr>
                        <a:t>Outcome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5CE1E6"/>
                    </a:solidFill>
                  </a:tcPr>
                </a:tc>
              </a:tr>
              <a:tr h="1411742">
                <a:tc>
                  <a:txBody>
                    <a:bodyPr anchor="t" rtlCol="false"/>
                    <a:lstStyle/>
                    <a:p>
                      <a:pPr algn="ctr">
                        <a:lnSpc>
                          <a:spcPts val="2520"/>
                        </a:lnSpc>
                        <a:defRPr/>
                      </a:pPr>
                      <a:r>
                        <a:rPr lang="en-US" sz="1800">
                          <a:solidFill>
                            <a:srgbClr val="000000"/>
                          </a:solidFill>
                          <a:latin typeface="Calibri (MS)"/>
                          <a:ea typeface="Calibri (MS)"/>
                          <a:cs typeface="Calibri (MS)"/>
                          <a:sym typeface="Calibri (MS)"/>
                        </a:rPr>
                        <a:t>UI Intuitiveness</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libri (MS)"/>
                          <a:ea typeface="Calibri (MS)"/>
                          <a:cs typeface="Calibri (MS)"/>
                          <a:sym typeface="Calibri (MS)"/>
                        </a:rPr>
                        <a:t>Can a new user understand the flow and behavior?</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libri (MS)"/>
                          <a:ea typeface="Calibri (MS)"/>
                          <a:cs typeface="Calibri (MS)"/>
                          <a:sym typeface="Calibri (MS)"/>
                        </a:rPr>
                        <a:t>Clear layout, accurate signal indication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094821">
                <a:tc>
                  <a:txBody>
                    <a:bodyPr anchor="t" rtlCol="false"/>
                    <a:lstStyle/>
                    <a:p>
                      <a:pPr algn="ctr">
                        <a:lnSpc>
                          <a:spcPts val="2520"/>
                        </a:lnSpc>
                        <a:defRPr/>
                      </a:pPr>
                      <a:r>
                        <a:rPr lang="en-US" sz="1800">
                          <a:solidFill>
                            <a:srgbClr val="000000"/>
                          </a:solidFill>
                          <a:latin typeface="Calibri (MS)"/>
                          <a:ea typeface="Calibri (MS)"/>
                          <a:cs typeface="Calibri (MS)"/>
                          <a:sym typeface="Calibri (MS)"/>
                        </a:rPr>
                        <a:t>Realism of Simulation</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libri (MS)"/>
                          <a:ea typeface="Calibri (MS)"/>
                          <a:cs typeface="Calibri (MS)"/>
                          <a:sym typeface="Calibri (MS)"/>
                        </a:rPr>
                        <a:t>Does the behavior feel natural and lifelike?</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libri (MS)"/>
                          <a:ea typeface="Calibri (MS)"/>
                          <a:cs typeface="Calibri (MS)"/>
                          <a:sym typeface="Calibri (MS)"/>
                        </a:rPr>
                        <a:t>Users find traffic flow predictable and realistic</a:t>
                      </a:r>
                      <a:endParaRPr lang="en-US" sz="1100"/>
                    </a:p>
                  </a:txBody>
                  <a:tcPr marL="190500" marR="190500" marT="190500" marB="1905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5040"/>
                </a:lnSpc>
              </a:pPr>
              <a:r>
                <a:rPr lang="en-US" sz="4200" b="true">
                  <a:solidFill>
                    <a:srgbClr val="000000"/>
                  </a:solidFill>
                  <a:latin typeface="Calibri (MS) Bold"/>
                  <a:ea typeface="Calibri (MS) Bold"/>
                  <a:cs typeface="Calibri (MS) Bold"/>
                  <a:sym typeface="Calibri (MS) Bold"/>
                </a:rPr>
                <a:t>Screenshots </a:t>
              </a:r>
            </a:p>
          </p:txBody>
        </p:sp>
      </p:grpSp>
      <p:grpSp>
        <p:nvGrpSpPr>
          <p:cNvPr name="Group 5" id="5"/>
          <p:cNvGrpSpPr/>
          <p:nvPr/>
        </p:nvGrpSpPr>
        <p:grpSpPr>
          <a:xfrm rot="0">
            <a:off x="718796" y="1372822"/>
            <a:ext cx="5138340" cy="2825889"/>
            <a:chOff x="0" y="0"/>
            <a:chExt cx="11704320" cy="6436925"/>
          </a:xfrm>
        </p:grpSpPr>
        <p:sp>
          <p:nvSpPr>
            <p:cNvPr name="Freeform 6" id="6"/>
            <p:cNvSpPr/>
            <p:nvPr/>
          </p:nvSpPr>
          <p:spPr>
            <a:xfrm flipH="false" flipV="false" rot="0">
              <a:off x="0" y="0"/>
              <a:ext cx="11704320" cy="6436925"/>
            </a:xfrm>
            <a:custGeom>
              <a:avLst/>
              <a:gdLst/>
              <a:ahLst/>
              <a:cxnLst/>
              <a:rect r="r" b="b" t="t" l="l"/>
              <a:pathLst>
                <a:path h="6436925" w="11704320">
                  <a:moveTo>
                    <a:pt x="0" y="0"/>
                  </a:moveTo>
                  <a:lnTo>
                    <a:pt x="11704320" y="0"/>
                  </a:lnTo>
                  <a:lnTo>
                    <a:pt x="11704320" y="6436925"/>
                  </a:lnTo>
                  <a:lnTo>
                    <a:pt x="0" y="6436925"/>
                  </a:lnTo>
                  <a:close/>
                </a:path>
              </a:pathLst>
            </a:custGeom>
            <a:solidFill>
              <a:srgbClr val="000000">
                <a:alpha val="0"/>
              </a:srgbClr>
            </a:solidFill>
          </p:spPr>
        </p:sp>
        <p:sp>
          <p:nvSpPr>
            <p:cNvPr name="TextBox 7" id="7"/>
            <p:cNvSpPr txBox="true"/>
            <p:nvPr/>
          </p:nvSpPr>
          <p:spPr>
            <a:xfrm>
              <a:off x="0" y="-47625"/>
              <a:ext cx="11704320" cy="6484550"/>
            </a:xfrm>
            <a:prstGeom prst="rect">
              <a:avLst/>
            </a:prstGeom>
          </p:spPr>
          <p:txBody>
            <a:bodyPr anchor="t" rtlCol="false" tIns="0" lIns="0" bIns="0" rIns="0"/>
            <a:lstStyle/>
            <a:p>
              <a:pPr algn="l" marL="362059" indent="-181030" lvl="1">
                <a:lnSpc>
                  <a:spcPts val="3376"/>
                </a:lnSpc>
                <a:buFont typeface="Arial"/>
                <a:buChar char="•"/>
              </a:pPr>
              <a:r>
                <a:rPr lang="en-US" sz="2813">
                  <a:solidFill>
                    <a:srgbClr val="000000"/>
                  </a:solidFill>
                  <a:latin typeface="Calibri (MS)"/>
                  <a:ea typeface="Calibri (MS)"/>
                  <a:cs typeface="Calibri (MS)"/>
                  <a:sym typeface="Calibri (MS)"/>
                </a:rPr>
                <a:t>Screenshot of Code</a:t>
              </a:r>
            </a:p>
          </p:txBody>
        </p:sp>
      </p:grpSp>
      <p:sp>
        <p:nvSpPr>
          <p:cNvPr name="AutoShape 8" id="8"/>
          <p:cNvSpPr/>
          <p:nvPr/>
        </p:nvSpPr>
        <p:spPr>
          <a:xfrm flipV="true">
            <a:off x="487680" y="1031238"/>
            <a:ext cx="8778240" cy="0"/>
          </a:xfrm>
          <a:prstGeom prst="line">
            <a:avLst/>
          </a:prstGeom>
          <a:ln cap="flat" w="38100">
            <a:solidFill>
              <a:srgbClr val="000000"/>
            </a:solidFill>
            <a:prstDash val="solid"/>
            <a:headEnd type="none" len="sm" w="sm"/>
            <a:tailEnd type="none" len="sm" w="sm"/>
          </a:ln>
        </p:spPr>
      </p:sp>
      <p:sp>
        <p:nvSpPr>
          <p:cNvPr name="Freeform 9" id="9"/>
          <p:cNvSpPr/>
          <p:nvPr/>
        </p:nvSpPr>
        <p:spPr>
          <a:xfrm flipH="false" flipV="false" rot="0">
            <a:off x="859147" y="2144926"/>
            <a:ext cx="8162933" cy="4316151"/>
          </a:xfrm>
          <a:custGeom>
            <a:avLst/>
            <a:gdLst/>
            <a:ahLst/>
            <a:cxnLst/>
            <a:rect r="r" b="b" t="t" l="l"/>
            <a:pathLst>
              <a:path h="4316151" w="8162933">
                <a:moveTo>
                  <a:pt x="0" y="0"/>
                </a:moveTo>
                <a:lnTo>
                  <a:pt x="8162933" y="0"/>
                </a:lnTo>
                <a:lnTo>
                  <a:pt x="8162933" y="4316151"/>
                </a:lnTo>
                <a:lnTo>
                  <a:pt x="0" y="4316151"/>
                </a:lnTo>
                <a:lnTo>
                  <a:pt x="0" y="0"/>
                </a:lnTo>
                <a:close/>
              </a:path>
            </a:pathLst>
          </a:custGeom>
          <a:blipFill>
            <a:blip r:embed="rId2"/>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31520" y="1793686"/>
            <a:ext cx="8560013" cy="4761507"/>
          </a:xfrm>
          <a:custGeom>
            <a:avLst/>
            <a:gdLst/>
            <a:ahLst/>
            <a:cxnLst/>
            <a:rect r="r" b="b" t="t" l="l"/>
            <a:pathLst>
              <a:path h="4761507" w="8560013">
                <a:moveTo>
                  <a:pt x="0" y="0"/>
                </a:moveTo>
                <a:lnTo>
                  <a:pt x="8560013" y="0"/>
                </a:lnTo>
                <a:lnTo>
                  <a:pt x="8560013" y="4761507"/>
                </a:lnTo>
                <a:lnTo>
                  <a:pt x="0" y="4761507"/>
                </a:lnTo>
                <a:lnTo>
                  <a:pt x="0" y="0"/>
                </a:lnTo>
                <a:close/>
              </a:path>
            </a:pathLst>
          </a:custGeom>
          <a:blipFill>
            <a:blip r:embed="rId2"/>
            <a:stretch>
              <a:fillRect l="0" t="0" r="0" b="0"/>
            </a:stretch>
          </a:blipFill>
        </p:spPr>
      </p:sp>
      <p:grpSp>
        <p:nvGrpSpPr>
          <p:cNvPr name="Group 3" id="3"/>
          <p:cNvGrpSpPr/>
          <p:nvPr/>
        </p:nvGrpSpPr>
        <p:grpSpPr>
          <a:xfrm rot="0">
            <a:off x="731520" y="1128093"/>
            <a:ext cx="5651082" cy="1331186"/>
            <a:chOff x="0" y="0"/>
            <a:chExt cx="11704320" cy="2757104"/>
          </a:xfrm>
        </p:grpSpPr>
        <p:sp>
          <p:nvSpPr>
            <p:cNvPr name="Freeform 4" id="4"/>
            <p:cNvSpPr/>
            <p:nvPr/>
          </p:nvSpPr>
          <p:spPr>
            <a:xfrm flipH="false" flipV="false" rot="0">
              <a:off x="0" y="0"/>
              <a:ext cx="11704320" cy="2757104"/>
            </a:xfrm>
            <a:custGeom>
              <a:avLst/>
              <a:gdLst/>
              <a:ahLst/>
              <a:cxnLst/>
              <a:rect r="r" b="b" t="t" l="l"/>
              <a:pathLst>
                <a:path h="2757104" w="11704320">
                  <a:moveTo>
                    <a:pt x="0" y="0"/>
                  </a:moveTo>
                  <a:lnTo>
                    <a:pt x="11704320" y="0"/>
                  </a:lnTo>
                  <a:lnTo>
                    <a:pt x="11704320" y="2757104"/>
                  </a:lnTo>
                  <a:lnTo>
                    <a:pt x="0" y="2757104"/>
                  </a:lnTo>
                  <a:close/>
                </a:path>
              </a:pathLst>
            </a:custGeom>
            <a:solidFill>
              <a:srgbClr val="000000">
                <a:alpha val="0"/>
              </a:srgbClr>
            </a:solidFill>
          </p:spPr>
        </p:sp>
        <p:sp>
          <p:nvSpPr>
            <p:cNvPr name="TextBox 5" id="5"/>
            <p:cNvSpPr txBox="true"/>
            <p:nvPr/>
          </p:nvSpPr>
          <p:spPr>
            <a:xfrm>
              <a:off x="0" y="-47625"/>
              <a:ext cx="11704320" cy="2804729"/>
            </a:xfrm>
            <a:prstGeom prst="rect">
              <a:avLst/>
            </a:prstGeom>
          </p:spPr>
          <p:txBody>
            <a:bodyPr anchor="t" rtlCol="false" tIns="0" lIns="0" bIns="0" rIns="0"/>
            <a:lstStyle/>
            <a:p>
              <a:pPr algn="l" marL="362059" indent="-181030" lvl="1">
                <a:lnSpc>
                  <a:spcPts val="3376"/>
                </a:lnSpc>
                <a:buFont typeface="Arial"/>
                <a:buChar char="•"/>
              </a:pPr>
              <a:r>
                <a:rPr lang="en-US" sz="2813">
                  <a:solidFill>
                    <a:srgbClr val="000000"/>
                  </a:solidFill>
                  <a:latin typeface="Calibri (MS)"/>
                  <a:ea typeface="Calibri (MS)"/>
                  <a:cs typeface="Calibri (MS)"/>
                  <a:sym typeface="Calibri (MS)"/>
                </a:rPr>
                <a:t>Screenshot of Output</a:t>
              </a:r>
            </a:p>
          </p:txBody>
        </p:sp>
      </p:grpSp>
      <p:grpSp>
        <p:nvGrpSpPr>
          <p:cNvPr name="Group 6" id="6"/>
          <p:cNvGrpSpPr/>
          <p:nvPr/>
        </p:nvGrpSpPr>
        <p:grpSpPr>
          <a:xfrm rot="0">
            <a:off x="487680" y="-57643"/>
            <a:ext cx="8778240" cy="1219200"/>
            <a:chOff x="0" y="0"/>
            <a:chExt cx="11704320" cy="1625600"/>
          </a:xfrm>
        </p:grpSpPr>
        <p:sp>
          <p:nvSpPr>
            <p:cNvPr name="Freeform 7" id="7"/>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8" id="8"/>
            <p:cNvSpPr txBox="true"/>
            <p:nvPr/>
          </p:nvSpPr>
          <p:spPr>
            <a:xfrm>
              <a:off x="0" y="-85725"/>
              <a:ext cx="11704320" cy="1711325"/>
            </a:xfrm>
            <a:prstGeom prst="rect">
              <a:avLst/>
            </a:prstGeom>
          </p:spPr>
          <p:txBody>
            <a:bodyPr anchor="ctr" rtlCol="false" tIns="0" lIns="0" bIns="0" rIns="0"/>
            <a:lstStyle/>
            <a:p>
              <a:pPr algn="ctr">
                <a:lnSpc>
                  <a:spcPts val="5040"/>
                </a:lnSpc>
              </a:pPr>
              <a:r>
                <a:rPr lang="en-US" sz="4200" b="true">
                  <a:solidFill>
                    <a:srgbClr val="000000"/>
                  </a:solidFill>
                  <a:latin typeface="Calibri (MS) Bold"/>
                  <a:ea typeface="Calibri (MS) Bold"/>
                  <a:cs typeface="Calibri (MS) Bold"/>
                  <a:sym typeface="Calibri (MS) Bold"/>
                </a:rPr>
                <a:t>Screenshots </a:t>
              </a:r>
            </a:p>
          </p:txBody>
        </p:sp>
      </p:grpSp>
      <p:sp>
        <p:nvSpPr>
          <p:cNvPr name="AutoShape 9" id="9"/>
          <p:cNvSpPr/>
          <p:nvPr/>
        </p:nvSpPr>
        <p:spPr>
          <a:xfrm flipV="true">
            <a:off x="487680" y="1103915"/>
            <a:ext cx="8778240" cy="24178"/>
          </a:xfrm>
          <a:prstGeom prst="line">
            <a:avLst/>
          </a:prstGeom>
          <a:ln cap="flat" w="38100">
            <a:solidFill>
              <a:srgbClr val="000000"/>
            </a:solidFill>
            <a:prstDash val="solid"/>
            <a:headEnd type="none" len="sm" w="sm"/>
            <a:tailEnd type="none" len="sm" w="sm"/>
          </a:ln>
        </p:spPr>
      </p:sp>
    </p:spTree>
  </p:cSld>
  <p:clrMapOvr>
    <a:masterClrMapping/>
  </p:clrMapOvr>
</p:sld>
</file>

<file path=ppt/slides/slide3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87680" y="0"/>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5040"/>
                </a:lnSpc>
              </a:pPr>
              <a:r>
                <a:rPr lang="en-US" sz="4200" b="true">
                  <a:solidFill>
                    <a:srgbClr val="000000"/>
                  </a:solidFill>
                  <a:latin typeface="Calibri (MS) Bold"/>
                  <a:ea typeface="Calibri (MS) Bold"/>
                  <a:cs typeface="Calibri (MS) Bold"/>
                  <a:sym typeface="Calibri (MS) Bold"/>
                </a:rPr>
                <a:t>References</a:t>
              </a:r>
            </a:p>
          </p:txBody>
        </p:sp>
      </p:grpSp>
      <p:grpSp>
        <p:nvGrpSpPr>
          <p:cNvPr name="Group 5" id="5"/>
          <p:cNvGrpSpPr/>
          <p:nvPr/>
        </p:nvGrpSpPr>
        <p:grpSpPr>
          <a:xfrm rot="0">
            <a:off x="487680" y="1549310"/>
            <a:ext cx="8634715" cy="4795474"/>
            <a:chOff x="0" y="0"/>
            <a:chExt cx="11456664" cy="6362705"/>
          </a:xfrm>
        </p:grpSpPr>
        <p:sp>
          <p:nvSpPr>
            <p:cNvPr name="Freeform 6" id="6"/>
            <p:cNvSpPr/>
            <p:nvPr/>
          </p:nvSpPr>
          <p:spPr>
            <a:xfrm flipH="false" flipV="false" rot="0">
              <a:off x="0" y="0"/>
              <a:ext cx="11456664" cy="6362705"/>
            </a:xfrm>
            <a:custGeom>
              <a:avLst/>
              <a:gdLst/>
              <a:ahLst/>
              <a:cxnLst/>
              <a:rect r="r" b="b" t="t" l="l"/>
              <a:pathLst>
                <a:path h="6362705" w="11456664">
                  <a:moveTo>
                    <a:pt x="0" y="0"/>
                  </a:moveTo>
                  <a:lnTo>
                    <a:pt x="11456664" y="0"/>
                  </a:lnTo>
                  <a:lnTo>
                    <a:pt x="11456664" y="6362705"/>
                  </a:lnTo>
                  <a:lnTo>
                    <a:pt x="0" y="6362705"/>
                  </a:lnTo>
                  <a:close/>
                </a:path>
              </a:pathLst>
            </a:custGeom>
            <a:solidFill>
              <a:srgbClr val="000000">
                <a:alpha val="0"/>
              </a:srgbClr>
            </a:solidFill>
          </p:spPr>
        </p:sp>
        <p:sp>
          <p:nvSpPr>
            <p:cNvPr name="TextBox 7" id="7"/>
            <p:cNvSpPr txBox="true"/>
            <p:nvPr/>
          </p:nvSpPr>
          <p:spPr>
            <a:xfrm>
              <a:off x="0" y="-123825"/>
              <a:ext cx="11456664" cy="6486530"/>
            </a:xfrm>
            <a:prstGeom prst="rect">
              <a:avLst/>
            </a:prstGeom>
          </p:spPr>
          <p:txBody>
            <a:bodyPr anchor="ctr" rtlCol="false" tIns="127000" lIns="127000" bIns="127000" rIns="127000"/>
            <a:lstStyle/>
            <a:p>
              <a:pPr algn="just" marL="453393" indent="-226697" lvl="1">
                <a:lnSpc>
                  <a:spcPts val="3381"/>
                </a:lnSpc>
                <a:buAutoNum type="arabicPeriod" startAt="1"/>
              </a:pPr>
              <a:r>
                <a:rPr lang="en-US" b="true" sz="2100">
                  <a:solidFill>
                    <a:srgbClr val="000000"/>
                  </a:solidFill>
                  <a:latin typeface="Calibri (MS) Bold"/>
                  <a:ea typeface="Calibri (MS) Bold"/>
                  <a:cs typeface="Calibri (MS) Bold"/>
                  <a:sym typeface="Calibri (MS) Bold"/>
                </a:rPr>
                <a:t>Smith, J. (2020)</a:t>
              </a:r>
              <a:r>
                <a:rPr lang="en-US" sz="2100">
                  <a:solidFill>
                    <a:srgbClr val="000000"/>
                  </a:solidFill>
                  <a:latin typeface="Calibri (MS)"/>
                  <a:ea typeface="Calibri (MS)"/>
                  <a:cs typeface="Calibri (MS)"/>
                  <a:sym typeface="Calibri (MS)"/>
                </a:rPr>
                <a:t>. A Study on Traffic Light Management Systems. International Journal of Traffic Engineering, 15(2), pp. 45–52.</a:t>
              </a:r>
            </a:p>
            <a:p>
              <a:pPr algn="just" marL="453393" indent="-226697" lvl="1">
                <a:lnSpc>
                  <a:spcPts val="3381"/>
                </a:lnSpc>
                <a:buAutoNum type="arabicPeriod" startAt="1"/>
              </a:pPr>
              <a:r>
                <a:rPr lang="en-US" b="true" sz="2100">
                  <a:solidFill>
                    <a:srgbClr val="000000"/>
                  </a:solidFill>
                  <a:latin typeface="Calibri (MS) Bold"/>
                  <a:ea typeface="Calibri (MS) Bold"/>
                  <a:cs typeface="Calibri (MS) Bold"/>
                  <a:sym typeface="Calibri (MS) Bold"/>
                </a:rPr>
                <a:t>Li, K., Zhao, H., &amp; Wen, Y. (2021)</a:t>
              </a:r>
              <a:r>
                <a:rPr lang="en-US" sz="2100">
                  <a:solidFill>
                    <a:srgbClr val="000000"/>
                  </a:solidFill>
                  <a:latin typeface="Calibri (MS)"/>
                  <a:ea typeface="Calibri (MS)"/>
                  <a:cs typeface="Calibri (MS)"/>
                  <a:sym typeface="Calibri (MS)"/>
                </a:rPr>
                <a:t>. Real-Time Traffic Management using Machine Learning. Journal of Intelligent Transportation Systems, 22(4), pp. 289–298.</a:t>
              </a:r>
            </a:p>
            <a:p>
              <a:pPr algn="just" marL="453393" indent="-226697" lvl="1">
                <a:lnSpc>
                  <a:spcPts val="3381"/>
                </a:lnSpc>
                <a:buAutoNum type="arabicPeriod" startAt="1"/>
              </a:pPr>
              <a:r>
                <a:rPr lang="en-US" b="true" sz="2100">
                  <a:solidFill>
                    <a:srgbClr val="000000"/>
                  </a:solidFill>
                  <a:latin typeface="Calibri (MS) Bold"/>
                  <a:ea typeface="Calibri (MS) Bold"/>
                  <a:cs typeface="Calibri (MS) Bold"/>
                  <a:sym typeface="Calibri (MS) Bold"/>
                </a:rPr>
                <a:t>Gupta, R. (2022).</a:t>
              </a:r>
              <a:r>
                <a:rPr lang="en-US" sz="2100">
                  <a:solidFill>
                    <a:srgbClr val="000000"/>
                  </a:solidFill>
                  <a:latin typeface="Calibri (MS)"/>
                  <a:ea typeface="Calibri (MS)"/>
                  <a:cs typeface="Calibri (MS)"/>
                  <a:sym typeface="Calibri (MS)"/>
                </a:rPr>
                <a:t> Simulation-Based Traffic Flow Optimization. Traffic Simulation Review, 10(1), pp. 101–108.</a:t>
              </a:r>
            </a:p>
            <a:p>
              <a:pPr algn="just" marL="453393" indent="-226697" lvl="1">
                <a:lnSpc>
                  <a:spcPts val="3381"/>
                </a:lnSpc>
                <a:buAutoNum type="arabicPeriod" startAt="1"/>
              </a:pPr>
              <a:r>
                <a:rPr lang="en-US" b="true" sz="2100">
                  <a:solidFill>
                    <a:srgbClr val="000000"/>
                  </a:solidFill>
                  <a:latin typeface="Calibri (MS) Bold"/>
                  <a:ea typeface="Calibri (MS) Bold"/>
                  <a:cs typeface="Calibri (MS) Bold"/>
                  <a:sym typeface="Calibri (MS) Bold"/>
                </a:rPr>
                <a:t>Kumar, P., &amp; Rao, A. (2019).</a:t>
              </a:r>
              <a:r>
                <a:rPr lang="en-US" sz="2100">
                  <a:solidFill>
                    <a:srgbClr val="000000"/>
                  </a:solidFill>
                  <a:latin typeface="Calibri (MS)"/>
                  <a:ea typeface="Calibri (MS)"/>
                  <a:cs typeface="Calibri (MS)"/>
                  <a:sym typeface="Calibri (MS)"/>
                </a:rPr>
                <a:t> An Adaptive Traffic Light System Using Sensor Inputs. International Conference on Smart Cities and Urban Mobility, pp. 134–140.</a:t>
              </a:r>
            </a:p>
            <a:p>
              <a:pPr algn="just">
                <a:lnSpc>
                  <a:spcPts val="2576"/>
                </a:lnSpc>
              </a:pPr>
            </a:p>
          </p:txBody>
        </p:sp>
      </p:grpSp>
      <p:sp>
        <p:nvSpPr>
          <p:cNvPr name="AutoShape 8" id="8"/>
          <p:cNvSpPr/>
          <p:nvPr/>
        </p:nvSpPr>
        <p:spPr>
          <a:xfrm>
            <a:off x="487680" y="1219200"/>
            <a:ext cx="8728104"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3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72108" y="1571625"/>
            <a:ext cx="8409384" cy="5012055"/>
          </a:xfrm>
          <a:prstGeom prst="rect">
            <a:avLst/>
          </a:prstGeom>
        </p:spPr>
        <p:txBody>
          <a:bodyPr anchor="t" rtlCol="false" tIns="0" lIns="0" bIns="0" rIns="0">
            <a:spAutoFit/>
          </a:bodyPr>
          <a:lstStyle/>
          <a:p>
            <a:pPr algn="l">
              <a:lnSpc>
                <a:spcPts val="2520"/>
              </a:lnSpc>
            </a:pPr>
            <a:r>
              <a:rPr lang="en-US" sz="1800" b="true">
                <a:solidFill>
                  <a:srgbClr val="000000"/>
                </a:solidFill>
                <a:latin typeface="Canva Sans Bold"/>
                <a:ea typeface="Canva Sans Bold"/>
                <a:cs typeface="Canva Sans Bold"/>
                <a:sym typeface="Canva Sans Bold"/>
              </a:rPr>
              <a:t>1.Integration with Real-Time Traffic Data:</a:t>
            </a:r>
          </a:p>
          <a:p>
            <a:pPr algn="just" marL="388622" indent="-194311" lvl="1">
              <a:lnSpc>
                <a:spcPts val="2520"/>
              </a:lnSpc>
              <a:buFont typeface="Arial"/>
              <a:buChar char="•"/>
            </a:pPr>
            <a:r>
              <a:rPr lang="en-US" sz="1800">
                <a:solidFill>
                  <a:srgbClr val="000000"/>
                </a:solidFill>
                <a:latin typeface="Canva Sans"/>
                <a:ea typeface="Canva Sans"/>
                <a:cs typeface="Canva Sans"/>
                <a:sym typeface="Canva Sans"/>
              </a:rPr>
              <a:t>Incorporating live traffic data from sensors or surveillance cameras can make the system capable of managing actual road conditions, transforming it from a simulation into a deployable real-world application.</a:t>
            </a:r>
          </a:p>
          <a:p>
            <a:pPr algn="just">
              <a:lnSpc>
                <a:spcPts val="2520"/>
              </a:lnSpc>
            </a:pPr>
          </a:p>
          <a:p>
            <a:pPr algn="just">
              <a:lnSpc>
                <a:spcPts val="2520"/>
              </a:lnSpc>
            </a:pPr>
            <a:r>
              <a:rPr lang="en-US" sz="1800" b="true">
                <a:solidFill>
                  <a:srgbClr val="000000"/>
                </a:solidFill>
                <a:latin typeface="Canva Sans Bold"/>
                <a:ea typeface="Canva Sans Bold"/>
                <a:cs typeface="Canva Sans Bold"/>
                <a:sym typeface="Canva Sans Bold"/>
              </a:rPr>
              <a:t>2.</a:t>
            </a:r>
            <a:r>
              <a:rPr lang="en-US" sz="1800" b="true">
                <a:solidFill>
                  <a:srgbClr val="000000"/>
                </a:solidFill>
                <a:latin typeface="Canva Sans Bold"/>
                <a:ea typeface="Canva Sans Bold"/>
                <a:cs typeface="Canva Sans Bold"/>
                <a:sym typeface="Canva Sans Bold"/>
              </a:rPr>
              <a:t>Machine Learning-Based Prediction:</a:t>
            </a:r>
          </a:p>
          <a:p>
            <a:pPr algn="just" marL="388622" indent="-194311" lvl="1">
              <a:lnSpc>
                <a:spcPts val="2520"/>
              </a:lnSpc>
              <a:buFont typeface="Arial"/>
              <a:buChar char="•"/>
            </a:pPr>
            <a:r>
              <a:rPr lang="en-US" sz="1800">
                <a:solidFill>
                  <a:srgbClr val="000000"/>
                </a:solidFill>
                <a:latin typeface="Canva Sans"/>
                <a:ea typeface="Canva Sans"/>
                <a:cs typeface="Canva Sans"/>
                <a:sym typeface="Canva Sans"/>
              </a:rPr>
              <a:t>Future versions can include machine learning models to predict traffic density based on historical data, time of day, or weather conditions, allowing the system to preemptively adjust signal timings for smoother flow.</a:t>
            </a:r>
          </a:p>
          <a:p>
            <a:pPr algn="just">
              <a:lnSpc>
                <a:spcPts val="2520"/>
              </a:lnSpc>
            </a:pPr>
          </a:p>
          <a:p>
            <a:pPr algn="just">
              <a:lnSpc>
                <a:spcPts val="2520"/>
              </a:lnSpc>
            </a:pPr>
            <a:r>
              <a:rPr lang="en-US" b="true" sz="1800">
                <a:solidFill>
                  <a:srgbClr val="000000"/>
                </a:solidFill>
                <a:latin typeface="Canva Sans Bold"/>
                <a:ea typeface="Canva Sans Bold"/>
                <a:cs typeface="Canva Sans Bold"/>
                <a:sym typeface="Canva Sans Bold"/>
              </a:rPr>
              <a:t>3.Emergency Vehicle Detection:</a:t>
            </a:r>
          </a:p>
          <a:p>
            <a:pPr algn="just" marL="388622" indent="-194311" lvl="1">
              <a:lnSpc>
                <a:spcPts val="2520"/>
              </a:lnSpc>
              <a:buFont typeface="Arial"/>
              <a:buChar char="•"/>
            </a:pPr>
            <a:r>
              <a:rPr lang="en-US" sz="1800">
                <a:solidFill>
                  <a:srgbClr val="000000"/>
                </a:solidFill>
                <a:latin typeface="Canva Sans"/>
                <a:ea typeface="Canva Sans"/>
                <a:cs typeface="Canva Sans"/>
                <a:sym typeface="Canva Sans"/>
              </a:rPr>
              <a:t>Adding a feature to detect emergency vehicles (e.g., ambulances, fire trucks) and prioritize their passage through intersections can significantly enhance safety and response times.</a:t>
            </a:r>
          </a:p>
        </p:txBody>
      </p:sp>
      <p:grpSp>
        <p:nvGrpSpPr>
          <p:cNvPr name="Group 3" id="3"/>
          <p:cNvGrpSpPr/>
          <p:nvPr/>
        </p:nvGrpSpPr>
        <p:grpSpPr>
          <a:xfrm rot="0">
            <a:off x="329514" y="0"/>
            <a:ext cx="9094572" cy="1263135"/>
            <a:chOff x="0" y="0"/>
            <a:chExt cx="11704320" cy="1625600"/>
          </a:xfrm>
        </p:grpSpPr>
        <p:sp>
          <p:nvSpPr>
            <p:cNvPr name="Freeform 4" id="4"/>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5" id="5"/>
            <p:cNvSpPr txBox="true"/>
            <p:nvPr/>
          </p:nvSpPr>
          <p:spPr>
            <a:xfrm>
              <a:off x="0" y="-85725"/>
              <a:ext cx="11704320" cy="1711325"/>
            </a:xfrm>
            <a:prstGeom prst="rect">
              <a:avLst/>
            </a:prstGeom>
          </p:spPr>
          <p:txBody>
            <a:bodyPr anchor="ctr" rtlCol="false" tIns="0" lIns="0" bIns="0" rIns="0"/>
            <a:lstStyle/>
            <a:p>
              <a:pPr algn="ctr">
                <a:lnSpc>
                  <a:spcPts val="5032"/>
                </a:lnSpc>
              </a:pPr>
              <a:r>
                <a:rPr lang="en-US" sz="4193" b="true">
                  <a:solidFill>
                    <a:srgbClr val="000000"/>
                  </a:solidFill>
                  <a:latin typeface="Calibri (MS) Bold"/>
                  <a:ea typeface="Calibri (MS) Bold"/>
                  <a:cs typeface="Calibri (MS) Bold"/>
                  <a:sym typeface="Calibri (MS) Bold"/>
                </a:rPr>
                <a:t>Future Enhancements</a:t>
              </a:r>
            </a:p>
          </p:txBody>
        </p:sp>
      </p:grpSp>
      <p:sp>
        <p:nvSpPr>
          <p:cNvPr name="AutoShape 6" id="6"/>
          <p:cNvSpPr/>
          <p:nvPr/>
        </p:nvSpPr>
        <p:spPr>
          <a:xfrm>
            <a:off x="329514" y="1084833"/>
            <a:ext cx="9094572"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29514" y="-114300"/>
            <a:ext cx="9094572" cy="1263135"/>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5032"/>
                </a:lnSpc>
              </a:pPr>
              <a:r>
                <a:rPr lang="en-US" sz="4193" b="true">
                  <a:solidFill>
                    <a:srgbClr val="000000"/>
                  </a:solidFill>
                  <a:latin typeface="Calibri (MS) Bold"/>
                  <a:ea typeface="Calibri (MS) Bold"/>
                  <a:cs typeface="Calibri (MS) Bold"/>
                  <a:sym typeface="Calibri (MS) Bold"/>
                </a:rPr>
                <a:t>Future Enhancements</a:t>
              </a:r>
            </a:p>
          </p:txBody>
        </p:sp>
      </p:grpSp>
      <p:sp>
        <p:nvSpPr>
          <p:cNvPr name="TextBox 5" id="5"/>
          <p:cNvSpPr txBox="true"/>
          <p:nvPr/>
        </p:nvSpPr>
        <p:spPr>
          <a:xfrm rot="0">
            <a:off x="642311" y="981283"/>
            <a:ext cx="8468978" cy="6583680"/>
          </a:xfrm>
          <a:prstGeom prst="rect">
            <a:avLst/>
          </a:prstGeom>
        </p:spPr>
        <p:txBody>
          <a:bodyPr anchor="t" rtlCol="false" tIns="0" lIns="0" bIns="0" rIns="0">
            <a:spAutoFit/>
          </a:bodyPr>
          <a:lstStyle/>
          <a:p>
            <a:pPr algn="l">
              <a:lnSpc>
                <a:spcPts val="2520"/>
              </a:lnSpc>
            </a:pPr>
            <a:r>
              <a:rPr lang="en-US" sz="1800" b="true">
                <a:solidFill>
                  <a:srgbClr val="000000"/>
                </a:solidFill>
                <a:latin typeface="Canva Sans Bold"/>
                <a:ea typeface="Canva Sans Bold"/>
                <a:cs typeface="Canva Sans Bold"/>
                <a:sym typeface="Canva Sans Bold"/>
              </a:rPr>
              <a:t>4.Pedestrian and Bicycle Lane Integration:</a:t>
            </a:r>
          </a:p>
          <a:p>
            <a:pPr algn="just" marL="388622" indent="-194311" lvl="1">
              <a:lnSpc>
                <a:spcPts val="2520"/>
              </a:lnSpc>
              <a:buFont typeface="Arial"/>
              <a:buChar char="•"/>
            </a:pPr>
            <a:r>
              <a:rPr lang="en-US" sz="1800">
                <a:solidFill>
                  <a:srgbClr val="000000"/>
                </a:solidFill>
                <a:latin typeface="Canva Sans"/>
                <a:ea typeface="Canva Sans"/>
                <a:cs typeface="Canva Sans"/>
                <a:sym typeface="Canva Sans"/>
              </a:rPr>
              <a:t>A more sophisticated model could include pedestrian crosswalk signals and dedicated bicycle lanes, managing them with appropriate signal phases to ensure safety for all road users.</a:t>
            </a:r>
          </a:p>
          <a:p>
            <a:pPr algn="l">
              <a:lnSpc>
                <a:spcPts val="2520"/>
              </a:lnSpc>
            </a:pPr>
          </a:p>
          <a:p>
            <a:pPr algn="l">
              <a:lnSpc>
                <a:spcPts val="2520"/>
              </a:lnSpc>
            </a:pPr>
            <a:r>
              <a:rPr lang="en-US" sz="1800" b="true">
                <a:solidFill>
                  <a:srgbClr val="000000"/>
                </a:solidFill>
                <a:latin typeface="Canva Sans Bold"/>
                <a:ea typeface="Canva Sans Bold"/>
                <a:cs typeface="Canva Sans Bold"/>
                <a:sym typeface="Canva Sans Bold"/>
              </a:rPr>
              <a:t>5.</a:t>
            </a:r>
            <a:r>
              <a:rPr lang="en-US" sz="1800" b="true">
                <a:solidFill>
                  <a:srgbClr val="000000"/>
                </a:solidFill>
                <a:latin typeface="Canva Sans Bold"/>
                <a:ea typeface="Canva Sans Bold"/>
                <a:cs typeface="Canva Sans Bold"/>
                <a:sym typeface="Canva Sans Bold"/>
              </a:rPr>
              <a:t>Web-Based Visualization &amp; Remote Access:</a:t>
            </a:r>
          </a:p>
          <a:p>
            <a:pPr algn="just" marL="388622" indent="-194311" lvl="1">
              <a:lnSpc>
                <a:spcPts val="2520"/>
              </a:lnSpc>
              <a:buFont typeface="Arial"/>
              <a:buChar char="•"/>
            </a:pPr>
            <a:r>
              <a:rPr lang="en-US" sz="1800">
                <a:solidFill>
                  <a:srgbClr val="000000"/>
                </a:solidFill>
                <a:latin typeface="Canva Sans"/>
                <a:ea typeface="Canva Sans"/>
                <a:cs typeface="Canva Sans"/>
                <a:sym typeface="Canva Sans"/>
              </a:rPr>
              <a:t>A web interface could allow users to view the simulation remotely, adjust parameters in real-time, and observe traffic flow statistics via dashboards.</a:t>
            </a:r>
          </a:p>
          <a:p>
            <a:pPr algn="l">
              <a:lnSpc>
                <a:spcPts val="2520"/>
              </a:lnSpc>
            </a:pPr>
          </a:p>
          <a:p>
            <a:pPr algn="l">
              <a:lnSpc>
                <a:spcPts val="2520"/>
              </a:lnSpc>
            </a:pPr>
            <a:r>
              <a:rPr lang="en-US" sz="1800" b="true">
                <a:solidFill>
                  <a:srgbClr val="000000"/>
                </a:solidFill>
                <a:latin typeface="Canva Sans Bold"/>
                <a:ea typeface="Canva Sans Bold"/>
                <a:cs typeface="Canva Sans Bold"/>
                <a:sym typeface="Canva Sans Bold"/>
              </a:rPr>
              <a:t>6.</a:t>
            </a:r>
            <a:r>
              <a:rPr lang="en-US" sz="1800" b="true">
                <a:solidFill>
                  <a:srgbClr val="000000"/>
                </a:solidFill>
                <a:latin typeface="Canva Sans Bold"/>
                <a:ea typeface="Canva Sans Bold"/>
                <a:cs typeface="Canva Sans Bold"/>
                <a:sym typeface="Canva Sans Bold"/>
              </a:rPr>
              <a:t>Enhanced Vehicle Behavior Simulation:</a:t>
            </a:r>
          </a:p>
          <a:p>
            <a:pPr algn="just" marL="388622" indent="-194311" lvl="1">
              <a:lnSpc>
                <a:spcPts val="2520"/>
              </a:lnSpc>
              <a:buFont typeface="Arial"/>
              <a:buChar char="•"/>
            </a:pPr>
            <a:r>
              <a:rPr lang="en-US" sz="1800">
                <a:solidFill>
                  <a:srgbClr val="000000"/>
                </a:solidFill>
                <a:latin typeface="Canva Sans"/>
                <a:ea typeface="Canva Sans"/>
                <a:cs typeface="Canva Sans"/>
                <a:sym typeface="Canva Sans"/>
              </a:rPr>
              <a:t>Future simulations can model more realistic vehicle behaviors such as lane changes, turning at intersections, or varying speeds, for a more accurate representation of traffic dynamics.</a:t>
            </a:r>
          </a:p>
          <a:p>
            <a:pPr algn="l">
              <a:lnSpc>
                <a:spcPts val="2520"/>
              </a:lnSpc>
            </a:pPr>
          </a:p>
          <a:p>
            <a:pPr algn="l">
              <a:lnSpc>
                <a:spcPts val="2520"/>
              </a:lnSpc>
            </a:pPr>
            <a:r>
              <a:rPr lang="en-US" sz="1800" b="true">
                <a:solidFill>
                  <a:srgbClr val="000000"/>
                </a:solidFill>
                <a:latin typeface="Canva Sans Bold"/>
                <a:ea typeface="Canva Sans Bold"/>
                <a:cs typeface="Canva Sans Bold"/>
                <a:sym typeface="Canva Sans Bold"/>
              </a:rPr>
              <a:t>7.Mobile App Integration:</a:t>
            </a:r>
          </a:p>
          <a:p>
            <a:pPr algn="just" marL="777243" indent="-259081" lvl="2">
              <a:lnSpc>
                <a:spcPts val="2520"/>
              </a:lnSpc>
              <a:buFont typeface="Arial"/>
              <a:buChar char="⚬"/>
            </a:pPr>
            <a:r>
              <a:rPr lang="en-US" sz="1800">
                <a:solidFill>
                  <a:srgbClr val="000000"/>
                </a:solidFill>
                <a:latin typeface="Canva Sans"/>
                <a:ea typeface="Canva Sans"/>
                <a:cs typeface="Canva Sans"/>
                <a:sym typeface="Canva Sans"/>
              </a:rPr>
              <a:t>A companion app could notify users about optimal travel times, congestion alerts, or real-time signal schedules at nearby intersections.</a:t>
            </a:r>
          </a:p>
          <a:p>
            <a:pPr algn="l">
              <a:lnSpc>
                <a:spcPts val="2520"/>
              </a:lnSpc>
            </a:pPr>
          </a:p>
          <a:p>
            <a:pPr algn="l">
              <a:lnSpc>
                <a:spcPts val="2520"/>
              </a:lnSpc>
            </a:pPr>
          </a:p>
        </p:txBody>
      </p:sp>
      <p:sp>
        <p:nvSpPr>
          <p:cNvPr name="AutoShape 6" id="6"/>
          <p:cNvSpPr/>
          <p:nvPr/>
        </p:nvSpPr>
        <p:spPr>
          <a:xfrm flipV="true">
            <a:off x="329514" y="898819"/>
            <a:ext cx="9124419"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3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29514" y="0"/>
            <a:ext cx="9094572" cy="1263135"/>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5152"/>
                </a:lnSpc>
              </a:pPr>
              <a:r>
                <a:rPr lang="en-US" sz="4293" b="true">
                  <a:solidFill>
                    <a:srgbClr val="000000"/>
                  </a:solidFill>
                  <a:latin typeface="Calibri (MS) Bold"/>
                  <a:ea typeface="Calibri (MS) Bold"/>
                  <a:cs typeface="Calibri (MS) Bold"/>
                  <a:sym typeface="Calibri (MS) Bold"/>
                </a:rPr>
                <a:t>Conclusion</a:t>
              </a:r>
            </a:p>
          </p:txBody>
        </p:sp>
      </p:grpSp>
      <p:sp>
        <p:nvSpPr>
          <p:cNvPr name="AutoShape 5" id="5"/>
          <p:cNvSpPr/>
          <p:nvPr/>
        </p:nvSpPr>
        <p:spPr>
          <a:xfrm>
            <a:off x="329514" y="1083332"/>
            <a:ext cx="9094572" cy="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640332" y="1504922"/>
            <a:ext cx="8381748" cy="4935855"/>
          </a:xfrm>
          <a:prstGeom prst="rect">
            <a:avLst/>
          </a:prstGeom>
        </p:spPr>
        <p:txBody>
          <a:bodyPr anchor="t" rtlCol="false" tIns="0" lIns="0" bIns="0" rIns="0">
            <a:spAutoFit/>
          </a:bodyPr>
          <a:lstStyle/>
          <a:p>
            <a:pPr algn="just" marL="431801" indent="-215900" lvl="1">
              <a:lnSpc>
                <a:spcPts val="3060"/>
              </a:lnSpc>
              <a:buFont typeface="Arial"/>
              <a:buChar char="•"/>
            </a:pPr>
            <a:r>
              <a:rPr lang="en-US" sz="2000" spc="56">
                <a:solidFill>
                  <a:srgbClr val="000000"/>
                </a:solidFill>
                <a:latin typeface="Canva Sans"/>
                <a:ea typeface="Canva Sans"/>
                <a:cs typeface="Canva Sans"/>
                <a:sym typeface="Canva Sans"/>
              </a:rPr>
              <a:t>The Smart Traffic Management System successfully demonstrates how simulation and adaptive control can be integrated to improve urban traffic flow. By using Python and modules such as pygame, threading, time, and random, the project emulates a dynamic traffic environment where traffic signals respond to real-time vehicle density. </a:t>
            </a:r>
          </a:p>
          <a:p>
            <a:pPr algn="just">
              <a:lnSpc>
                <a:spcPts val="3060"/>
              </a:lnSpc>
            </a:pPr>
          </a:p>
          <a:p>
            <a:pPr algn="just" marL="431801" indent="-215900" lvl="1">
              <a:lnSpc>
                <a:spcPts val="3060"/>
              </a:lnSpc>
              <a:buFont typeface="Arial"/>
              <a:buChar char="•"/>
            </a:pPr>
            <a:r>
              <a:rPr lang="en-US" sz="2000" spc="56">
                <a:solidFill>
                  <a:srgbClr val="000000"/>
                </a:solidFill>
                <a:latin typeface="Canva Sans"/>
                <a:ea typeface="Canva Sans"/>
                <a:cs typeface="Canva Sans"/>
                <a:sym typeface="Canva Sans"/>
              </a:rPr>
              <a:t>The simulation provides a clear understanding of how adaptive signal timing can reduce congestion, minimize waiting times, and enhance road safety. The use of multithreading ensures concurrent execution of vehicle movement and signal control, making the system responsive and realistic.</a:t>
            </a:r>
          </a:p>
        </p:txBody>
      </p:sp>
    </p:spTree>
  </p:cSld>
  <p:clrMapOvr>
    <a:masterClrMapping/>
  </p:clrMapOvr>
</p:sld>
</file>

<file path=ppt/slides/slide3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29514" y="14227"/>
            <a:ext cx="9094572" cy="1263135"/>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solidFill>
              <a:srgbClr val="000000">
                <a:alpha val="0"/>
              </a:srgbClr>
            </a:solidFill>
          </p:spPr>
        </p:sp>
        <p:sp>
          <p:nvSpPr>
            <p:cNvPr name="TextBox 4" id="4"/>
            <p:cNvSpPr txBox="true"/>
            <p:nvPr/>
          </p:nvSpPr>
          <p:spPr>
            <a:xfrm>
              <a:off x="0" y="-85725"/>
              <a:ext cx="11704320" cy="1711325"/>
            </a:xfrm>
            <a:prstGeom prst="rect">
              <a:avLst/>
            </a:prstGeom>
          </p:spPr>
          <p:txBody>
            <a:bodyPr anchor="ctr" rtlCol="false" tIns="0" lIns="0" bIns="0" rIns="0"/>
            <a:lstStyle/>
            <a:p>
              <a:pPr algn="ctr">
                <a:lnSpc>
                  <a:spcPts val="5152"/>
                </a:lnSpc>
              </a:pPr>
              <a:r>
                <a:rPr lang="en-US" sz="4293" b="true">
                  <a:solidFill>
                    <a:srgbClr val="000000"/>
                  </a:solidFill>
                  <a:latin typeface="Calibri (MS) Bold"/>
                  <a:ea typeface="Calibri (MS) Bold"/>
                  <a:cs typeface="Calibri (MS) Bold"/>
                  <a:sym typeface="Calibri (MS) Bold"/>
                </a:rPr>
                <a:t>Conclusion</a:t>
              </a:r>
            </a:p>
          </p:txBody>
        </p:sp>
      </p:grpSp>
      <p:sp>
        <p:nvSpPr>
          <p:cNvPr name="AutoShape 5" id="5"/>
          <p:cNvSpPr/>
          <p:nvPr/>
        </p:nvSpPr>
        <p:spPr>
          <a:xfrm flipV="true">
            <a:off x="329514" y="1277363"/>
            <a:ext cx="9094572" cy="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708723" y="1702116"/>
            <a:ext cx="8336154" cy="2111375"/>
          </a:xfrm>
          <a:prstGeom prst="rect">
            <a:avLst/>
          </a:prstGeom>
        </p:spPr>
        <p:txBody>
          <a:bodyPr anchor="t" rtlCol="false" tIns="0" lIns="0" bIns="0" rIns="0">
            <a:spAutoFit/>
          </a:bodyPr>
          <a:lstStyle/>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This project lays the groundwork for future enhancements, such as integration with machine learning for predictive traffic behavior, or deployment in real-world traffic systems using sensor data. Overall, the system highlights the potential of smart, software-driven solutions in addressing modern urban traffic challenges.</a:t>
            </a:r>
          </a:p>
        </p:txBody>
      </p:sp>
    </p:spTree>
  </p:cSld>
  <p:clrMapOvr>
    <a:masterClrMapping/>
  </p:clrMapOvr>
</p:sld>
</file>

<file path=ppt/slides/slide3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50518" y="2427923"/>
            <a:ext cx="6652563" cy="1927226"/>
          </a:xfrm>
          <a:prstGeom prst="rect">
            <a:avLst/>
          </a:prstGeom>
        </p:spPr>
        <p:txBody>
          <a:bodyPr anchor="t" rtlCol="false" tIns="0" lIns="0" bIns="0" rIns="0">
            <a:spAutoFit/>
          </a:bodyPr>
          <a:lstStyle/>
          <a:p>
            <a:pPr algn="ctr">
              <a:lnSpc>
                <a:spcPts val="13999"/>
              </a:lnSpc>
            </a:pPr>
            <a:r>
              <a:rPr lang="en-US" sz="9999" b="true">
                <a:solidFill>
                  <a:srgbClr val="000000"/>
                </a:solidFill>
                <a:latin typeface="Calibri (MS) Bold"/>
                <a:ea typeface="Calibri (MS) Bold"/>
                <a:cs typeface="Calibri (MS) Bold"/>
                <a:sym typeface="Calibri (MS)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DAGiIx9Cj_M</dc:identifier>
  <dcterms:modified xsi:type="dcterms:W3CDTF">2011-08-01T06:04:30Z</dcterms:modified>
  <cp:revision>1</cp:revision>
  <dc:title>Smart_Traffic_Management_System_Web_Based.pptx</dc:title>
</cp:coreProperties>
</file>